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86" r:id="rId2"/>
    <p:sldId id="299" r:id="rId3"/>
    <p:sldId id="285" r:id="rId4"/>
    <p:sldId id="300" r:id="rId5"/>
    <p:sldId id="296" r:id="rId6"/>
    <p:sldId id="287" r:id="rId7"/>
    <p:sldId id="288" r:id="rId8"/>
    <p:sldId id="290" r:id="rId9"/>
    <p:sldId id="297" r:id="rId10"/>
    <p:sldId id="289" r:id="rId11"/>
    <p:sldId id="291" r:id="rId12"/>
    <p:sldId id="292" r:id="rId13"/>
    <p:sldId id="293" r:id="rId14"/>
    <p:sldId id="298" r:id="rId15"/>
    <p:sldId id="294" r:id="rId16"/>
    <p:sldId id="295"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66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35" autoAdjust="0"/>
    <p:restoredTop sz="86345" autoAdjust="0"/>
  </p:normalViewPr>
  <p:slideViewPr>
    <p:cSldViewPr>
      <p:cViewPr varScale="1">
        <p:scale>
          <a:sx n="45" d="100"/>
          <a:sy n="45" d="100"/>
        </p:scale>
        <p:origin x="924" y="44"/>
      </p:cViewPr>
      <p:guideLst>
        <p:guide orient="horz" pos="2160"/>
        <p:guide pos="3840"/>
      </p:guideLst>
    </p:cSldViewPr>
  </p:slideViewPr>
  <p:outlineViewPr>
    <p:cViewPr>
      <p:scale>
        <a:sx n="33" d="100"/>
        <a:sy n="33" d="100"/>
      </p:scale>
      <p:origin x="246" y="786"/>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0" d="100"/>
          <a:sy n="50" d="100"/>
        </p:scale>
        <p:origin x="-2970"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E7F659B-360C-4CCA-8FA0-5BBC4F244462}" type="datetimeFigureOut">
              <a:rPr lang="fr-FR" smtClean="0"/>
              <a:t>31/10/2025</a:t>
            </a:fld>
            <a:endParaRPr lang="fr-F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28BDD2-4F65-4B79-8B8E-9FE12C5CF40E}" type="slidenum">
              <a:rPr lang="fr-FR" smtClean="0"/>
              <a:t>‹#›</a:t>
            </a:fld>
            <a:endParaRPr lang="fr-FR"/>
          </a:p>
        </p:txBody>
      </p:sp>
    </p:spTree>
    <p:extLst>
      <p:ext uri="{BB962C8B-B14F-4D97-AF65-F5344CB8AC3E}">
        <p14:creationId xmlns:p14="http://schemas.microsoft.com/office/powerpoint/2010/main" val="296644973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3B6DC23-7474-4DC7-98A9-E54664E76549}" type="datetimeFigureOut">
              <a:rPr lang="fr-FR" smtClean="0"/>
              <a:pPr/>
              <a:t>31/10/2025</a:t>
            </a:fld>
            <a:endParaRPr lang="fr-FR"/>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01C1C7-12CF-4C56-AF83-A11C91197268}" type="slidenum">
              <a:rPr lang="fr-FR" smtClean="0"/>
              <a:pPr/>
              <a:t>‹#›</a:t>
            </a:fld>
            <a:endParaRPr lang="fr-FR"/>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10"/>
          </p:nvPr>
        </p:nvSpPr>
        <p:spPr/>
        <p:txBody>
          <a:bodyPr/>
          <a:lstStyle/>
          <a:p>
            <a:endParaRPr lang="fr-FR"/>
          </a:p>
        </p:txBody>
      </p:sp>
      <p:sp>
        <p:nvSpPr>
          <p:cNvPr id="5" name="Slide Number Placeholder 4"/>
          <p:cNvSpPr>
            <a:spLocks noGrp="1"/>
          </p:cNvSpPr>
          <p:nvPr>
            <p:ph type="sldNum" sz="quarter" idx="11"/>
          </p:nvPr>
        </p:nvSpPr>
        <p:spPr/>
        <p:txBody>
          <a:bodyPr/>
          <a:lstStyle/>
          <a:p>
            <a:fld id="{C501C1C7-12CF-4C56-AF83-A11C91197268}" type="slidenum">
              <a:rPr lang="fr-FR" smtClean="0"/>
              <a:pPr/>
              <a:t>1</a:t>
            </a:fld>
            <a:endParaRPr lang="fr-FR"/>
          </a:p>
        </p:txBody>
      </p:sp>
    </p:spTree>
    <p:extLst>
      <p:ext uri="{BB962C8B-B14F-4D97-AF65-F5344CB8AC3E}">
        <p14:creationId xmlns:p14="http://schemas.microsoft.com/office/powerpoint/2010/main" val="1368591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10"/>
          </p:nvPr>
        </p:nvSpPr>
        <p:spPr/>
        <p:txBody>
          <a:bodyPr/>
          <a:lstStyle/>
          <a:p>
            <a:endParaRPr lang="fr-FR"/>
          </a:p>
        </p:txBody>
      </p:sp>
      <p:sp>
        <p:nvSpPr>
          <p:cNvPr id="5" name="Slide Number Placeholder 4"/>
          <p:cNvSpPr>
            <a:spLocks noGrp="1"/>
          </p:cNvSpPr>
          <p:nvPr>
            <p:ph type="sldNum" sz="quarter" idx="11"/>
          </p:nvPr>
        </p:nvSpPr>
        <p:spPr/>
        <p:txBody>
          <a:bodyPr/>
          <a:lstStyle/>
          <a:p>
            <a:fld id="{C501C1C7-12CF-4C56-AF83-A11C91197268}" type="slidenum">
              <a:rPr lang="fr-FR" smtClean="0"/>
              <a:pPr/>
              <a:t>2</a:t>
            </a:fld>
            <a:endParaRPr lang="fr-FR"/>
          </a:p>
        </p:txBody>
      </p:sp>
    </p:spTree>
    <p:extLst>
      <p:ext uri="{BB962C8B-B14F-4D97-AF65-F5344CB8AC3E}">
        <p14:creationId xmlns:p14="http://schemas.microsoft.com/office/powerpoint/2010/main" val="4123204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10"/>
          </p:nvPr>
        </p:nvSpPr>
        <p:spPr/>
        <p:txBody>
          <a:bodyPr/>
          <a:lstStyle/>
          <a:p>
            <a:endParaRPr lang="fr-FR"/>
          </a:p>
        </p:txBody>
      </p:sp>
      <p:sp>
        <p:nvSpPr>
          <p:cNvPr id="5" name="Slide Number Placeholder 4"/>
          <p:cNvSpPr>
            <a:spLocks noGrp="1"/>
          </p:cNvSpPr>
          <p:nvPr>
            <p:ph type="sldNum" sz="quarter" idx="11"/>
          </p:nvPr>
        </p:nvSpPr>
        <p:spPr/>
        <p:txBody>
          <a:bodyPr/>
          <a:lstStyle/>
          <a:p>
            <a:fld id="{C501C1C7-12CF-4C56-AF83-A11C91197268}" type="slidenum">
              <a:rPr lang="fr-FR" smtClean="0"/>
              <a:pPr/>
              <a:t>3</a:t>
            </a:fld>
            <a:endParaRPr lang="fr-FR"/>
          </a:p>
        </p:txBody>
      </p:sp>
    </p:spTree>
    <p:extLst>
      <p:ext uri="{BB962C8B-B14F-4D97-AF65-F5344CB8AC3E}">
        <p14:creationId xmlns:p14="http://schemas.microsoft.com/office/powerpoint/2010/main" val="2663751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10"/>
          </p:nvPr>
        </p:nvSpPr>
        <p:spPr/>
        <p:txBody>
          <a:bodyPr/>
          <a:lstStyle/>
          <a:p>
            <a:endParaRPr lang="fr-FR"/>
          </a:p>
        </p:txBody>
      </p:sp>
      <p:sp>
        <p:nvSpPr>
          <p:cNvPr id="5" name="Slide Number Placeholder 4"/>
          <p:cNvSpPr>
            <a:spLocks noGrp="1"/>
          </p:cNvSpPr>
          <p:nvPr>
            <p:ph type="sldNum" sz="quarter" idx="11"/>
          </p:nvPr>
        </p:nvSpPr>
        <p:spPr/>
        <p:txBody>
          <a:bodyPr/>
          <a:lstStyle/>
          <a:p>
            <a:fld id="{C501C1C7-12CF-4C56-AF83-A11C91197268}" type="slidenum">
              <a:rPr lang="fr-FR" smtClean="0"/>
              <a:pPr/>
              <a:t>4</a:t>
            </a:fld>
            <a:endParaRPr lang="fr-FR"/>
          </a:p>
        </p:txBody>
      </p:sp>
    </p:spTree>
    <p:extLst>
      <p:ext uri="{BB962C8B-B14F-4D97-AF65-F5344CB8AC3E}">
        <p14:creationId xmlns:p14="http://schemas.microsoft.com/office/powerpoint/2010/main" val="209870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10"/>
          </p:nvPr>
        </p:nvSpPr>
        <p:spPr/>
        <p:txBody>
          <a:bodyPr/>
          <a:lstStyle/>
          <a:p>
            <a:endParaRPr lang="fr-FR"/>
          </a:p>
        </p:txBody>
      </p:sp>
      <p:sp>
        <p:nvSpPr>
          <p:cNvPr id="5" name="Slide Number Placeholder 4"/>
          <p:cNvSpPr>
            <a:spLocks noGrp="1"/>
          </p:cNvSpPr>
          <p:nvPr>
            <p:ph type="sldNum" sz="quarter" idx="11"/>
          </p:nvPr>
        </p:nvSpPr>
        <p:spPr/>
        <p:txBody>
          <a:bodyPr/>
          <a:lstStyle/>
          <a:p>
            <a:fld id="{C501C1C7-12CF-4C56-AF83-A11C91197268}" type="slidenum">
              <a:rPr lang="fr-FR" smtClean="0"/>
              <a:pPr/>
              <a:t>5</a:t>
            </a:fld>
            <a:endParaRPr lang="fr-FR"/>
          </a:p>
        </p:txBody>
      </p:sp>
    </p:spTree>
    <p:extLst>
      <p:ext uri="{BB962C8B-B14F-4D97-AF65-F5344CB8AC3E}">
        <p14:creationId xmlns:p14="http://schemas.microsoft.com/office/powerpoint/2010/main" val="1297715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10"/>
          </p:nvPr>
        </p:nvSpPr>
        <p:spPr/>
        <p:txBody>
          <a:bodyPr/>
          <a:lstStyle/>
          <a:p>
            <a:endParaRPr lang="fr-FR"/>
          </a:p>
        </p:txBody>
      </p:sp>
      <p:sp>
        <p:nvSpPr>
          <p:cNvPr id="5" name="Slide Number Placeholder 4"/>
          <p:cNvSpPr>
            <a:spLocks noGrp="1"/>
          </p:cNvSpPr>
          <p:nvPr>
            <p:ph type="sldNum" sz="quarter" idx="11"/>
          </p:nvPr>
        </p:nvSpPr>
        <p:spPr/>
        <p:txBody>
          <a:bodyPr/>
          <a:lstStyle/>
          <a:p>
            <a:fld id="{C501C1C7-12CF-4C56-AF83-A11C91197268}" type="slidenum">
              <a:rPr lang="fr-FR" smtClean="0"/>
              <a:pPr/>
              <a:t>6</a:t>
            </a:fld>
            <a:endParaRPr lang="fr-FR"/>
          </a:p>
        </p:txBody>
      </p:sp>
    </p:spTree>
    <p:extLst>
      <p:ext uri="{BB962C8B-B14F-4D97-AF65-F5344CB8AC3E}">
        <p14:creationId xmlns:p14="http://schemas.microsoft.com/office/powerpoint/2010/main" val="3979961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10"/>
          </p:nvPr>
        </p:nvSpPr>
        <p:spPr/>
        <p:txBody>
          <a:bodyPr/>
          <a:lstStyle/>
          <a:p>
            <a:endParaRPr lang="fr-FR"/>
          </a:p>
        </p:txBody>
      </p:sp>
      <p:sp>
        <p:nvSpPr>
          <p:cNvPr id="5" name="Slide Number Placeholder 4"/>
          <p:cNvSpPr>
            <a:spLocks noGrp="1"/>
          </p:cNvSpPr>
          <p:nvPr>
            <p:ph type="sldNum" sz="quarter" idx="11"/>
          </p:nvPr>
        </p:nvSpPr>
        <p:spPr/>
        <p:txBody>
          <a:bodyPr/>
          <a:lstStyle/>
          <a:p>
            <a:fld id="{C501C1C7-12CF-4C56-AF83-A11C91197268}" type="slidenum">
              <a:rPr lang="fr-FR" smtClean="0"/>
              <a:pPr/>
              <a:t>7</a:t>
            </a:fld>
            <a:endParaRPr lang="fr-FR"/>
          </a:p>
        </p:txBody>
      </p:sp>
    </p:spTree>
    <p:extLst>
      <p:ext uri="{BB962C8B-B14F-4D97-AF65-F5344CB8AC3E}">
        <p14:creationId xmlns:p14="http://schemas.microsoft.com/office/powerpoint/2010/main" val="29712170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10"/>
          </p:nvPr>
        </p:nvSpPr>
        <p:spPr/>
        <p:txBody>
          <a:bodyPr/>
          <a:lstStyle/>
          <a:p>
            <a:endParaRPr lang="fr-FR"/>
          </a:p>
        </p:txBody>
      </p:sp>
      <p:sp>
        <p:nvSpPr>
          <p:cNvPr id="5" name="Slide Number Placeholder 4"/>
          <p:cNvSpPr>
            <a:spLocks noGrp="1"/>
          </p:cNvSpPr>
          <p:nvPr>
            <p:ph type="sldNum" sz="quarter" idx="11"/>
          </p:nvPr>
        </p:nvSpPr>
        <p:spPr/>
        <p:txBody>
          <a:bodyPr/>
          <a:lstStyle/>
          <a:p>
            <a:fld id="{C501C1C7-12CF-4C56-AF83-A11C91197268}" type="slidenum">
              <a:rPr lang="fr-FR" smtClean="0"/>
              <a:pPr/>
              <a:t>8</a:t>
            </a:fld>
            <a:endParaRPr lang="fr-FR"/>
          </a:p>
        </p:txBody>
      </p:sp>
    </p:spTree>
    <p:extLst>
      <p:ext uri="{BB962C8B-B14F-4D97-AF65-F5344CB8AC3E}">
        <p14:creationId xmlns:p14="http://schemas.microsoft.com/office/powerpoint/2010/main" val="2023936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10"/>
          </p:nvPr>
        </p:nvSpPr>
        <p:spPr/>
        <p:txBody>
          <a:bodyPr/>
          <a:lstStyle/>
          <a:p>
            <a:endParaRPr lang="fr-FR"/>
          </a:p>
        </p:txBody>
      </p:sp>
      <p:sp>
        <p:nvSpPr>
          <p:cNvPr id="5" name="Slide Number Placeholder 4"/>
          <p:cNvSpPr>
            <a:spLocks noGrp="1"/>
          </p:cNvSpPr>
          <p:nvPr>
            <p:ph type="sldNum" sz="quarter" idx="11"/>
          </p:nvPr>
        </p:nvSpPr>
        <p:spPr/>
        <p:txBody>
          <a:bodyPr/>
          <a:lstStyle/>
          <a:p>
            <a:fld id="{C501C1C7-12CF-4C56-AF83-A11C91197268}" type="slidenum">
              <a:rPr lang="fr-FR" smtClean="0"/>
              <a:pPr/>
              <a:t>9</a:t>
            </a:fld>
            <a:endParaRPr lang="fr-FR"/>
          </a:p>
        </p:txBody>
      </p:sp>
    </p:spTree>
    <p:extLst>
      <p:ext uri="{BB962C8B-B14F-4D97-AF65-F5344CB8AC3E}">
        <p14:creationId xmlns:p14="http://schemas.microsoft.com/office/powerpoint/2010/main" val="1899886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10"/>
          </p:nvPr>
        </p:nvSpPr>
        <p:spPr/>
        <p:txBody>
          <a:bodyPr/>
          <a:lstStyle/>
          <a:p>
            <a:endParaRPr lang="fr-FR"/>
          </a:p>
        </p:txBody>
      </p:sp>
      <p:sp>
        <p:nvSpPr>
          <p:cNvPr id="5" name="Slide Number Placeholder 4"/>
          <p:cNvSpPr>
            <a:spLocks noGrp="1"/>
          </p:cNvSpPr>
          <p:nvPr>
            <p:ph type="sldNum" sz="quarter" idx="11"/>
          </p:nvPr>
        </p:nvSpPr>
        <p:spPr/>
        <p:txBody>
          <a:bodyPr/>
          <a:lstStyle/>
          <a:p>
            <a:fld id="{C501C1C7-12CF-4C56-AF83-A11C91197268}" type="slidenum">
              <a:rPr lang="fr-FR" smtClean="0"/>
              <a:pPr/>
              <a:t>10</a:t>
            </a:fld>
            <a:endParaRPr lang="fr-FR"/>
          </a:p>
        </p:txBody>
      </p:sp>
    </p:spTree>
    <p:extLst>
      <p:ext uri="{BB962C8B-B14F-4D97-AF65-F5344CB8AC3E}">
        <p14:creationId xmlns:p14="http://schemas.microsoft.com/office/powerpoint/2010/main" val="25336021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10"/>
          </p:nvPr>
        </p:nvSpPr>
        <p:spPr/>
        <p:txBody>
          <a:bodyPr/>
          <a:lstStyle/>
          <a:p>
            <a:endParaRPr lang="fr-FR"/>
          </a:p>
        </p:txBody>
      </p:sp>
      <p:sp>
        <p:nvSpPr>
          <p:cNvPr id="5" name="Slide Number Placeholder 4"/>
          <p:cNvSpPr>
            <a:spLocks noGrp="1"/>
          </p:cNvSpPr>
          <p:nvPr>
            <p:ph type="sldNum" sz="quarter" idx="11"/>
          </p:nvPr>
        </p:nvSpPr>
        <p:spPr/>
        <p:txBody>
          <a:bodyPr/>
          <a:lstStyle/>
          <a:p>
            <a:fld id="{C501C1C7-12CF-4C56-AF83-A11C91197268}" type="slidenum">
              <a:rPr lang="fr-FR" smtClean="0"/>
              <a:pPr/>
              <a:t>11</a:t>
            </a:fld>
            <a:endParaRPr lang="fr-FR"/>
          </a:p>
        </p:txBody>
      </p:sp>
    </p:spTree>
    <p:extLst>
      <p:ext uri="{BB962C8B-B14F-4D97-AF65-F5344CB8AC3E}">
        <p14:creationId xmlns:p14="http://schemas.microsoft.com/office/powerpoint/2010/main" val="31907669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10"/>
          </p:nvPr>
        </p:nvSpPr>
        <p:spPr/>
        <p:txBody>
          <a:bodyPr/>
          <a:lstStyle/>
          <a:p>
            <a:endParaRPr lang="fr-FR"/>
          </a:p>
        </p:txBody>
      </p:sp>
      <p:sp>
        <p:nvSpPr>
          <p:cNvPr id="5" name="Slide Number Placeholder 4"/>
          <p:cNvSpPr>
            <a:spLocks noGrp="1"/>
          </p:cNvSpPr>
          <p:nvPr>
            <p:ph type="sldNum" sz="quarter" idx="11"/>
          </p:nvPr>
        </p:nvSpPr>
        <p:spPr/>
        <p:txBody>
          <a:bodyPr/>
          <a:lstStyle/>
          <a:p>
            <a:fld id="{C501C1C7-12CF-4C56-AF83-A11C91197268}" type="slidenum">
              <a:rPr lang="fr-FR" smtClean="0"/>
              <a:pPr/>
              <a:t>12</a:t>
            </a:fld>
            <a:endParaRPr lang="fr-FR"/>
          </a:p>
        </p:txBody>
      </p:sp>
    </p:spTree>
    <p:extLst>
      <p:ext uri="{BB962C8B-B14F-4D97-AF65-F5344CB8AC3E}">
        <p14:creationId xmlns:p14="http://schemas.microsoft.com/office/powerpoint/2010/main" val="39200689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10"/>
          </p:nvPr>
        </p:nvSpPr>
        <p:spPr/>
        <p:txBody>
          <a:bodyPr/>
          <a:lstStyle/>
          <a:p>
            <a:endParaRPr lang="fr-FR"/>
          </a:p>
        </p:txBody>
      </p:sp>
      <p:sp>
        <p:nvSpPr>
          <p:cNvPr id="5" name="Slide Number Placeholder 4"/>
          <p:cNvSpPr>
            <a:spLocks noGrp="1"/>
          </p:cNvSpPr>
          <p:nvPr>
            <p:ph type="sldNum" sz="quarter" idx="11"/>
          </p:nvPr>
        </p:nvSpPr>
        <p:spPr/>
        <p:txBody>
          <a:bodyPr/>
          <a:lstStyle/>
          <a:p>
            <a:fld id="{C501C1C7-12CF-4C56-AF83-A11C91197268}" type="slidenum">
              <a:rPr lang="fr-FR" smtClean="0"/>
              <a:pPr/>
              <a:t>13</a:t>
            </a:fld>
            <a:endParaRPr lang="fr-FR"/>
          </a:p>
        </p:txBody>
      </p:sp>
    </p:spTree>
    <p:extLst>
      <p:ext uri="{BB962C8B-B14F-4D97-AF65-F5344CB8AC3E}">
        <p14:creationId xmlns:p14="http://schemas.microsoft.com/office/powerpoint/2010/main" val="944377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10"/>
          </p:nvPr>
        </p:nvSpPr>
        <p:spPr/>
        <p:txBody>
          <a:bodyPr/>
          <a:lstStyle/>
          <a:p>
            <a:endParaRPr lang="fr-FR"/>
          </a:p>
        </p:txBody>
      </p:sp>
      <p:sp>
        <p:nvSpPr>
          <p:cNvPr id="5" name="Slide Number Placeholder 4"/>
          <p:cNvSpPr>
            <a:spLocks noGrp="1"/>
          </p:cNvSpPr>
          <p:nvPr>
            <p:ph type="sldNum" sz="quarter" idx="11"/>
          </p:nvPr>
        </p:nvSpPr>
        <p:spPr/>
        <p:txBody>
          <a:bodyPr/>
          <a:lstStyle/>
          <a:p>
            <a:fld id="{C501C1C7-12CF-4C56-AF83-A11C91197268}" type="slidenum">
              <a:rPr lang="fr-FR" smtClean="0"/>
              <a:pPr/>
              <a:t>14</a:t>
            </a:fld>
            <a:endParaRPr lang="fr-FR"/>
          </a:p>
        </p:txBody>
      </p:sp>
    </p:spTree>
    <p:extLst>
      <p:ext uri="{BB962C8B-B14F-4D97-AF65-F5344CB8AC3E}">
        <p14:creationId xmlns:p14="http://schemas.microsoft.com/office/powerpoint/2010/main" val="26252527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10"/>
          </p:nvPr>
        </p:nvSpPr>
        <p:spPr/>
        <p:txBody>
          <a:bodyPr/>
          <a:lstStyle/>
          <a:p>
            <a:endParaRPr lang="fr-FR"/>
          </a:p>
        </p:txBody>
      </p:sp>
      <p:sp>
        <p:nvSpPr>
          <p:cNvPr id="5" name="Slide Number Placeholder 4"/>
          <p:cNvSpPr>
            <a:spLocks noGrp="1"/>
          </p:cNvSpPr>
          <p:nvPr>
            <p:ph type="sldNum" sz="quarter" idx="11"/>
          </p:nvPr>
        </p:nvSpPr>
        <p:spPr/>
        <p:txBody>
          <a:bodyPr/>
          <a:lstStyle/>
          <a:p>
            <a:fld id="{C501C1C7-12CF-4C56-AF83-A11C91197268}" type="slidenum">
              <a:rPr lang="fr-FR" smtClean="0"/>
              <a:pPr/>
              <a:t>15</a:t>
            </a:fld>
            <a:endParaRPr lang="fr-FR"/>
          </a:p>
        </p:txBody>
      </p:sp>
    </p:spTree>
    <p:extLst>
      <p:ext uri="{BB962C8B-B14F-4D97-AF65-F5344CB8AC3E}">
        <p14:creationId xmlns:p14="http://schemas.microsoft.com/office/powerpoint/2010/main" val="22482847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10"/>
          </p:nvPr>
        </p:nvSpPr>
        <p:spPr/>
        <p:txBody>
          <a:bodyPr/>
          <a:lstStyle/>
          <a:p>
            <a:endParaRPr lang="fr-FR"/>
          </a:p>
        </p:txBody>
      </p:sp>
      <p:sp>
        <p:nvSpPr>
          <p:cNvPr id="5" name="Slide Number Placeholder 4"/>
          <p:cNvSpPr>
            <a:spLocks noGrp="1"/>
          </p:cNvSpPr>
          <p:nvPr>
            <p:ph type="sldNum" sz="quarter" idx="11"/>
          </p:nvPr>
        </p:nvSpPr>
        <p:spPr/>
        <p:txBody>
          <a:bodyPr/>
          <a:lstStyle/>
          <a:p>
            <a:fld id="{C501C1C7-12CF-4C56-AF83-A11C91197268}" type="slidenum">
              <a:rPr lang="fr-FR" smtClean="0"/>
              <a:pPr/>
              <a:t>16</a:t>
            </a:fld>
            <a:endParaRPr lang="fr-FR"/>
          </a:p>
        </p:txBody>
      </p:sp>
    </p:spTree>
    <p:extLst>
      <p:ext uri="{BB962C8B-B14F-4D97-AF65-F5344CB8AC3E}">
        <p14:creationId xmlns:p14="http://schemas.microsoft.com/office/powerpoint/2010/main" val="976542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6"/>
            <a:ext cx="10363200" cy="1470025"/>
          </a:xfrm>
        </p:spPr>
        <p:txBody>
          <a:bodyPr/>
          <a:lstStyle/>
          <a:p>
            <a:r>
              <a:rPr lang="fr-FR" smtClean="0"/>
              <a:t>Cliquez pour modifier le style du titre</a:t>
            </a:r>
            <a:endParaRPr lang="fr-BE"/>
          </a:p>
        </p:txBody>
      </p:sp>
      <p:sp>
        <p:nvSpPr>
          <p:cNvPr id="3" name="Sous-titr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BE"/>
          </a:p>
        </p:txBody>
      </p:sp>
      <p:sp>
        <p:nvSpPr>
          <p:cNvPr id="4" name="Espace réservé de la date 3"/>
          <p:cNvSpPr>
            <a:spLocks noGrp="1"/>
          </p:cNvSpPr>
          <p:nvPr>
            <p:ph type="dt" sz="half" idx="10"/>
          </p:nvPr>
        </p:nvSpPr>
        <p:spPr/>
        <p:txBody>
          <a:bodyPr/>
          <a:lstStyle/>
          <a:p>
            <a:fld id="{F7C538F3-2DDC-4FDA-8396-0A5881A7FA3A}" type="datetime1">
              <a:rPr lang="fr-FR" smtClean="0"/>
              <a:t>31/10/2025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a:t>
            </a:fld>
            <a:endParaRPr lang="fr-B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6721BD3E-E888-4981-8D58-77AE47DE91D2}" type="datetime1">
              <a:rPr lang="fr-FR" smtClean="0"/>
              <a:t>31/10/2025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a:t>
            </a:fld>
            <a:endParaRPr lang="fr-B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01"/>
            <a:ext cx="10363200" cy="1362075"/>
          </a:xfrm>
        </p:spPr>
        <p:txBody>
          <a:bodyPr anchor="t"/>
          <a:lstStyle>
            <a:lvl1pPr algn="l">
              <a:defRPr sz="4000" b="1" cap="all"/>
            </a:lvl1pPr>
          </a:lstStyle>
          <a:p>
            <a:r>
              <a:rPr lang="fr-FR" smtClean="0"/>
              <a:t>Cliquez pour modifier le style du titre</a:t>
            </a:r>
            <a:endParaRPr lang="fr-BE"/>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0AB0668F-CB4B-45BC-905F-80683AF4F7EE}" type="datetime1">
              <a:rPr lang="fr-FR" smtClean="0"/>
              <a:t>31/10/2025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a:t>
            </a:fld>
            <a:endParaRPr lang="fr-B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contenu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contenu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e la date 4"/>
          <p:cNvSpPr>
            <a:spLocks noGrp="1"/>
          </p:cNvSpPr>
          <p:nvPr>
            <p:ph type="dt" sz="half" idx="10"/>
          </p:nvPr>
        </p:nvSpPr>
        <p:spPr/>
        <p:txBody>
          <a:bodyPr/>
          <a:lstStyle/>
          <a:p>
            <a:fld id="{37A95094-55D3-474D-AEDB-EDF4B7428C54}" type="datetime1">
              <a:rPr lang="fr-FR" smtClean="0"/>
              <a:t>31/10/2025</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a:t>
            </a:fld>
            <a:endParaRPr lang="fr-B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BE"/>
          </a:p>
        </p:txBody>
      </p:sp>
      <p:sp>
        <p:nvSpPr>
          <p:cNvPr id="3" name="Espace réservé du texte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u texte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7" name="Espace réservé de la date 6"/>
          <p:cNvSpPr>
            <a:spLocks noGrp="1"/>
          </p:cNvSpPr>
          <p:nvPr>
            <p:ph type="dt" sz="half" idx="10"/>
          </p:nvPr>
        </p:nvSpPr>
        <p:spPr/>
        <p:txBody>
          <a:bodyPr/>
          <a:lstStyle/>
          <a:p>
            <a:fld id="{6FCF958A-1B25-4358-9A0D-35DB3CCAF104}" type="datetime1">
              <a:rPr lang="fr-FR" smtClean="0"/>
              <a:t>31/10/2025</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pPr/>
              <a:t>‹#›</a:t>
            </a:fld>
            <a:endParaRPr lang="fr-B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e la date 2"/>
          <p:cNvSpPr>
            <a:spLocks noGrp="1"/>
          </p:cNvSpPr>
          <p:nvPr>
            <p:ph type="dt" sz="half" idx="10"/>
          </p:nvPr>
        </p:nvSpPr>
        <p:spPr/>
        <p:txBody>
          <a:bodyPr/>
          <a:lstStyle/>
          <a:p>
            <a:fld id="{EFB5C00E-A147-4BD9-BE03-FE3711579D2C}" type="datetime1">
              <a:rPr lang="fr-FR" smtClean="0"/>
              <a:t>31/10/2025</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pPr/>
              <a:t>‹#›</a:t>
            </a:fld>
            <a:endParaRPr lang="fr-B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8BF3E25D-0BD1-45A9-95EC-061DA244F9A5}" type="datetime1">
              <a:rPr lang="fr-FR" smtClean="0"/>
              <a:t>31/10/2025</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a:t>
            </a:fld>
            <a:endParaRPr lang="fr-B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1" y="273050"/>
            <a:ext cx="4011084" cy="1162050"/>
          </a:xfrm>
        </p:spPr>
        <p:txBody>
          <a:bodyPr anchor="b"/>
          <a:lstStyle>
            <a:lvl1pPr algn="l">
              <a:defRPr sz="2000" b="1"/>
            </a:lvl1pPr>
          </a:lstStyle>
          <a:p>
            <a:r>
              <a:rPr lang="fr-FR" smtClean="0"/>
              <a:t>Cliquez pour modifier le style du titre</a:t>
            </a:r>
            <a:endParaRPr lang="fr-BE"/>
          </a:p>
        </p:txBody>
      </p:sp>
      <p:sp>
        <p:nvSpPr>
          <p:cNvPr id="3" name="Espace réservé du contenu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texte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7ED1E30F-1F6F-47B6-8B3E-64221809C9A4}" type="datetime1">
              <a:rPr lang="fr-FR" smtClean="0"/>
              <a:t>31/10/2025</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a:t>
            </a:fld>
            <a:endParaRPr lang="fr-B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0"/>
            <a:ext cx="7315200" cy="566738"/>
          </a:xfrm>
        </p:spPr>
        <p:txBody>
          <a:bodyPr anchor="b"/>
          <a:lstStyle>
            <a:lvl1pPr algn="l">
              <a:defRPr sz="2000" b="1"/>
            </a:lvl1pPr>
          </a:lstStyle>
          <a:p>
            <a:r>
              <a:rPr lang="fr-FR" smtClean="0"/>
              <a:t>Cliquez pour modifier le style du titre</a:t>
            </a:r>
            <a:endParaRPr lang="fr-BE"/>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77B6236C-E168-4EE0-A428-991228438458}" type="datetime1">
              <a:rPr lang="fr-FR" smtClean="0"/>
              <a:t>31/10/2025</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a:t>
            </a:fld>
            <a:endParaRPr lang="fr-B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41E9AD32-F759-479A-8EE4-8C6600023CAC}" type="datetime1">
              <a:rPr lang="fr-FR" smtClean="0"/>
              <a:t>31/10/2025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a:t>
            </a:fld>
            <a:endParaRPr lang="fr-B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839200" y="274639"/>
            <a:ext cx="2743200" cy="5851525"/>
          </a:xfrm>
        </p:spPr>
        <p:txBody>
          <a:bodyPr vert="eaVert"/>
          <a:lstStyle/>
          <a:p>
            <a:r>
              <a:rPr lang="fr-FR" smtClean="0"/>
              <a:t>Cliquez pour modifier le style du titre</a:t>
            </a:r>
            <a:endParaRPr lang="fr-BE"/>
          </a:p>
        </p:txBody>
      </p:sp>
      <p:sp>
        <p:nvSpPr>
          <p:cNvPr id="3" name="Espace réservé du texte vertical 2"/>
          <p:cNvSpPr>
            <a:spLocks noGrp="1"/>
          </p:cNvSpPr>
          <p:nvPr>
            <p:ph type="body" orient="vert" idx="1"/>
          </p:nvPr>
        </p:nvSpPr>
        <p:spPr>
          <a:xfrm>
            <a:off x="609600" y="274639"/>
            <a:ext cx="80264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0FF4602B-F2A2-44A4-B2A0-385629911022}" type="datetime1">
              <a:rPr lang="fr-FR" smtClean="0"/>
              <a:t>31/10/2025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a:t>
            </a:fld>
            <a:endParaRPr lang="fr-B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fr-FR" smtClean="0"/>
              <a:t>Cliquez pour modifier le style du titre</a:t>
            </a:r>
            <a:endParaRPr lang="fr-BE"/>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1764A6-A83F-4B0A-B2D6-11D91B41B2F0}" type="datetime1">
              <a:rPr lang="fr-FR" smtClean="0"/>
              <a:t>31/10/2025</a:t>
            </a:fld>
            <a:endParaRPr lang="fr-BE"/>
          </a:p>
        </p:txBody>
      </p:sp>
      <p:sp>
        <p:nvSpPr>
          <p:cNvPr id="5" name="Espace réservé du pied de page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4668DC-857F-487D-BFFA-8C0CA5037977}" type="slidenum">
              <a:rPr lang="fr-BE" smtClean="0"/>
              <a:pPr/>
              <a:t>‹#›</a:t>
            </a:fld>
            <a:endParaRPr lang="fr-B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p:cNvSpPr>
            <a:spLocks noGrp="1"/>
          </p:cNvSpPr>
          <p:nvPr>
            <p:ph type="sldNum" sz="quarter" idx="12"/>
          </p:nvPr>
        </p:nvSpPr>
        <p:spPr/>
        <p:txBody>
          <a:bodyPr/>
          <a:lstStyle/>
          <a:p>
            <a:fld id="{CF4668DC-857F-487D-BFFA-8C0CA5037977}" type="slidenum">
              <a:rPr lang="fr-BE" sz="1800" b="1" smtClean="0">
                <a:solidFill>
                  <a:schemeClr val="tx1"/>
                </a:solidFill>
              </a:rPr>
              <a:pPr/>
              <a:t>1</a:t>
            </a:fld>
            <a:endParaRPr lang="fr-BE" sz="1800" b="1">
              <a:solidFill>
                <a:schemeClr val="tx1"/>
              </a:solidFill>
            </a:endParaRPr>
          </a:p>
        </p:txBody>
      </p:sp>
      <p:pic>
        <p:nvPicPr>
          <p:cNvPr id="7" name="Picture 6"/>
          <p:cNvPicPr>
            <a:picLocks noChangeAspect="1"/>
          </p:cNvPicPr>
          <p:nvPr/>
        </p:nvPicPr>
        <p:blipFill>
          <a:blip r:embed="rId3"/>
          <a:stretch>
            <a:fillRect/>
          </a:stretch>
        </p:blipFill>
        <p:spPr>
          <a:xfrm>
            <a:off x="821861" y="2780928"/>
            <a:ext cx="10548277" cy="1959657"/>
          </a:xfrm>
          <a:prstGeom prst="rect">
            <a:avLst/>
          </a:prstGeom>
        </p:spPr>
      </p:pic>
      <p:sp>
        <p:nvSpPr>
          <p:cNvPr id="10" name="Rectangle 9"/>
          <p:cNvSpPr/>
          <p:nvPr/>
        </p:nvSpPr>
        <p:spPr>
          <a:xfrm>
            <a:off x="263352" y="1700808"/>
            <a:ext cx="3229482" cy="430887"/>
          </a:xfrm>
          <a:prstGeom prst="rect">
            <a:avLst/>
          </a:prstGeom>
        </p:spPr>
        <p:txBody>
          <a:bodyPr wrap="square">
            <a:spAutoFit/>
          </a:bodyPr>
          <a:lstStyle/>
          <a:p>
            <a:r>
              <a:rPr lang="en-US" sz="2200" b="1" dirty="0" smtClean="0">
                <a:solidFill>
                  <a:srgbClr val="FF0000"/>
                </a:solidFill>
              </a:rPr>
              <a:t>Encoder/ decoder</a:t>
            </a:r>
            <a:endParaRPr lang="en-GB" sz="2200" b="1" dirty="0">
              <a:solidFill>
                <a:srgbClr val="FF0000"/>
              </a:solidFill>
            </a:endParaRPr>
          </a:p>
        </p:txBody>
      </p:sp>
      <p:sp>
        <p:nvSpPr>
          <p:cNvPr id="9" name="Rectangle 8"/>
          <p:cNvSpPr/>
          <p:nvPr/>
        </p:nvSpPr>
        <p:spPr>
          <a:xfrm>
            <a:off x="3143672" y="903552"/>
            <a:ext cx="2135589" cy="523220"/>
          </a:xfrm>
          <a:prstGeom prst="rect">
            <a:avLst/>
          </a:prstGeom>
        </p:spPr>
        <p:txBody>
          <a:bodyPr wrap="square">
            <a:spAutoFit/>
          </a:bodyPr>
          <a:lstStyle/>
          <a:p>
            <a:r>
              <a:rPr lang="en-GB" sz="2800" dirty="0" smtClean="0">
                <a:latin typeface="+mj-lt"/>
              </a:rPr>
              <a:t>Compression  </a:t>
            </a:r>
            <a:endParaRPr lang="en-GB" sz="2800" dirty="0">
              <a:latin typeface="+mj-lt"/>
              <a:cs typeface="Times New Roman" pitchFamily="18" charset="0"/>
            </a:endParaRPr>
          </a:p>
        </p:txBody>
      </p:sp>
      <p:sp>
        <p:nvSpPr>
          <p:cNvPr id="11" name="Rectangle 10"/>
          <p:cNvSpPr/>
          <p:nvPr/>
        </p:nvSpPr>
        <p:spPr>
          <a:xfrm>
            <a:off x="2423592" y="104898"/>
            <a:ext cx="3151312" cy="584775"/>
          </a:xfrm>
          <a:prstGeom prst="rect">
            <a:avLst/>
          </a:prstGeom>
        </p:spPr>
        <p:txBody>
          <a:bodyPr wrap="square">
            <a:spAutoFit/>
          </a:bodyPr>
          <a:lstStyle/>
          <a:p>
            <a:r>
              <a:rPr lang="en-GB" sz="3200" dirty="0" smtClean="0">
                <a:latin typeface="+mj-lt"/>
              </a:rPr>
              <a:t>Video</a:t>
            </a:r>
            <a:r>
              <a:rPr lang="fr-FR" sz="3200" dirty="0" smtClean="0">
                <a:latin typeface="+mj-lt"/>
              </a:rPr>
              <a:t> </a:t>
            </a:r>
            <a:r>
              <a:rPr lang="en-GB" sz="3200" dirty="0" smtClean="0">
                <a:latin typeface="+mj-lt"/>
              </a:rPr>
              <a:t>coding</a:t>
            </a:r>
            <a:r>
              <a:rPr lang="fr-FR" sz="3200" dirty="0" smtClean="0">
                <a:latin typeface="+mj-lt"/>
              </a:rPr>
              <a:t> </a:t>
            </a:r>
            <a:r>
              <a:rPr lang="en-NZ" sz="3200" dirty="0" smtClean="0">
                <a:latin typeface="+mj-lt"/>
              </a:rPr>
              <a:t> </a:t>
            </a:r>
            <a:endParaRPr lang="en-NZ" sz="3200" dirty="0">
              <a:latin typeface="+mj-lt"/>
              <a:cs typeface="Times New Roman" pitchFamily="18" charset="0"/>
            </a:endParaRPr>
          </a:p>
        </p:txBody>
      </p:sp>
    </p:spTree>
    <p:extLst>
      <p:ext uri="{BB962C8B-B14F-4D97-AF65-F5344CB8AC3E}">
        <p14:creationId xmlns:p14="http://schemas.microsoft.com/office/powerpoint/2010/main" val="40825314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23592" y="104898"/>
            <a:ext cx="3744416" cy="584775"/>
          </a:xfrm>
          <a:prstGeom prst="rect">
            <a:avLst/>
          </a:prstGeom>
        </p:spPr>
        <p:txBody>
          <a:bodyPr wrap="square">
            <a:spAutoFit/>
          </a:bodyPr>
          <a:lstStyle/>
          <a:p>
            <a:r>
              <a:rPr lang="en-GB" sz="3200" b="1" dirty="0" smtClean="0">
                <a:latin typeface="+mj-lt"/>
              </a:rPr>
              <a:t>Video compression</a:t>
            </a:r>
            <a:endParaRPr lang="en-GB" sz="3200" dirty="0">
              <a:latin typeface="+mj-lt"/>
              <a:cs typeface="Times New Roman" pitchFamily="18" charset="0"/>
            </a:endParaRPr>
          </a:p>
        </p:txBody>
      </p:sp>
      <p:sp>
        <p:nvSpPr>
          <p:cNvPr id="18" name="Slide Number Placeholder 17"/>
          <p:cNvSpPr>
            <a:spLocks noGrp="1"/>
          </p:cNvSpPr>
          <p:nvPr>
            <p:ph type="sldNum" sz="quarter" idx="12"/>
          </p:nvPr>
        </p:nvSpPr>
        <p:spPr>
          <a:xfrm>
            <a:off x="8737600" y="6448251"/>
            <a:ext cx="2844800" cy="365125"/>
          </a:xfrm>
        </p:spPr>
        <p:txBody>
          <a:bodyPr/>
          <a:lstStyle/>
          <a:p>
            <a:fld id="{CF4668DC-857F-487D-BFFA-8C0CA5037977}" type="slidenum">
              <a:rPr lang="fr-BE" sz="1800" b="1" smtClean="0">
                <a:solidFill>
                  <a:schemeClr val="tx1"/>
                </a:solidFill>
              </a:rPr>
              <a:pPr/>
              <a:t>2</a:t>
            </a:fld>
            <a:endParaRPr lang="fr-BE" sz="1800" b="1">
              <a:solidFill>
                <a:schemeClr val="tx1"/>
              </a:solidFill>
            </a:endParaRPr>
          </a:p>
        </p:txBody>
      </p:sp>
      <p:sp>
        <p:nvSpPr>
          <p:cNvPr id="21" name="Rectangle 20"/>
          <p:cNvSpPr/>
          <p:nvPr/>
        </p:nvSpPr>
        <p:spPr>
          <a:xfrm>
            <a:off x="3143672" y="885577"/>
            <a:ext cx="2135589" cy="523220"/>
          </a:xfrm>
          <a:prstGeom prst="rect">
            <a:avLst/>
          </a:prstGeom>
        </p:spPr>
        <p:txBody>
          <a:bodyPr wrap="square">
            <a:spAutoFit/>
          </a:bodyPr>
          <a:lstStyle/>
          <a:p>
            <a:r>
              <a:rPr lang="en-GB" sz="2800" b="1" dirty="0">
                <a:latin typeface="+mj-lt"/>
              </a:rPr>
              <a:t>M</a:t>
            </a:r>
            <a:r>
              <a:rPr lang="en-GB" sz="2800" b="1" dirty="0" smtClean="0">
                <a:latin typeface="+mj-lt"/>
              </a:rPr>
              <a:t>ain </a:t>
            </a:r>
            <a:r>
              <a:rPr lang="en-GB" sz="2800" b="1" dirty="0">
                <a:latin typeface="+mj-lt"/>
              </a:rPr>
              <a:t>ideas</a:t>
            </a:r>
            <a:r>
              <a:rPr lang="fr-FR" sz="2800" dirty="0" smtClean="0">
                <a:latin typeface="+mj-lt"/>
              </a:rPr>
              <a:t>  </a:t>
            </a:r>
            <a:endParaRPr lang="fr-FR" sz="2800" dirty="0">
              <a:latin typeface="+mj-lt"/>
              <a:cs typeface="Times New Roman" pitchFamily="18" charset="0"/>
            </a:endParaRPr>
          </a:p>
        </p:txBody>
      </p:sp>
      <p:sp>
        <p:nvSpPr>
          <p:cNvPr id="7" name="Rectangle 6"/>
          <p:cNvSpPr/>
          <p:nvPr/>
        </p:nvSpPr>
        <p:spPr>
          <a:xfrm>
            <a:off x="407368" y="1772816"/>
            <a:ext cx="8592616" cy="461665"/>
          </a:xfrm>
          <a:prstGeom prst="rect">
            <a:avLst/>
          </a:prstGeom>
        </p:spPr>
        <p:txBody>
          <a:bodyPr wrap="square">
            <a:spAutoFit/>
          </a:bodyPr>
          <a:lstStyle/>
          <a:p>
            <a:r>
              <a:rPr lang="en-US" sz="2400" b="1" dirty="0">
                <a:solidFill>
                  <a:srgbClr val="000000"/>
                </a:solidFill>
              </a:rPr>
              <a:t>Compression is about exploiting redundancy in a </a:t>
            </a:r>
            <a:r>
              <a:rPr lang="en-US" sz="2400" b="1" dirty="0" smtClean="0">
                <a:solidFill>
                  <a:srgbClr val="000000"/>
                </a:solidFill>
              </a:rPr>
              <a:t>signal</a:t>
            </a:r>
            <a:endParaRPr lang="en-GB" sz="2400" dirty="0"/>
          </a:p>
        </p:txBody>
      </p:sp>
      <p:sp>
        <p:nvSpPr>
          <p:cNvPr id="8" name="Rectangle 7"/>
          <p:cNvSpPr/>
          <p:nvPr/>
        </p:nvSpPr>
        <p:spPr>
          <a:xfrm>
            <a:off x="371364" y="2649472"/>
            <a:ext cx="11449272" cy="830997"/>
          </a:xfrm>
          <a:prstGeom prst="rect">
            <a:avLst/>
          </a:prstGeom>
        </p:spPr>
        <p:txBody>
          <a:bodyPr wrap="square">
            <a:spAutoFit/>
          </a:bodyPr>
          <a:lstStyle/>
          <a:p>
            <a:r>
              <a:rPr lang="en-US" sz="2400" b="1" dirty="0">
                <a:solidFill>
                  <a:srgbClr val="000000"/>
                </a:solidFill>
              </a:rPr>
              <a:t>- Intra-frame redundancy: value of pixels in neighboring regions of a frame are </a:t>
            </a:r>
            <a:r>
              <a:rPr lang="en-US" sz="2400" b="1" dirty="0" smtClean="0">
                <a:solidFill>
                  <a:srgbClr val="000000"/>
                </a:solidFill>
              </a:rPr>
              <a:t>good predictor </a:t>
            </a:r>
            <a:r>
              <a:rPr lang="en-US" sz="2400" b="1" dirty="0">
                <a:solidFill>
                  <a:srgbClr val="000000"/>
                </a:solidFill>
              </a:rPr>
              <a:t>of values for other pixels in the frame (spatial redundancy)</a:t>
            </a:r>
            <a:r>
              <a:rPr lang="en-US" sz="2400" dirty="0"/>
              <a:t> </a:t>
            </a:r>
            <a:endParaRPr lang="en-GB" sz="2400" dirty="0"/>
          </a:p>
        </p:txBody>
      </p:sp>
      <p:sp>
        <p:nvSpPr>
          <p:cNvPr id="9" name="Rectangle 8"/>
          <p:cNvSpPr/>
          <p:nvPr/>
        </p:nvSpPr>
        <p:spPr>
          <a:xfrm>
            <a:off x="407368" y="4149080"/>
            <a:ext cx="11449272" cy="830997"/>
          </a:xfrm>
          <a:prstGeom prst="rect">
            <a:avLst/>
          </a:prstGeom>
        </p:spPr>
        <p:txBody>
          <a:bodyPr wrap="square">
            <a:spAutoFit/>
          </a:bodyPr>
          <a:lstStyle/>
          <a:p>
            <a:r>
              <a:rPr lang="en-US" sz="2400" b="1" dirty="0">
                <a:solidFill>
                  <a:srgbClr val="000000"/>
                </a:solidFill>
              </a:rPr>
              <a:t>- Inter-frame redundancy: pixels from nearby frames in time are a good predictor for </a:t>
            </a:r>
            <a:r>
              <a:rPr lang="en-US" sz="2400" b="1" dirty="0" smtClean="0">
                <a:solidFill>
                  <a:srgbClr val="000000"/>
                </a:solidFill>
              </a:rPr>
              <a:t>the current </a:t>
            </a:r>
            <a:r>
              <a:rPr lang="en-US" sz="2400" b="1" dirty="0">
                <a:solidFill>
                  <a:srgbClr val="000000"/>
                </a:solidFill>
              </a:rPr>
              <a:t>frame’s pixels (temporal redundancy)</a:t>
            </a:r>
            <a:r>
              <a:rPr lang="en-US" sz="2400" dirty="0"/>
              <a:t> </a:t>
            </a:r>
            <a:endParaRPr lang="en-GB" sz="2400" dirty="0"/>
          </a:p>
        </p:txBody>
      </p:sp>
    </p:spTree>
    <p:extLst>
      <p:ext uri="{BB962C8B-B14F-4D97-AF65-F5344CB8AC3E}">
        <p14:creationId xmlns:p14="http://schemas.microsoft.com/office/powerpoint/2010/main" val="19417150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checkerboard(across)">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p:cNvSpPr>
            <a:spLocks noGrp="1"/>
          </p:cNvSpPr>
          <p:nvPr>
            <p:ph type="sldNum" sz="quarter" idx="12"/>
          </p:nvPr>
        </p:nvSpPr>
        <p:spPr/>
        <p:txBody>
          <a:bodyPr/>
          <a:lstStyle/>
          <a:p>
            <a:fld id="{CF4668DC-857F-487D-BFFA-8C0CA5037977}" type="slidenum">
              <a:rPr lang="fr-BE" sz="1800" b="1" smtClean="0">
                <a:solidFill>
                  <a:schemeClr val="tx1"/>
                </a:solidFill>
              </a:rPr>
              <a:pPr/>
              <a:t>3</a:t>
            </a:fld>
            <a:endParaRPr lang="fr-BE" sz="1800" b="1" dirty="0">
              <a:solidFill>
                <a:schemeClr val="tx1"/>
              </a:solidFill>
            </a:endParaRPr>
          </a:p>
        </p:txBody>
      </p:sp>
      <p:sp>
        <p:nvSpPr>
          <p:cNvPr id="9" name="Rectangle 8"/>
          <p:cNvSpPr/>
          <p:nvPr/>
        </p:nvSpPr>
        <p:spPr>
          <a:xfrm>
            <a:off x="3143672" y="903552"/>
            <a:ext cx="2135589" cy="523220"/>
          </a:xfrm>
          <a:prstGeom prst="rect">
            <a:avLst/>
          </a:prstGeom>
        </p:spPr>
        <p:txBody>
          <a:bodyPr wrap="square">
            <a:spAutoFit/>
          </a:bodyPr>
          <a:lstStyle/>
          <a:p>
            <a:r>
              <a:rPr lang="en-GB" sz="2800" dirty="0" smtClean="0">
                <a:latin typeface="+mj-lt"/>
              </a:rPr>
              <a:t>Compression  </a:t>
            </a:r>
            <a:endParaRPr lang="en-GB" sz="2800" dirty="0">
              <a:latin typeface="+mj-lt"/>
              <a:cs typeface="Times New Roman" pitchFamily="18" charset="0"/>
            </a:endParaRPr>
          </a:p>
        </p:txBody>
      </p:sp>
      <p:sp>
        <p:nvSpPr>
          <p:cNvPr id="10" name="Rectangle 9"/>
          <p:cNvSpPr/>
          <p:nvPr/>
        </p:nvSpPr>
        <p:spPr>
          <a:xfrm>
            <a:off x="2423592" y="104898"/>
            <a:ext cx="3151312" cy="584775"/>
          </a:xfrm>
          <a:prstGeom prst="rect">
            <a:avLst/>
          </a:prstGeom>
        </p:spPr>
        <p:txBody>
          <a:bodyPr wrap="square">
            <a:spAutoFit/>
          </a:bodyPr>
          <a:lstStyle/>
          <a:p>
            <a:r>
              <a:rPr lang="en-GB" sz="3200" dirty="0" smtClean="0">
                <a:latin typeface="+mj-lt"/>
              </a:rPr>
              <a:t>Video</a:t>
            </a:r>
            <a:r>
              <a:rPr lang="fr-FR" sz="3200" dirty="0" smtClean="0">
                <a:latin typeface="+mj-lt"/>
              </a:rPr>
              <a:t> </a:t>
            </a:r>
            <a:r>
              <a:rPr lang="en-GB" sz="3200" dirty="0" smtClean="0">
                <a:latin typeface="+mj-lt"/>
              </a:rPr>
              <a:t>coding</a:t>
            </a:r>
            <a:r>
              <a:rPr lang="fr-FR" sz="3200" dirty="0" smtClean="0">
                <a:latin typeface="+mj-lt"/>
              </a:rPr>
              <a:t> </a:t>
            </a:r>
            <a:r>
              <a:rPr lang="en-NZ" sz="3200" dirty="0" smtClean="0">
                <a:latin typeface="+mj-lt"/>
              </a:rPr>
              <a:t> </a:t>
            </a:r>
            <a:endParaRPr lang="en-NZ" sz="3200" dirty="0">
              <a:latin typeface="+mj-lt"/>
              <a:cs typeface="Times New Roman" pitchFamily="18" charset="0"/>
            </a:endParaRPr>
          </a:p>
        </p:txBody>
      </p:sp>
      <p:sp>
        <p:nvSpPr>
          <p:cNvPr id="2" name="Rectangle 1"/>
          <p:cNvSpPr/>
          <p:nvPr/>
        </p:nvSpPr>
        <p:spPr>
          <a:xfrm>
            <a:off x="243781" y="1723964"/>
            <a:ext cx="3048000" cy="461665"/>
          </a:xfrm>
          <a:prstGeom prst="rect">
            <a:avLst/>
          </a:prstGeom>
        </p:spPr>
        <p:txBody>
          <a:bodyPr wrap="square">
            <a:spAutoFit/>
          </a:bodyPr>
          <a:lstStyle/>
          <a:p>
            <a:r>
              <a:rPr lang="en-GB" sz="2400" b="1" dirty="0" smtClean="0">
                <a:solidFill>
                  <a:srgbClr val="000000"/>
                </a:solidFill>
              </a:rPr>
              <a:t>16 x 16 macroblocks</a:t>
            </a:r>
            <a:r>
              <a:rPr lang="en-GB" sz="2400" dirty="0" smtClean="0"/>
              <a:t> </a:t>
            </a:r>
            <a:endParaRPr lang="en-GB" sz="2400" dirty="0"/>
          </a:p>
        </p:txBody>
      </p:sp>
      <p:sp>
        <p:nvSpPr>
          <p:cNvPr id="3" name="Rectangle 2"/>
          <p:cNvSpPr/>
          <p:nvPr/>
        </p:nvSpPr>
        <p:spPr>
          <a:xfrm>
            <a:off x="268933" y="2316195"/>
            <a:ext cx="6864424" cy="830997"/>
          </a:xfrm>
          <a:prstGeom prst="rect">
            <a:avLst/>
          </a:prstGeom>
        </p:spPr>
        <p:txBody>
          <a:bodyPr wrap="square">
            <a:spAutoFit/>
          </a:bodyPr>
          <a:lstStyle/>
          <a:p>
            <a:r>
              <a:rPr lang="en-US" sz="2400" b="1" dirty="0">
                <a:solidFill>
                  <a:srgbClr val="000000"/>
                </a:solidFill>
              </a:rPr>
              <a:t>Video frame is partitioned into 16 x 16 </a:t>
            </a:r>
            <a:r>
              <a:rPr lang="en-US" sz="2400" b="1" dirty="0" smtClean="0">
                <a:solidFill>
                  <a:srgbClr val="000000"/>
                </a:solidFill>
              </a:rPr>
              <a:t>pixel macroblocks</a:t>
            </a:r>
            <a:r>
              <a:rPr lang="en-US" sz="2400" dirty="0" smtClean="0"/>
              <a:t> </a:t>
            </a:r>
            <a:endParaRPr lang="en-GB" sz="2400" dirty="0"/>
          </a:p>
        </p:txBody>
      </p:sp>
      <p:sp>
        <p:nvSpPr>
          <p:cNvPr id="4" name="Rectangle 3"/>
          <p:cNvSpPr/>
          <p:nvPr/>
        </p:nvSpPr>
        <p:spPr>
          <a:xfrm>
            <a:off x="243781" y="3429000"/>
            <a:ext cx="6552728" cy="1200329"/>
          </a:xfrm>
          <a:prstGeom prst="rect">
            <a:avLst/>
          </a:prstGeom>
        </p:spPr>
        <p:txBody>
          <a:bodyPr wrap="square">
            <a:spAutoFit/>
          </a:bodyPr>
          <a:lstStyle/>
          <a:p>
            <a:r>
              <a:rPr lang="en-US" sz="2400" b="1" dirty="0">
                <a:solidFill>
                  <a:srgbClr val="000000"/>
                </a:solidFill>
              </a:rPr>
              <a:t>Due to 4:2:0 </a:t>
            </a:r>
            <a:r>
              <a:rPr lang="en-US" sz="2400" b="1" dirty="0" err="1">
                <a:solidFill>
                  <a:srgbClr val="000000"/>
                </a:solidFill>
              </a:rPr>
              <a:t>chroma</a:t>
            </a:r>
            <a:r>
              <a:rPr lang="en-US" sz="2400" b="1" dirty="0">
                <a:solidFill>
                  <a:srgbClr val="000000"/>
                </a:solidFill>
              </a:rPr>
              <a:t> subsampling, macroblocks</a:t>
            </a:r>
            <a:br>
              <a:rPr lang="en-US" sz="2400" b="1" dirty="0">
                <a:solidFill>
                  <a:srgbClr val="000000"/>
                </a:solidFill>
              </a:rPr>
            </a:br>
            <a:r>
              <a:rPr lang="en-US" sz="2400" b="1" dirty="0">
                <a:solidFill>
                  <a:srgbClr val="000000"/>
                </a:solidFill>
              </a:rPr>
              <a:t>correspond to 16 x 16 </a:t>
            </a:r>
            <a:r>
              <a:rPr lang="en-US" sz="2400" b="1" dirty="0" err="1">
                <a:solidFill>
                  <a:srgbClr val="000000"/>
                </a:solidFill>
              </a:rPr>
              <a:t>luma</a:t>
            </a:r>
            <a:r>
              <a:rPr lang="en-US" sz="2400" b="1" dirty="0">
                <a:solidFill>
                  <a:srgbClr val="000000"/>
                </a:solidFill>
              </a:rPr>
              <a:t> samples and 8 x 8</a:t>
            </a:r>
            <a:br>
              <a:rPr lang="en-US" sz="2400" b="1" dirty="0">
                <a:solidFill>
                  <a:srgbClr val="000000"/>
                </a:solidFill>
              </a:rPr>
            </a:br>
            <a:r>
              <a:rPr lang="en-US" sz="2400" b="1" dirty="0" err="1">
                <a:solidFill>
                  <a:srgbClr val="000000"/>
                </a:solidFill>
              </a:rPr>
              <a:t>chroma</a:t>
            </a:r>
            <a:r>
              <a:rPr lang="en-US" sz="2400" b="1" dirty="0">
                <a:solidFill>
                  <a:srgbClr val="000000"/>
                </a:solidFill>
              </a:rPr>
              <a:t> samples</a:t>
            </a:r>
            <a:r>
              <a:rPr lang="en-US" sz="2400" dirty="0"/>
              <a:t> </a:t>
            </a:r>
            <a:endParaRPr lang="en-GB" sz="2400" dirty="0"/>
          </a:p>
        </p:txBody>
      </p:sp>
      <p:pic>
        <p:nvPicPr>
          <p:cNvPr id="5" name="Picture 4"/>
          <p:cNvPicPr>
            <a:picLocks noChangeAspect="1"/>
          </p:cNvPicPr>
          <p:nvPr/>
        </p:nvPicPr>
        <p:blipFill>
          <a:blip r:embed="rId3"/>
          <a:stretch>
            <a:fillRect/>
          </a:stretch>
        </p:blipFill>
        <p:spPr>
          <a:xfrm>
            <a:off x="6456040" y="903552"/>
            <a:ext cx="5395491" cy="5374456"/>
          </a:xfrm>
          <a:prstGeom prst="rect">
            <a:avLst/>
          </a:prstGeom>
        </p:spPr>
      </p:pic>
    </p:spTree>
    <p:extLst>
      <p:ext uri="{BB962C8B-B14F-4D97-AF65-F5344CB8AC3E}">
        <p14:creationId xmlns:p14="http://schemas.microsoft.com/office/powerpoint/2010/main" val="1688941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p:cNvSpPr>
            <a:spLocks noGrp="1"/>
          </p:cNvSpPr>
          <p:nvPr>
            <p:ph type="sldNum" sz="quarter" idx="12"/>
          </p:nvPr>
        </p:nvSpPr>
        <p:spPr/>
        <p:txBody>
          <a:bodyPr/>
          <a:lstStyle/>
          <a:p>
            <a:fld id="{CF4668DC-857F-487D-BFFA-8C0CA5037977}" type="slidenum">
              <a:rPr lang="fr-BE" sz="1800" b="1" smtClean="0">
                <a:solidFill>
                  <a:schemeClr val="tx1"/>
                </a:solidFill>
              </a:rPr>
              <a:pPr/>
              <a:t>4</a:t>
            </a:fld>
            <a:endParaRPr lang="fr-BE" sz="1800" b="1" dirty="0">
              <a:solidFill>
                <a:schemeClr val="tx1"/>
              </a:solidFill>
            </a:endParaRPr>
          </a:p>
        </p:txBody>
      </p:sp>
      <p:sp>
        <p:nvSpPr>
          <p:cNvPr id="9" name="Rectangle 8"/>
          <p:cNvSpPr/>
          <p:nvPr/>
        </p:nvSpPr>
        <p:spPr>
          <a:xfrm>
            <a:off x="3143672" y="903552"/>
            <a:ext cx="2135589" cy="523220"/>
          </a:xfrm>
          <a:prstGeom prst="rect">
            <a:avLst/>
          </a:prstGeom>
        </p:spPr>
        <p:txBody>
          <a:bodyPr wrap="square">
            <a:spAutoFit/>
          </a:bodyPr>
          <a:lstStyle/>
          <a:p>
            <a:r>
              <a:rPr lang="en-GB" sz="2800" dirty="0" smtClean="0">
                <a:latin typeface="+mj-lt"/>
              </a:rPr>
              <a:t>Compression  </a:t>
            </a:r>
            <a:endParaRPr lang="en-GB" sz="2800" dirty="0">
              <a:latin typeface="+mj-lt"/>
              <a:cs typeface="Times New Roman" pitchFamily="18" charset="0"/>
            </a:endParaRPr>
          </a:p>
        </p:txBody>
      </p:sp>
      <p:sp>
        <p:nvSpPr>
          <p:cNvPr id="10" name="Rectangle 9"/>
          <p:cNvSpPr/>
          <p:nvPr/>
        </p:nvSpPr>
        <p:spPr>
          <a:xfrm>
            <a:off x="2423592" y="104898"/>
            <a:ext cx="3151312" cy="584775"/>
          </a:xfrm>
          <a:prstGeom prst="rect">
            <a:avLst/>
          </a:prstGeom>
        </p:spPr>
        <p:txBody>
          <a:bodyPr wrap="square">
            <a:spAutoFit/>
          </a:bodyPr>
          <a:lstStyle/>
          <a:p>
            <a:r>
              <a:rPr lang="en-GB" sz="3200" dirty="0" smtClean="0">
                <a:latin typeface="+mj-lt"/>
              </a:rPr>
              <a:t>Video</a:t>
            </a:r>
            <a:r>
              <a:rPr lang="fr-FR" sz="3200" dirty="0" smtClean="0">
                <a:latin typeface="+mj-lt"/>
              </a:rPr>
              <a:t> </a:t>
            </a:r>
            <a:r>
              <a:rPr lang="en-GB" sz="3200" dirty="0" smtClean="0">
                <a:latin typeface="+mj-lt"/>
              </a:rPr>
              <a:t>coding</a:t>
            </a:r>
            <a:r>
              <a:rPr lang="fr-FR" sz="3200" dirty="0" smtClean="0">
                <a:latin typeface="+mj-lt"/>
              </a:rPr>
              <a:t> </a:t>
            </a:r>
            <a:r>
              <a:rPr lang="en-NZ" sz="3200" dirty="0" smtClean="0">
                <a:latin typeface="+mj-lt"/>
              </a:rPr>
              <a:t> </a:t>
            </a:r>
            <a:endParaRPr lang="en-NZ" sz="3200" dirty="0">
              <a:latin typeface="+mj-lt"/>
              <a:cs typeface="Times New Roman" pitchFamily="18" charset="0"/>
            </a:endParaRPr>
          </a:p>
        </p:txBody>
      </p:sp>
      <p:sp>
        <p:nvSpPr>
          <p:cNvPr id="2" name="Rectangle 1"/>
          <p:cNvSpPr/>
          <p:nvPr/>
        </p:nvSpPr>
        <p:spPr>
          <a:xfrm>
            <a:off x="295101" y="1708580"/>
            <a:ext cx="6501407" cy="461665"/>
          </a:xfrm>
          <a:prstGeom prst="rect">
            <a:avLst/>
          </a:prstGeom>
        </p:spPr>
        <p:txBody>
          <a:bodyPr wrap="square">
            <a:spAutoFit/>
          </a:bodyPr>
          <a:lstStyle/>
          <a:p>
            <a:r>
              <a:rPr lang="en-US" sz="2400" b="1" dirty="0"/>
              <a:t>Macroblocks in an image are organized into </a:t>
            </a:r>
            <a:r>
              <a:rPr lang="en-US" sz="2400" b="1" dirty="0" smtClean="0"/>
              <a:t>slices</a:t>
            </a:r>
            <a:endParaRPr lang="en-GB" sz="2400" dirty="0"/>
          </a:p>
        </p:txBody>
      </p:sp>
      <p:sp>
        <p:nvSpPr>
          <p:cNvPr id="6" name="Rectangle 5"/>
          <p:cNvSpPr/>
          <p:nvPr/>
        </p:nvSpPr>
        <p:spPr>
          <a:xfrm>
            <a:off x="6037832" y="2249158"/>
            <a:ext cx="6096000" cy="646331"/>
          </a:xfrm>
          <a:prstGeom prst="rect">
            <a:avLst/>
          </a:prstGeom>
        </p:spPr>
        <p:txBody>
          <a:bodyPr>
            <a:spAutoFit/>
          </a:bodyPr>
          <a:lstStyle/>
          <a:p>
            <a:r>
              <a:rPr lang="en-US" b="1" dirty="0">
                <a:solidFill>
                  <a:srgbClr val="000000"/>
                </a:solidFill>
                <a:latin typeface="MyriadPro-BoldCond"/>
              </a:rPr>
              <a:t>Figure to left shows the macroblocks in a frame</a:t>
            </a:r>
            <a:br>
              <a:rPr lang="en-US" b="1" dirty="0">
                <a:solidFill>
                  <a:srgbClr val="000000"/>
                </a:solidFill>
                <a:latin typeface="MyriadPro-BoldCond"/>
              </a:rPr>
            </a:br>
            <a:r>
              <a:rPr lang="en-US" b="1" dirty="0">
                <a:solidFill>
                  <a:srgbClr val="000000"/>
                </a:solidFill>
                <a:latin typeface="MyriadPro-BoldCond"/>
              </a:rPr>
              <a:t>(boxes are macroblocks not pixels)</a:t>
            </a:r>
            <a:r>
              <a:rPr lang="en-US" dirty="0"/>
              <a:t> </a:t>
            </a:r>
            <a:endParaRPr lang="en-GB" dirty="0"/>
          </a:p>
        </p:txBody>
      </p:sp>
      <p:sp>
        <p:nvSpPr>
          <p:cNvPr id="7" name="Rectangle 6"/>
          <p:cNvSpPr/>
          <p:nvPr/>
        </p:nvSpPr>
        <p:spPr>
          <a:xfrm>
            <a:off x="6023992" y="3041635"/>
            <a:ext cx="6096000" cy="369332"/>
          </a:xfrm>
          <a:prstGeom prst="rect">
            <a:avLst/>
          </a:prstGeom>
        </p:spPr>
        <p:txBody>
          <a:bodyPr>
            <a:spAutoFit/>
          </a:bodyPr>
          <a:lstStyle/>
          <a:p>
            <a:r>
              <a:rPr lang="en-US" b="1" dirty="0">
                <a:solidFill>
                  <a:srgbClr val="000000"/>
                </a:solidFill>
                <a:latin typeface="MyriadPro-BoldCond"/>
              </a:rPr>
              <a:t>Macroblocks are grouped into “slices”</a:t>
            </a:r>
            <a:r>
              <a:rPr lang="en-US" dirty="0"/>
              <a:t> </a:t>
            </a:r>
            <a:endParaRPr lang="en-GB" dirty="0"/>
          </a:p>
        </p:txBody>
      </p:sp>
      <p:sp>
        <p:nvSpPr>
          <p:cNvPr id="8" name="Rectangle 7"/>
          <p:cNvSpPr/>
          <p:nvPr/>
        </p:nvSpPr>
        <p:spPr>
          <a:xfrm>
            <a:off x="6023992" y="3557113"/>
            <a:ext cx="6096000" cy="646331"/>
          </a:xfrm>
          <a:prstGeom prst="rect">
            <a:avLst/>
          </a:prstGeom>
        </p:spPr>
        <p:txBody>
          <a:bodyPr>
            <a:spAutoFit/>
          </a:bodyPr>
          <a:lstStyle/>
          <a:p>
            <a:r>
              <a:rPr lang="en-US" b="1" dirty="0">
                <a:solidFill>
                  <a:srgbClr val="000000"/>
                </a:solidFill>
                <a:latin typeface="MyriadPro-BoldCond"/>
              </a:rPr>
              <a:t>Can think of a slice as a sequence of macroblocks in </a:t>
            </a:r>
            <a:r>
              <a:rPr lang="en-US" b="1" dirty="0" smtClean="0">
                <a:solidFill>
                  <a:srgbClr val="000000"/>
                </a:solidFill>
                <a:latin typeface="MyriadPro-BoldCond"/>
              </a:rPr>
              <a:t>raster scan </a:t>
            </a:r>
            <a:r>
              <a:rPr lang="en-US" b="1" dirty="0">
                <a:solidFill>
                  <a:srgbClr val="000000"/>
                </a:solidFill>
                <a:latin typeface="MyriadPro-BoldCond"/>
              </a:rPr>
              <a:t>order *</a:t>
            </a:r>
            <a:r>
              <a:rPr lang="en-US" dirty="0"/>
              <a:t> </a:t>
            </a:r>
            <a:endParaRPr lang="en-GB" dirty="0"/>
          </a:p>
        </p:txBody>
      </p:sp>
      <p:sp>
        <p:nvSpPr>
          <p:cNvPr id="11" name="Rectangle 10"/>
          <p:cNvSpPr/>
          <p:nvPr/>
        </p:nvSpPr>
        <p:spPr>
          <a:xfrm>
            <a:off x="6023992" y="4328843"/>
            <a:ext cx="6096000" cy="369332"/>
          </a:xfrm>
          <a:prstGeom prst="rect">
            <a:avLst/>
          </a:prstGeom>
        </p:spPr>
        <p:txBody>
          <a:bodyPr>
            <a:spAutoFit/>
          </a:bodyPr>
          <a:lstStyle/>
          <a:p>
            <a:r>
              <a:rPr lang="en-US" b="1" dirty="0">
                <a:solidFill>
                  <a:srgbClr val="000000"/>
                </a:solidFill>
                <a:latin typeface="MyriadPro-BoldCond"/>
              </a:rPr>
              <a:t>Slices can be decoded independently **</a:t>
            </a:r>
            <a:r>
              <a:rPr lang="en-US" dirty="0"/>
              <a:t> </a:t>
            </a:r>
            <a:endParaRPr lang="en-GB" dirty="0"/>
          </a:p>
        </p:txBody>
      </p:sp>
      <p:sp>
        <p:nvSpPr>
          <p:cNvPr id="12" name="Rectangle 11"/>
          <p:cNvSpPr/>
          <p:nvPr/>
        </p:nvSpPr>
        <p:spPr>
          <a:xfrm>
            <a:off x="6015781" y="4709366"/>
            <a:ext cx="5832648" cy="646331"/>
          </a:xfrm>
          <a:prstGeom prst="rect">
            <a:avLst/>
          </a:prstGeom>
        </p:spPr>
        <p:txBody>
          <a:bodyPr wrap="square">
            <a:spAutoFit/>
          </a:bodyPr>
          <a:lstStyle/>
          <a:p>
            <a:r>
              <a:rPr lang="en-US" b="1" dirty="0">
                <a:solidFill>
                  <a:srgbClr val="000000"/>
                </a:solidFill>
                <a:latin typeface="MyriadPro-BoldCond"/>
              </a:rPr>
              <a:t>(Facilitates parallel decode + robustness to </a:t>
            </a:r>
            <a:r>
              <a:rPr lang="en-US" b="1" dirty="0" smtClean="0">
                <a:solidFill>
                  <a:srgbClr val="000000"/>
                </a:solidFill>
                <a:latin typeface="MyriadPro-BoldCond"/>
              </a:rPr>
              <a:t>transmission failure</a:t>
            </a:r>
            <a:r>
              <a:rPr lang="en-US" b="1" dirty="0">
                <a:solidFill>
                  <a:srgbClr val="000000"/>
                </a:solidFill>
                <a:latin typeface="MyriadPro-BoldCond"/>
              </a:rPr>
              <a:t>)</a:t>
            </a:r>
            <a:r>
              <a:rPr lang="en-US" dirty="0"/>
              <a:t> </a:t>
            </a:r>
            <a:endParaRPr lang="en-GB" dirty="0"/>
          </a:p>
        </p:txBody>
      </p:sp>
      <p:pic>
        <p:nvPicPr>
          <p:cNvPr id="14" name="Picture 13"/>
          <p:cNvPicPr>
            <a:picLocks noChangeAspect="1"/>
          </p:cNvPicPr>
          <p:nvPr/>
        </p:nvPicPr>
        <p:blipFill>
          <a:blip r:embed="rId3"/>
          <a:stretch>
            <a:fillRect/>
          </a:stretch>
        </p:blipFill>
        <p:spPr>
          <a:xfrm>
            <a:off x="629904" y="2151216"/>
            <a:ext cx="3172197" cy="3100374"/>
          </a:xfrm>
          <a:prstGeom prst="rect">
            <a:avLst/>
          </a:prstGeom>
        </p:spPr>
      </p:pic>
      <p:cxnSp>
        <p:nvCxnSpPr>
          <p:cNvPr id="16" name="Straight Arrow Connector 15"/>
          <p:cNvCxnSpPr/>
          <p:nvPr/>
        </p:nvCxnSpPr>
        <p:spPr>
          <a:xfrm flipH="1" flipV="1">
            <a:off x="2703104" y="4365104"/>
            <a:ext cx="1296144" cy="8405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3071664" y="5442826"/>
            <a:ext cx="2856627" cy="369332"/>
          </a:xfrm>
          <a:prstGeom prst="rect">
            <a:avLst/>
          </a:prstGeom>
        </p:spPr>
        <p:txBody>
          <a:bodyPr wrap="square">
            <a:spAutoFit/>
          </a:bodyPr>
          <a:lstStyle/>
          <a:p>
            <a:r>
              <a:rPr lang="en-US" b="1" dirty="0" smtClean="0">
                <a:solidFill>
                  <a:srgbClr val="000000"/>
                </a:solidFill>
                <a:latin typeface="MyriadPro-BoldCond"/>
              </a:rPr>
              <a:t>One 16x16 Macroblock</a:t>
            </a:r>
            <a:endParaRPr lang="en-GB" dirty="0"/>
          </a:p>
        </p:txBody>
      </p:sp>
      <p:sp>
        <p:nvSpPr>
          <p:cNvPr id="20" name="Rectangle 19"/>
          <p:cNvSpPr/>
          <p:nvPr/>
        </p:nvSpPr>
        <p:spPr>
          <a:xfrm>
            <a:off x="0" y="5950088"/>
            <a:ext cx="12192000" cy="923330"/>
          </a:xfrm>
          <a:prstGeom prst="rect">
            <a:avLst/>
          </a:prstGeom>
        </p:spPr>
        <p:txBody>
          <a:bodyPr wrap="square">
            <a:spAutoFit/>
          </a:bodyPr>
          <a:lstStyle/>
          <a:p>
            <a:r>
              <a:rPr lang="en-US" b="1" dirty="0">
                <a:solidFill>
                  <a:srgbClr val="000000"/>
                </a:solidFill>
                <a:latin typeface="MyriadPro-BoldCond"/>
              </a:rPr>
              <a:t>* H.264 also has non-raster-scan order modes (FMO), will not discuss today.</a:t>
            </a:r>
            <a:br>
              <a:rPr lang="en-US" b="1" dirty="0">
                <a:solidFill>
                  <a:srgbClr val="000000"/>
                </a:solidFill>
                <a:latin typeface="MyriadPro-BoldCond"/>
              </a:rPr>
            </a:br>
            <a:r>
              <a:rPr lang="en-US" b="1" dirty="0">
                <a:solidFill>
                  <a:srgbClr val="000000"/>
                </a:solidFill>
                <a:latin typeface="MyriadPro-BoldCond"/>
              </a:rPr>
              <a:t>** Final “</a:t>
            </a:r>
            <a:r>
              <a:rPr lang="en-US" b="1" dirty="0" err="1">
                <a:solidFill>
                  <a:srgbClr val="000000"/>
                </a:solidFill>
                <a:latin typeface="MyriadPro-BoldCond"/>
              </a:rPr>
              <a:t>deblocking</a:t>
            </a:r>
            <a:r>
              <a:rPr lang="en-US" b="1" dirty="0">
                <a:solidFill>
                  <a:srgbClr val="000000"/>
                </a:solidFill>
                <a:latin typeface="MyriadPro-BoldCond"/>
              </a:rPr>
              <a:t>” pass is often applied to post-decode pixel data, so technically slices are not fully independent.</a:t>
            </a:r>
            <a:r>
              <a:rPr lang="en-US" dirty="0"/>
              <a:t> </a:t>
            </a:r>
            <a:endParaRPr lang="en-GB" dirty="0"/>
          </a:p>
        </p:txBody>
      </p:sp>
    </p:spTree>
    <p:extLst>
      <p:ext uri="{BB962C8B-B14F-4D97-AF65-F5344CB8AC3E}">
        <p14:creationId xmlns:p14="http://schemas.microsoft.com/office/powerpoint/2010/main" val="36940150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p:cNvSpPr>
            <a:spLocks noGrp="1"/>
          </p:cNvSpPr>
          <p:nvPr>
            <p:ph type="sldNum" sz="quarter" idx="12"/>
          </p:nvPr>
        </p:nvSpPr>
        <p:spPr/>
        <p:txBody>
          <a:bodyPr/>
          <a:lstStyle/>
          <a:p>
            <a:fld id="{CF4668DC-857F-487D-BFFA-8C0CA5037977}" type="slidenum">
              <a:rPr lang="fr-BE" sz="1800" b="1" smtClean="0">
                <a:solidFill>
                  <a:schemeClr val="tx1"/>
                </a:solidFill>
              </a:rPr>
              <a:pPr/>
              <a:t>5</a:t>
            </a:fld>
            <a:endParaRPr lang="fr-BE" sz="1800" b="1" dirty="0">
              <a:solidFill>
                <a:schemeClr val="tx1"/>
              </a:solidFill>
            </a:endParaRPr>
          </a:p>
        </p:txBody>
      </p:sp>
      <p:sp>
        <p:nvSpPr>
          <p:cNvPr id="9" name="Rectangle 8"/>
          <p:cNvSpPr/>
          <p:nvPr/>
        </p:nvSpPr>
        <p:spPr>
          <a:xfrm>
            <a:off x="257374" y="3804841"/>
            <a:ext cx="10961190" cy="430887"/>
          </a:xfrm>
          <a:prstGeom prst="rect">
            <a:avLst/>
          </a:prstGeom>
        </p:spPr>
        <p:txBody>
          <a:bodyPr wrap="square">
            <a:spAutoFit/>
          </a:bodyPr>
          <a:lstStyle/>
          <a:p>
            <a:r>
              <a:rPr lang="fr-FR" sz="2200" b="1" dirty="0">
                <a:solidFill>
                  <a:srgbClr val="FF0000"/>
                </a:solidFill>
              </a:rPr>
              <a:t>La compression avec perte </a:t>
            </a:r>
            <a:r>
              <a:rPr lang="fr-FR" sz="2200" b="1" dirty="0">
                <a:solidFill>
                  <a:srgbClr val="0070C0"/>
                </a:solidFill>
              </a:rPr>
              <a:t>est nécessaire pour obtenir une compression plus élevée </a:t>
            </a:r>
            <a:endParaRPr lang="en-GB" sz="2200" dirty="0">
              <a:solidFill>
                <a:srgbClr val="0070C0"/>
              </a:solidFill>
            </a:endParaRPr>
          </a:p>
        </p:txBody>
      </p:sp>
      <p:sp>
        <p:nvSpPr>
          <p:cNvPr id="10" name="Rectangle 9"/>
          <p:cNvSpPr/>
          <p:nvPr/>
        </p:nvSpPr>
        <p:spPr>
          <a:xfrm>
            <a:off x="257374" y="1605069"/>
            <a:ext cx="11633819" cy="1446550"/>
          </a:xfrm>
          <a:prstGeom prst="rect">
            <a:avLst/>
          </a:prstGeom>
        </p:spPr>
        <p:txBody>
          <a:bodyPr wrap="square">
            <a:spAutoFit/>
          </a:bodyPr>
          <a:lstStyle/>
          <a:p>
            <a:r>
              <a:rPr lang="fr-FR" sz="2200" b="1" dirty="0">
                <a:solidFill>
                  <a:srgbClr val="FF0000"/>
                </a:solidFill>
              </a:rPr>
              <a:t>La compression sans perte </a:t>
            </a:r>
            <a:r>
              <a:rPr lang="fr-FR" sz="2200" dirty="0">
                <a:solidFill>
                  <a:srgbClr val="000000"/>
                </a:solidFill>
              </a:rPr>
              <a:t>des informations d’image et de vidéo ne donne </a:t>
            </a:r>
            <a:r>
              <a:rPr lang="fr-FR" sz="2200" b="1" dirty="0">
                <a:solidFill>
                  <a:srgbClr val="00B050"/>
                </a:solidFill>
              </a:rPr>
              <a:t>qu’une quantité modérée de compression</a:t>
            </a:r>
            <a:r>
              <a:rPr lang="fr-FR" sz="2200" dirty="0">
                <a:solidFill>
                  <a:srgbClr val="000000"/>
                </a:solidFill>
              </a:rPr>
              <a:t>.</a:t>
            </a:r>
            <a:br>
              <a:rPr lang="fr-FR" sz="2200" dirty="0">
                <a:solidFill>
                  <a:srgbClr val="000000"/>
                </a:solidFill>
              </a:rPr>
            </a:br>
            <a:r>
              <a:rPr lang="fr-FR" sz="2200" dirty="0">
                <a:solidFill>
                  <a:srgbClr val="000000"/>
                </a:solidFill>
              </a:rPr>
              <a:t>Le meilleur que l’on puisse obtenir avec des normes de compression d’images sans perte telles que JPEG-LS [i] est un </a:t>
            </a:r>
            <a:r>
              <a:rPr lang="fr-FR" sz="2200" b="1" dirty="0">
                <a:solidFill>
                  <a:srgbClr val="00B050"/>
                </a:solidFill>
              </a:rPr>
              <a:t>taux de compression d’environ 3 à 4 fois</a:t>
            </a:r>
            <a:r>
              <a:rPr lang="fr-FR" sz="2200" dirty="0">
                <a:solidFill>
                  <a:srgbClr val="000000"/>
                </a:solidFill>
              </a:rPr>
              <a:t>. </a:t>
            </a:r>
            <a:endParaRPr lang="en-GB" sz="2200" dirty="0"/>
          </a:p>
        </p:txBody>
      </p:sp>
      <p:sp>
        <p:nvSpPr>
          <p:cNvPr id="11" name="Rectangle 10"/>
          <p:cNvSpPr/>
          <p:nvPr/>
        </p:nvSpPr>
        <p:spPr>
          <a:xfrm>
            <a:off x="250875" y="4434952"/>
            <a:ext cx="11640318" cy="1107996"/>
          </a:xfrm>
          <a:prstGeom prst="rect">
            <a:avLst/>
          </a:prstGeom>
        </p:spPr>
        <p:txBody>
          <a:bodyPr wrap="square">
            <a:spAutoFit/>
          </a:bodyPr>
          <a:lstStyle/>
          <a:p>
            <a:r>
              <a:rPr lang="fr-FR" sz="2200" dirty="0">
                <a:solidFill>
                  <a:srgbClr val="000000"/>
                </a:solidFill>
              </a:rPr>
              <a:t>Dans un système de compression avec perte, </a:t>
            </a:r>
            <a:r>
              <a:rPr lang="fr-FR" sz="2200" b="1" dirty="0">
                <a:solidFill>
                  <a:srgbClr val="0070C0"/>
                </a:solidFill>
              </a:rPr>
              <a:t>les données décompressées ne sont pas identiques aux données source</a:t>
            </a:r>
            <a:r>
              <a:rPr lang="fr-FR" sz="2200" b="1" dirty="0">
                <a:solidFill>
                  <a:srgbClr val="002060"/>
                </a:solidFill>
              </a:rPr>
              <a:t> </a:t>
            </a:r>
            <a:r>
              <a:rPr lang="fr-FR" sz="2200" dirty="0">
                <a:solidFill>
                  <a:srgbClr val="000000"/>
                </a:solidFill>
              </a:rPr>
              <a:t>et des </a:t>
            </a:r>
            <a:r>
              <a:rPr lang="fr-FR" sz="2200" b="1" dirty="0">
                <a:solidFill>
                  <a:srgbClr val="00B050"/>
                </a:solidFill>
              </a:rPr>
              <a:t>taux de compression beaucoup plus élevés </a:t>
            </a:r>
            <a:r>
              <a:rPr lang="fr-FR" sz="2200" dirty="0">
                <a:solidFill>
                  <a:srgbClr val="000000"/>
                </a:solidFill>
              </a:rPr>
              <a:t>peuvent être obtenus au détriment d’une perte de qualité visuelle.</a:t>
            </a:r>
            <a:endParaRPr lang="en-GB" sz="2200" dirty="0"/>
          </a:p>
        </p:txBody>
      </p:sp>
      <p:sp>
        <p:nvSpPr>
          <p:cNvPr id="13" name="Rectangle 12"/>
          <p:cNvSpPr/>
          <p:nvPr/>
        </p:nvSpPr>
        <p:spPr>
          <a:xfrm>
            <a:off x="3143672" y="908720"/>
            <a:ext cx="2135589" cy="523220"/>
          </a:xfrm>
          <a:prstGeom prst="rect">
            <a:avLst/>
          </a:prstGeom>
        </p:spPr>
        <p:txBody>
          <a:bodyPr wrap="square">
            <a:spAutoFit/>
          </a:bodyPr>
          <a:lstStyle/>
          <a:p>
            <a:r>
              <a:rPr lang="fr-FR" sz="2800" dirty="0" smtClean="0">
                <a:latin typeface="+mj-lt"/>
              </a:rPr>
              <a:t>Compression  </a:t>
            </a:r>
            <a:endParaRPr lang="fr-FR" sz="2800" dirty="0">
              <a:latin typeface="+mj-lt"/>
              <a:cs typeface="Times New Roman" pitchFamily="18" charset="0"/>
            </a:endParaRPr>
          </a:p>
        </p:txBody>
      </p:sp>
      <p:sp>
        <p:nvSpPr>
          <p:cNvPr id="14" name="Rectangle 13"/>
          <p:cNvSpPr/>
          <p:nvPr/>
        </p:nvSpPr>
        <p:spPr>
          <a:xfrm>
            <a:off x="2423592" y="104898"/>
            <a:ext cx="3151312" cy="584775"/>
          </a:xfrm>
          <a:prstGeom prst="rect">
            <a:avLst/>
          </a:prstGeom>
        </p:spPr>
        <p:txBody>
          <a:bodyPr wrap="square">
            <a:spAutoFit/>
          </a:bodyPr>
          <a:lstStyle/>
          <a:p>
            <a:r>
              <a:rPr lang="fr-FR" sz="3200" dirty="0" smtClean="0">
                <a:latin typeface="+mj-lt"/>
              </a:rPr>
              <a:t>Codage</a:t>
            </a:r>
            <a:r>
              <a:rPr lang="en-NZ" sz="3200" dirty="0" smtClean="0">
                <a:latin typeface="+mj-lt"/>
              </a:rPr>
              <a:t> </a:t>
            </a:r>
            <a:r>
              <a:rPr lang="fr-FR" sz="3200" dirty="0" smtClean="0">
                <a:latin typeface="+mj-lt"/>
              </a:rPr>
              <a:t>vidéo</a:t>
            </a:r>
            <a:r>
              <a:rPr lang="en-NZ" sz="3200" dirty="0" smtClean="0">
                <a:latin typeface="+mj-lt"/>
              </a:rPr>
              <a:t> </a:t>
            </a:r>
            <a:endParaRPr lang="en-NZ" sz="3200" dirty="0">
              <a:latin typeface="+mj-lt"/>
              <a:cs typeface="Times New Roman" pitchFamily="18" charset="0"/>
            </a:endParaRPr>
          </a:p>
        </p:txBody>
      </p:sp>
      <p:sp>
        <p:nvSpPr>
          <p:cNvPr id="2" name="Rectangle 1"/>
          <p:cNvSpPr/>
          <p:nvPr/>
        </p:nvSpPr>
        <p:spPr>
          <a:xfrm>
            <a:off x="322600" y="3120448"/>
            <a:ext cx="4201984" cy="430887"/>
          </a:xfrm>
          <a:prstGeom prst="rect">
            <a:avLst/>
          </a:prstGeom>
        </p:spPr>
        <p:txBody>
          <a:bodyPr wrap="none">
            <a:spAutoFit/>
          </a:bodyPr>
          <a:lstStyle/>
          <a:p>
            <a:r>
              <a:rPr lang="fr-FR" sz="2200" b="1" dirty="0" smtClean="0">
                <a:solidFill>
                  <a:srgbClr val="000000"/>
                </a:solidFill>
              </a:rPr>
              <a:t>JPEG</a:t>
            </a:r>
            <a:r>
              <a:rPr lang="fr-FR" sz="2200" dirty="0" smtClean="0">
                <a:solidFill>
                  <a:srgbClr val="000000"/>
                </a:solidFill>
              </a:rPr>
              <a:t>  :  Joint Picture Expert Groupe</a:t>
            </a:r>
            <a:endParaRPr lang="en-GB" sz="2200" dirty="0"/>
          </a:p>
        </p:txBody>
      </p:sp>
      <p:sp>
        <p:nvSpPr>
          <p:cNvPr id="3" name="Rectangle 2"/>
          <p:cNvSpPr/>
          <p:nvPr/>
        </p:nvSpPr>
        <p:spPr>
          <a:xfrm>
            <a:off x="250875" y="5619061"/>
            <a:ext cx="11343531" cy="769441"/>
          </a:xfrm>
          <a:prstGeom prst="rect">
            <a:avLst/>
          </a:prstGeom>
        </p:spPr>
        <p:txBody>
          <a:bodyPr wrap="square">
            <a:spAutoFit/>
          </a:bodyPr>
          <a:lstStyle/>
          <a:p>
            <a:r>
              <a:rPr lang="fr-FR" sz="2200" dirty="0" smtClean="0">
                <a:solidFill>
                  <a:srgbClr val="000000"/>
                </a:solidFill>
              </a:rPr>
              <a:t>La compression sans  perte met  à profit la </a:t>
            </a:r>
            <a:r>
              <a:rPr lang="fr-FR" sz="2200" b="1" dirty="0" smtClean="0">
                <a:solidFill>
                  <a:srgbClr val="3B66D1"/>
                </a:solidFill>
              </a:rPr>
              <a:t>perception limité </a:t>
            </a:r>
            <a:r>
              <a:rPr lang="fr-FR" sz="2200" dirty="0" smtClean="0">
                <a:solidFill>
                  <a:srgbClr val="000000"/>
                </a:solidFill>
              </a:rPr>
              <a:t>du </a:t>
            </a:r>
            <a:r>
              <a:rPr lang="fr-FR" sz="2200" b="1" dirty="0" smtClean="0">
                <a:solidFill>
                  <a:srgbClr val="00B050"/>
                </a:solidFill>
              </a:rPr>
              <a:t>système visuel humain </a:t>
            </a:r>
            <a:r>
              <a:rPr lang="fr-FR" sz="2200" dirty="0" smtClean="0">
                <a:solidFill>
                  <a:srgbClr val="000000"/>
                </a:solidFill>
              </a:rPr>
              <a:t>pour réduire la quantité d’information.</a:t>
            </a:r>
            <a:endParaRPr lang="en-GB" sz="2200" dirty="0"/>
          </a:p>
        </p:txBody>
      </p:sp>
    </p:spTree>
    <p:extLst>
      <p:ext uri="{BB962C8B-B14F-4D97-AF65-F5344CB8AC3E}">
        <p14:creationId xmlns:p14="http://schemas.microsoft.com/office/powerpoint/2010/main" val="37165588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checkerboard(across)">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3" grpId="0"/>
      <p:bldP spid="14" grpId="0"/>
      <p:bldP spid="2"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p:cNvSpPr>
            <a:spLocks noGrp="1"/>
          </p:cNvSpPr>
          <p:nvPr>
            <p:ph type="sldNum" sz="quarter" idx="12"/>
          </p:nvPr>
        </p:nvSpPr>
        <p:spPr/>
        <p:txBody>
          <a:bodyPr/>
          <a:lstStyle/>
          <a:p>
            <a:fld id="{CF4668DC-857F-487D-BFFA-8C0CA5037977}" type="slidenum">
              <a:rPr lang="fr-BE" sz="1800" b="1" smtClean="0">
                <a:solidFill>
                  <a:schemeClr val="tx1"/>
                </a:solidFill>
              </a:rPr>
              <a:pPr/>
              <a:t>6</a:t>
            </a:fld>
            <a:endParaRPr lang="fr-BE" sz="1800" b="1" dirty="0">
              <a:solidFill>
                <a:schemeClr val="tx1"/>
              </a:solidFill>
            </a:endParaRPr>
          </a:p>
        </p:txBody>
      </p:sp>
      <p:sp>
        <p:nvSpPr>
          <p:cNvPr id="2" name="Rectangle 1"/>
          <p:cNvSpPr/>
          <p:nvPr/>
        </p:nvSpPr>
        <p:spPr>
          <a:xfrm>
            <a:off x="167680" y="1700808"/>
            <a:ext cx="11856640" cy="769441"/>
          </a:xfrm>
          <a:prstGeom prst="rect">
            <a:avLst/>
          </a:prstGeom>
        </p:spPr>
        <p:txBody>
          <a:bodyPr wrap="square">
            <a:spAutoFit/>
          </a:bodyPr>
          <a:lstStyle/>
          <a:p>
            <a:r>
              <a:rPr lang="fr-FR" sz="2200" dirty="0">
                <a:solidFill>
                  <a:srgbClr val="000000"/>
                </a:solidFill>
              </a:rPr>
              <a:t>Un </a:t>
            </a:r>
            <a:r>
              <a:rPr lang="fr-FR" sz="2200" b="1" dirty="0">
                <a:solidFill>
                  <a:srgbClr val="FF0000"/>
                </a:solidFill>
              </a:rPr>
              <a:t>CODEC</a:t>
            </a:r>
            <a:r>
              <a:rPr lang="fr-FR" sz="2200" dirty="0">
                <a:solidFill>
                  <a:srgbClr val="000000"/>
                </a:solidFill>
              </a:rPr>
              <a:t> vidéo encode </a:t>
            </a:r>
            <a:r>
              <a:rPr lang="fr-FR" sz="2200" b="1" dirty="0">
                <a:solidFill>
                  <a:srgbClr val="0070C0"/>
                </a:solidFill>
              </a:rPr>
              <a:t>une image </a:t>
            </a:r>
            <a:r>
              <a:rPr lang="fr-FR" sz="2200" dirty="0">
                <a:solidFill>
                  <a:srgbClr val="000000"/>
                </a:solidFill>
              </a:rPr>
              <a:t>source ou </a:t>
            </a:r>
            <a:r>
              <a:rPr lang="fr-FR" sz="2200" b="1" dirty="0">
                <a:solidFill>
                  <a:srgbClr val="0070C0"/>
                </a:solidFill>
              </a:rPr>
              <a:t>une séquence vidéo </a:t>
            </a:r>
            <a:r>
              <a:rPr lang="fr-FR" sz="2200" dirty="0">
                <a:solidFill>
                  <a:srgbClr val="000000"/>
                </a:solidFill>
              </a:rPr>
              <a:t>en une forme compressée et la décode pour produire une copie ou </a:t>
            </a:r>
            <a:r>
              <a:rPr lang="fr-FR" sz="2200" b="1" dirty="0">
                <a:solidFill>
                  <a:srgbClr val="0070C0"/>
                </a:solidFill>
              </a:rPr>
              <a:t>une approximation de la séquence source</a:t>
            </a:r>
            <a:r>
              <a:rPr lang="fr-FR" sz="2200" dirty="0">
                <a:solidFill>
                  <a:srgbClr val="000000"/>
                </a:solidFill>
              </a:rPr>
              <a:t>. </a:t>
            </a:r>
            <a:endParaRPr lang="en-GB" sz="2200" dirty="0"/>
          </a:p>
        </p:txBody>
      </p:sp>
      <p:sp>
        <p:nvSpPr>
          <p:cNvPr id="4" name="Rectangle 3"/>
          <p:cNvSpPr/>
          <p:nvPr/>
        </p:nvSpPr>
        <p:spPr>
          <a:xfrm>
            <a:off x="167680" y="2924393"/>
            <a:ext cx="11582087" cy="769441"/>
          </a:xfrm>
          <a:prstGeom prst="rect">
            <a:avLst/>
          </a:prstGeom>
        </p:spPr>
        <p:txBody>
          <a:bodyPr wrap="square">
            <a:spAutoFit/>
          </a:bodyPr>
          <a:lstStyle/>
          <a:p>
            <a:r>
              <a:rPr lang="fr-FR" sz="2200" dirty="0">
                <a:solidFill>
                  <a:srgbClr val="000000"/>
                </a:solidFill>
              </a:rPr>
              <a:t>Si la séquence vidéo décodée est identique à l’original, alors le processus de codage est </a:t>
            </a:r>
            <a:r>
              <a:rPr lang="fr-FR" sz="2200" b="1" dirty="0">
                <a:solidFill>
                  <a:srgbClr val="00B050"/>
                </a:solidFill>
              </a:rPr>
              <a:t>sans perte </a:t>
            </a:r>
            <a:r>
              <a:rPr lang="fr-FR" sz="2200" dirty="0">
                <a:solidFill>
                  <a:srgbClr val="000000"/>
                </a:solidFill>
              </a:rPr>
              <a:t>; si la séquence décodée diffère de l’original, le processus est </a:t>
            </a:r>
            <a:r>
              <a:rPr lang="fr-FR" sz="2200" b="1" dirty="0">
                <a:solidFill>
                  <a:srgbClr val="00B050"/>
                </a:solidFill>
              </a:rPr>
              <a:t>avec perte</a:t>
            </a:r>
            <a:r>
              <a:rPr lang="fr-FR" sz="2200" dirty="0">
                <a:solidFill>
                  <a:srgbClr val="000000"/>
                </a:solidFill>
              </a:rPr>
              <a:t>. </a:t>
            </a:r>
            <a:endParaRPr lang="en-GB" sz="2200" dirty="0"/>
          </a:p>
        </p:txBody>
      </p:sp>
      <p:sp>
        <p:nvSpPr>
          <p:cNvPr id="5" name="Rectangle 4"/>
          <p:cNvSpPr/>
          <p:nvPr/>
        </p:nvSpPr>
        <p:spPr>
          <a:xfrm>
            <a:off x="167680" y="3942376"/>
            <a:ext cx="11856640" cy="430887"/>
          </a:xfrm>
          <a:prstGeom prst="rect">
            <a:avLst/>
          </a:prstGeom>
        </p:spPr>
        <p:txBody>
          <a:bodyPr wrap="square">
            <a:spAutoFit/>
          </a:bodyPr>
          <a:lstStyle/>
          <a:p>
            <a:r>
              <a:rPr lang="fr-FR" sz="2200" dirty="0">
                <a:solidFill>
                  <a:srgbClr val="000000"/>
                </a:solidFill>
              </a:rPr>
              <a:t>Un encodeur vidéo se compose de trois principales unités fonctionnelles :</a:t>
            </a:r>
            <a:endParaRPr lang="en-GB" sz="2200" dirty="0"/>
          </a:p>
        </p:txBody>
      </p:sp>
      <p:sp>
        <p:nvSpPr>
          <p:cNvPr id="6" name="Rectangle 5"/>
          <p:cNvSpPr/>
          <p:nvPr/>
        </p:nvSpPr>
        <p:spPr>
          <a:xfrm>
            <a:off x="950122" y="5477402"/>
            <a:ext cx="3509935" cy="400110"/>
          </a:xfrm>
          <a:prstGeom prst="rect">
            <a:avLst/>
          </a:prstGeom>
        </p:spPr>
        <p:txBody>
          <a:bodyPr wrap="none">
            <a:spAutoFit/>
          </a:bodyPr>
          <a:lstStyle/>
          <a:p>
            <a:pPr marL="342900" indent="-342900">
              <a:buFont typeface="Arial" panose="020B0604020202020204" pitchFamily="34" charset="0"/>
              <a:buChar char="•"/>
            </a:pPr>
            <a:r>
              <a:rPr lang="fr-FR" sz="2000" b="1" dirty="0">
                <a:solidFill>
                  <a:srgbClr val="000000"/>
                </a:solidFill>
              </a:rPr>
              <a:t>E</a:t>
            </a:r>
            <a:r>
              <a:rPr lang="fr-FR" sz="2000" b="1" dirty="0" smtClean="0">
                <a:solidFill>
                  <a:srgbClr val="000000"/>
                </a:solidFill>
              </a:rPr>
              <a:t>t un encodeur entropique </a:t>
            </a:r>
            <a:r>
              <a:rPr lang="fr-FR" sz="2000" b="1" dirty="0" smtClean="0"/>
              <a:t>.</a:t>
            </a:r>
            <a:endParaRPr lang="fr-FR" sz="2000" b="1" dirty="0"/>
          </a:p>
        </p:txBody>
      </p:sp>
      <p:sp>
        <p:nvSpPr>
          <p:cNvPr id="7" name="Rectangle 6"/>
          <p:cNvSpPr/>
          <p:nvPr/>
        </p:nvSpPr>
        <p:spPr>
          <a:xfrm>
            <a:off x="965477" y="5030123"/>
            <a:ext cx="2461764" cy="400110"/>
          </a:xfrm>
          <a:prstGeom prst="rect">
            <a:avLst/>
          </a:prstGeom>
        </p:spPr>
        <p:txBody>
          <a:bodyPr wrap="none">
            <a:spAutoFit/>
          </a:bodyPr>
          <a:lstStyle/>
          <a:p>
            <a:pPr marL="342900" indent="-342900">
              <a:buFont typeface="Arial" panose="020B0604020202020204" pitchFamily="34" charset="0"/>
              <a:buChar char="•"/>
            </a:pPr>
            <a:r>
              <a:rPr lang="fr-FR" sz="2000" b="1" dirty="0"/>
              <a:t>U</a:t>
            </a:r>
            <a:r>
              <a:rPr lang="fr-FR" sz="2000" b="1" dirty="0" smtClean="0"/>
              <a:t>n </a:t>
            </a:r>
            <a:r>
              <a:rPr lang="fr-FR" sz="2000" b="1" dirty="0"/>
              <a:t>modèle spatial</a:t>
            </a:r>
            <a:endParaRPr lang="en-GB" sz="2000" b="1" dirty="0"/>
          </a:p>
        </p:txBody>
      </p:sp>
      <p:sp>
        <p:nvSpPr>
          <p:cNvPr id="8" name="Rectangle 7"/>
          <p:cNvSpPr/>
          <p:nvPr/>
        </p:nvSpPr>
        <p:spPr>
          <a:xfrm>
            <a:off x="950122" y="4582844"/>
            <a:ext cx="3294813" cy="400110"/>
          </a:xfrm>
          <a:prstGeom prst="rect">
            <a:avLst/>
          </a:prstGeom>
        </p:spPr>
        <p:txBody>
          <a:bodyPr wrap="none">
            <a:spAutoFit/>
          </a:bodyPr>
          <a:lstStyle/>
          <a:p>
            <a:pPr marL="342900" indent="-342900">
              <a:buFont typeface="Arial" panose="020B0604020202020204" pitchFamily="34" charset="0"/>
              <a:buChar char="•"/>
            </a:pPr>
            <a:r>
              <a:rPr lang="fr-FR" sz="2000" b="1" dirty="0" smtClean="0"/>
              <a:t>Un modèle </a:t>
            </a:r>
            <a:r>
              <a:rPr lang="fr-FR" sz="2000" b="1" dirty="0"/>
              <a:t>de </a:t>
            </a:r>
            <a:r>
              <a:rPr lang="fr-FR" sz="2000" b="1" dirty="0" smtClean="0"/>
              <a:t>prédiction</a:t>
            </a:r>
            <a:r>
              <a:rPr lang="en-US" sz="2000" dirty="0" smtClean="0">
                <a:solidFill>
                  <a:srgbClr val="000000"/>
                </a:solidFill>
              </a:rPr>
              <a:t>, </a:t>
            </a:r>
            <a:endParaRPr lang="en-GB" sz="2000" dirty="0"/>
          </a:p>
        </p:txBody>
      </p:sp>
      <p:sp>
        <p:nvSpPr>
          <p:cNvPr id="11" name="Rectangle 10"/>
          <p:cNvSpPr/>
          <p:nvPr/>
        </p:nvSpPr>
        <p:spPr>
          <a:xfrm>
            <a:off x="2423592" y="104898"/>
            <a:ext cx="3151312" cy="584775"/>
          </a:xfrm>
          <a:prstGeom prst="rect">
            <a:avLst/>
          </a:prstGeom>
        </p:spPr>
        <p:txBody>
          <a:bodyPr wrap="square">
            <a:spAutoFit/>
          </a:bodyPr>
          <a:lstStyle/>
          <a:p>
            <a:r>
              <a:rPr lang="fr-FR" sz="3200" dirty="0" smtClean="0">
                <a:latin typeface="+mj-lt"/>
              </a:rPr>
              <a:t>Codage</a:t>
            </a:r>
            <a:r>
              <a:rPr lang="en-NZ" sz="3200" dirty="0" smtClean="0">
                <a:latin typeface="+mj-lt"/>
              </a:rPr>
              <a:t> </a:t>
            </a:r>
            <a:r>
              <a:rPr lang="fr-FR" sz="3200" dirty="0" smtClean="0">
                <a:latin typeface="+mj-lt"/>
              </a:rPr>
              <a:t>vidéo </a:t>
            </a:r>
            <a:endParaRPr lang="fr-FR" sz="3200" dirty="0">
              <a:latin typeface="+mj-lt"/>
              <a:cs typeface="Times New Roman" pitchFamily="18" charset="0"/>
            </a:endParaRPr>
          </a:p>
        </p:txBody>
      </p:sp>
      <p:sp>
        <p:nvSpPr>
          <p:cNvPr id="12" name="Rectangle 11"/>
          <p:cNvSpPr/>
          <p:nvPr/>
        </p:nvSpPr>
        <p:spPr>
          <a:xfrm>
            <a:off x="3128537" y="887129"/>
            <a:ext cx="2135589" cy="523220"/>
          </a:xfrm>
          <a:prstGeom prst="rect">
            <a:avLst/>
          </a:prstGeom>
        </p:spPr>
        <p:txBody>
          <a:bodyPr wrap="square">
            <a:spAutoFit/>
          </a:bodyPr>
          <a:lstStyle/>
          <a:p>
            <a:r>
              <a:rPr lang="fr-FR" sz="2800" dirty="0" smtClean="0">
                <a:latin typeface="+mj-lt"/>
              </a:rPr>
              <a:t>Codage  </a:t>
            </a:r>
            <a:endParaRPr lang="fr-FR" sz="2800" dirty="0">
              <a:latin typeface="+mj-lt"/>
              <a:cs typeface="Times New Roman" pitchFamily="18" charset="0"/>
            </a:endParaRPr>
          </a:p>
        </p:txBody>
      </p:sp>
    </p:spTree>
    <p:extLst>
      <p:ext uri="{BB962C8B-B14F-4D97-AF65-F5344CB8AC3E}">
        <p14:creationId xmlns:p14="http://schemas.microsoft.com/office/powerpoint/2010/main" val="12401609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heckerboard(across)">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P spid="8" grpId="0"/>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p:cNvSpPr>
            <a:spLocks noGrp="1"/>
          </p:cNvSpPr>
          <p:nvPr>
            <p:ph type="sldNum" sz="quarter" idx="12"/>
          </p:nvPr>
        </p:nvSpPr>
        <p:spPr/>
        <p:txBody>
          <a:bodyPr/>
          <a:lstStyle/>
          <a:p>
            <a:fld id="{CF4668DC-857F-487D-BFFA-8C0CA5037977}" type="slidenum">
              <a:rPr lang="fr-BE" sz="1800" b="1" smtClean="0">
                <a:solidFill>
                  <a:schemeClr val="tx1"/>
                </a:solidFill>
              </a:rPr>
              <a:pPr/>
              <a:t>7</a:t>
            </a:fld>
            <a:endParaRPr lang="fr-BE" sz="1800" b="1" dirty="0">
              <a:solidFill>
                <a:schemeClr val="tx1"/>
              </a:solidFill>
            </a:endParaRPr>
          </a:p>
        </p:txBody>
      </p:sp>
      <p:sp>
        <p:nvSpPr>
          <p:cNvPr id="7" name="Rectangle 6"/>
          <p:cNvSpPr/>
          <p:nvPr/>
        </p:nvSpPr>
        <p:spPr>
          <a:xfrm>
            <a:off x="257327" y="5060533"/>
            <a:ext cx="10296744" cy="461665"/>
          </a:xfrm>
          <a:prstGeom prst="rect">
            <a:avLst/>
          </a:prstGeom>
        </p:spPr>
        <p:txBody>
          <a:bodyPr wrap="square">
            <a:spAutoFit/>
          </a:bodyPr>
          <a:lstStyle/>
          <a:p>
            <a:r>
              <a:rPr lang="en-US" sz="2400" b="1" dirty="0"/>
              <a:t>Residual: </a:t>
            </a:r>
            <a:r>
              <a:rPr lang="en-US" sz="2400" b="1" dirty="0" err="1"/>
              <a:t>di#erence</a:t>
            </a:r>
            <a:r>
              <a:rPr lang="en-US" sz="2400" b="1" dirty="0"/>
              <a:t> between predicted pixel values and input video pixel values</a:t>
            </a:r>
            <a:r>
              <a:rPr lang="en-US" sz="2400" dirty="0"/>
              <a:t> </a:t>
            </a:r>
            <a:endParaRPr lang="en-GB" sz="2400" dirty="0"/>
          </a:p>
        </p:txBody>
      </p:sp>
      <p:sp>
        <p:nvSpPr>
          <p:cNvPr id="8" name="Rectangle 7"/>
          <p:cNvSpPr/>
          <p:nvPr/>
        </p:nvSpPr>
        <p:spPr>
          <a:xfrm>
            <a:off x="257327" y="5800249"/>
            <a:ext cx="11424592" cy="830997"/>
          </a:xfrm>
          <a:prstGeom prst="rect">
            <a:avLst/>
          </a:prstGeom>
        </p:spPr>
        <p:txBody>
          <a:bodyPr wrap="square">
            <a:spAutoFit/>
          </a:bodyPr>
          <a:lstStyle/>
          <a:p>
            <a:r>
              <a:rPr lang="en-US" sz="2400" b="1" i="1" dirty="0"/>
              <a:t>In other words: The main idea today: use an algorithm to predict what a future pixel should be, then store a description of </a:t>
            </a:r>
            <a:r>
              <a:rPr lang="en-US" sz="2400" b="1" i="1" dirty="0" smtClean="0"/>
              <a:t>the  algorithm </a:t>
            </a:r>
            <a:r>
              <a:rPr lang="en-US" sz="2400" b="1" i="1" dirty="0"/>
              <a:t>and the residual of the prediction.</a:t>
            </a:r>
            <a:r>
              <a:rPr lang="en-US" sz="2400" dirty="0"/>
              <a:t> </a:t>
            </a:r>
            <a:endParaRPr lang="en-GB" sz="2400" dirty="0"/>
          </a:p>
        </p:txBody>
      </p:sp>
      <p:sp>
        <p:nvSpPr>
          <p:cNvPr id="11" name="Rectangle 10"/>
          <p:cNvSpPr/>
          <p:nvPr/>
        </p:nvSpPr>
        <p:spPr>
          <a:xfrm>
            <a:off x="2423592" y="104898"/>
            <a:ext cx="3151312" cy="584775"/>
          </a:xfrm>
          <a:prstGeom prst="rect">
            <a:avLst/>
          </a:prstGeom>
        </p:spPr>
        <p:txBody>
          <a:bodyPr wrap="square">
            <a:spAutoFit/>
          </a:bodyPr>
          <a:lstStyle/>
          <a:p>
            <a:r>
              <a:rPr lang="en-GB" sz="3200" dirty="0" smtClean="0">
                <a:latin typeface="+mj-lt"/>
                <a:cs typeface="Times New Roman" pitchFamily="18" charset="0"/>
              </a:rPr>
              <a:t>Video coding</a:t>
            </a:r>
            <a:endParaRPr lang="en-GB" sz="3200" dirty="0">
              <a:latin typeface="+mj-lt"/>
              <a:cs typeface="Times New Roman" pitchFamily="18" charset="0"/>
            </a:endParaRPr>
          </a:p>
        </p:txBody>
      </p:sp>
      <p:sp>
        <p:nvSpPr>
          <p:cNvPr id="12" name="Rectangle 11"/>
          <p:cNvSpPr/>
          <p:nvPr/>
        </p:nvSpPr>
        <p:spPr>
          <a:xfrm>
            <a:off x="2783632" y="843655"/>
            <a:ext cx="2135589" cy="523220"/>
          </a:xfrm>
          <a:prstGeom prst="rect">
            <a:avLst/>
          </a:prstGeom>
        </p:spPr>
        <p:txBody>
          <a:bodyPr wrap="square">
            <a:spAutoFit/>
          </a:bodyPr>
          <a:lstStyle/>
          <a:p>
            <a:r>
              <a:rPr lang="en-GB" sz="2800" dirty="0" smtClean="0">
                <a:latin typeface="+mj-lt"/>
              </a:rPr>
              <a:t>Coding</a:t>
            </a:r>
            <a:endParaRPr lang="en-GB" sz="2800" dirty="0">
              <a:latin typeface="+mj-lt"/>
              <a:cs typeface="Times New Roman" pitchFamily="18" charset="0"/>
            </a:endParaRPr>
          </a:p>
        </p:txBody>
      </p:sp>
      <p:pic>
        <p:nvPicPr>
          <p:cNvPr id="2" name="Picture 1"/>
          <p:cNvPicPr>
            <a:picLocks noChangeAspect="1"/>
          </p:cNvPicPr>
          <p:nvPr/>
        </p:nvPicPr>
        <p:blipFill>
          <a:blip r:embed="rId3"/>
          <a:stretch>
            <a:fillRect/>
          </a:stretch>
        </p:blipFill>
        <p:spPr>
          <a:xfrm>
            <a:off x="695400" y="1366875"/>
            <a:ext cx="9433048" cy="3349202"/>
          </a:xfrm>
          <a:prstGeom prst="rect">
            <a:avLst/>
          </a:prstGeom>
        </p:spPr>
      </p:pic>
    </p:spTree>
    <p:extLst>
      <p:ext uri="{BB962C8B-B14F-4D97-AF65-F5344CB8AC3E}">
        <p14:creationId xmlns:p14="http://schemas.microsoft.com/office/powerpoint/2010/main" val="7730458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heckerboard(across)">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p:cNvSpPr>
            <a:spLocks noGrp="1"/>
          </p:cNvSpPr>
          <p:nvPr>
            <p:ph type="sldNum" sz="quarter" idx="12"/>
          </p:nvPr>
        </p:nvSpPr>
        <p:spPr/>
        <p:txBody>
          <a:bodyPr/>
          <a:lstStyle/>
          <a:p>
            <a:fld id="{CF4668DC-857F-487D-BFFA-8C0CA5037977}" type="slidenum">
              <a:rPr lang="fr-BE" sz="1800" b="1" smtClean="0">
                <a:solidFill>
                  <a:schemeClr val="tx1"/>
                </a:solidFill>
              </a:rPr>
              <a:pPr/>
              <a:t>8</a:t>
            </a:fld>
            <a:endParaRPr lang="fr-BE" sz="1800" b="1" dirty="0">
              <a:solidFill>
                <a:schemeClr val="tx1"/>
              </a:solidFill>
            </a:endParaRPr>
          </a:p>
        </p:txBody>
      </p:sp>
      <p:sp>
        <p:nvSpPr>
          <p:cNvPr id="11" name="Rectangle 10"/>
          <p:cNvSpPr/>
          <p:nvPr/>
        </p:nvSpPr>
        <p:spPr>
          <a:xfrm>
            <a:off x="218913" y="1674321"/>
            <a:ext cx="11803471" cy="1107996"/>
          </a:xfrm>
          <a:prstGeom prst="rect">
            <a:avLst/>
          </a:prstGeom>
        </p:spPr>
        <p:txBody>
          <a:bodyPr wrap="square">
            <a:spAutoFit/>
          </a:bodyPr>
          <a:lstStyle/>
          <a:p>
            <a:r>
              <a:rPr lang="fr-FR" sz="2200" dirty="0"/>
              <a:t>La sortie du </a:t>
            </a:r>
            <a:r>
              <a:rPr lang="fr-FR" sz="2200" b="1" dirty="0">
                <a:solidFill>
                  <a:srgbClr val="0070C0"/>
                </a:solidFill>
              </a:rPr>
              <a:t>modèle de prédiction </a:t>
            </a:r>
            <a:r>
              <a:rPr lang="fr-FR" sz="2200" dirty="0"/>
              <a:t>est </a:t>
            </a:r>
            <a:r>
              <a:rPr lang="fr-FR" sz="2200" dirty="0" smtClean="0"/>
              <a:t>une trame </a:t>
            </a:r>
            <a:r>
              <a:rPr lang="fr-FR" sz="2200" dirty="0"/>
              <a:t>résiduel, créé en soustrayant la prédiction de </a:t>
            </a:r>
          </a:p>
          <a:p>
            <a:r>
              <a:rPr lang="fr-FR" sz="2200" dirty="0"/>
              <a:t>la trame actuelle réelle, et un ensemble de paramètres du modèle indiquant le type de prédiction intra </a:t>
            </a:r>
            <a:r>
              <a:rPr lang="fr-FR" sz="2200" dirty="0" smtClean="0"/>
              <a:t> ou </a:t>
            </a:r>
            <a:r>
              <a:rPr lang="fr-FR" sz="2200" dirty="0"/>
              <a:t>décrire comment le mouvement a été compensé. </a:t>
            </a:r>
            <a:endParaRPr lang="en-GB" sz="2200" dirty="0"/>
          </a:p>
        </p:txBody>
      </p:sp>
      <p:sp>
        <p:nvSpPr>
          <p:cNvPr id="2" name="Rectangle 1"/>
          <p:cNvSpPr/>
          <p:nvPr/>
        </p:nvSpPr>
        <p:spPr>
          <a:xfrm>
            <a:off x="277205" y="3163615"/>
            <a:ext cx="11637589" cy="769441"/>
          </a:xfrm>
          <a:prstGeom prst="rect">
            <a:avLst/>
          </a:prstGeom>
        </p:spPr>
        <p:txBody>
          <a:bodyPr wrap="square">
            <a:spAutoFit/>
          </a:bodyPr>
          <a:lstStyle/>
          <a:p>
            <a:r>
              <a:rPr lang="fr-FR" sz="2200" b="1" dirty="0">
                <a:solidFill>
                  <a:srgbClr val="0070C0"/>
                </a:solidFill>
              </a:rPr>
              <a:t>La trame résiduelle </a:t>
            </a:r>
            <a:r>
              <a:rPr lang="fr-FR" sz="2200" dirty="0"/>
              <a:t>forme l’entrée du </a:t>
            </a:r>
            <a:r>
              <a:rPr lang="fr-FR" sz="2200" b="1" dirty="0">
                <a:solidFill>
                  <a:srgbClr val="0070C0"/>
                </a:solidFill>
              </a:rPr>
              <a:t>modèle spatial </a:t>
            </a:r>
            <a:r>
              <a:rPr lang="fr-FR" sz="2200" dirty="0"/>
              <a:t>qui utilise les similitudes entre </a:t>
            </a:r>
            <a:r>
              <a:rPr lang="fr-FR" sz="2200" b="1" dirty="0">
                <a:solidFill>
                  <a:srgbClr val="00B050"/>
                </a:solidFill>
              </a:rPr>
              <a:t>les échantillons locaux </a:t>
            </a:r>
            <a:r>
              <a:rPr lang="fr-FR" sz="2200" dirty="0"/>
              <a:t>dans </a:t>
            </a:r>
            <a:r>
              <a:rPr lang="fr-FR" sz="2200" b="1" dirty="0">
                <a:solidFill>
                  <a:srgbClr val="0070C0"/>
                </a:solidFill>
              </a:rPr>
              <a:t>la trame résiduelle </a:t>
            </a:r>
            <a:r>
              <a:rPr lang="fr-FR" sz="2200" dirty="0"/>
              <a:t>pour </a:t>
            </a:r>
            <a:r>
              <a:rPr lang="fr-FR" sz="2200" b="1" dirty="0">
                <a:solidFill>
                  <a:srgbClr val="00B050"/>
                </a:solidFill>
              </a:rPr>
              <a:t>réduire la redondance spatiale </a:t>
            </a:r>
            <a:endParaRPr lang="en-GB" sz="2200" b="1" dirty="0">
              <a:solidFill>
                <a:srgbClr val="00B050"/>
              </a:solidFill>
            </a:endParaRPr>
          </a:p>
        </p:txBody>
      </p:sp>
      <p:sp>
        <p:nvSpPr>
          <p:cNvPr id="4" name="Rectangle 3"/>
          <p:cNvSpPr/>
          <p:nvPr/>
        </p:nvSpPr>
        <p:spPr>
          <a:xfrm>
            <a:off x="218913" y="4581128"/>
            <a:ext cx="11795460" cy="769441"/>
          </a:xfrm>
          <a:prstGeom prst="rect">
            <a:avLst/>
          </a:prstGeom>
        </p:spPr>
        <p:txBody>
          <a:bodyPr wrap="square">
            <a:spAutoFit/>
          </a:bodyPr>
          <a:lstStyle/>
          <a:p>
            <a:r>
              <a:rPr lang="fr-FR" sz="2200" dirty="0">
                <a:solidFill>
                  <a:srgbClr val="000000"/>
                </a:solidFill>
              </a:rPr>
              <a:t>Dans H.264/AVC, cela est réalisé en appliquant une transformée aux échantillons résiduels et en quantifiant les résultats.</a:t>
            </a:r>
            <a:endParaRPr lang="en-GB" sz="2200" dirty="0"/>
          </a:p>
        </p:txBody>
      </p:sp>
      <p:sp>
        <p:nvSpPr>
          <p:cNvPr id="14" name="Rectangle 13"/>
          <p:cNvSpPr/>
          <p:nvPr/>
        </p:nvSpPr>
        <p:spPr>
          <a:xfrm>
            <a:off x="2423592" y="104898"/>
            <a:ext cx="3151312" cy="584775"/>
          </a:xfrm>
          <a:prstGeom prst="rect">
            <a:avLst/>
          </a:prstGeom>
        </p:spPr>
        <p:txBody>
          <a:bodyPr wrap="square">
            <a:spAutoFit/>
          </a:bodyPr>
          <a:lstStyle/>
          <a:p>
            <a:r>
              <a:rPr lang="fr-FR" sz="3200" dirty="0" smtClean="0">
                <a:latin typeface="+mj-lt"/>
              </a:rPr>
              <a:t>Codage</a:t>
            </a:r>
            <a:r>
              <a:rPr lang="en-NZ" sz="3200" dirty="0" smtClean="0">
                <a:latin typeface="+mj-lt"/>
              </a:rPr>
              <a:t> </a:t>
            </a:r>
            <a:r>
              <a:rPr lang="fr-FR" sz="3200" dirty="0" smtClean="0">
                <a:latin typeface="+mj-lt"/>
              </a:rPr>
              <a:t>vidéo </a:t>
            </a:r>
            <a:endParaRPr lang="fr-FR" sz="3200" dirty="0">
              <a:latin typeface="+mj-lt"/>
              <a:cs typeface="Times New Roman" pitchFamily="18" charset="0"/>
            </a:endParaRPr>
          </a:p>
        </p:txBody>
      </p:sp>
      <p:sp>
        <p:nvSpPr>
          <p:cNvPr id="15" name="Rectangle 14"/>
          <p:cNvSpPr/>
          <p:nvPr/>
        </p:nvSpPr>
        <p:spPr>
          <a:xfrm>
            <a:off x="3191969" y="885761"/>
            <a:ext cx="2135589" cy="523220"/>
          </a:xfrm>
          <a:prstGeom prst="rect">
            <a:avLst/>
          </a:prstGeom>
        </p:spPr>
        <p:txBody>
          <a:bodyPr wrap="square">
            <a:spAutoFit/>
          </a:bodyPr>
          <a:lstStyle/>
          <a:p>
            <a:r>
              <a:rPr lang="fr-FR" sz="2800" dirty="0" smtClean="0">
                <a:latin typeface="+mj-lt"/>
              </a:rPr>
              <a:t>Codage  </a:t>
            </a:r>
            <a:endParaRPr lang="fr-FR" sz="2800" dirty="0">
              <a:latin typeface="+mj-lt"/>
              <a:cs typeface="Times New Roman" pitchFamily="18" charset="0"/>
            </a:endParaRPr>
          </a:p>
        </p:txBody>
      </p:sp>
    </p:spTree>
    <p:extLst>
      <p:ext uri="{BB962C8B-B14F-4D97-AF65-F5344CB8AC3E}">
        <p14:creationId xmlns:p14="http://schemas.microsoft.com/office/powerpoint/2010/main" val="39328578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checkerboard(across)">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P spid="4" grpId="0"/>
      <p:bldP spid="14"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p:cNvSpPr>
            <a:spLocks noGrp="1"/>
          </p:cNvSpPr>
          <p:nvPr>
            <p:ph type="sldNum" sz="quarter" idx="12"/>
          </p:nvPr>
        </p:nvSpPr>
        <p:spPr/>
        <p:txBody>
          <a:bodyPr/>
          <a:lstStyle/>
          <a:p>
            <a:fld id="{CF4668DC-857F-487D-BFFA-8C0CA5037977}" type="slidenum">
              <a:rPr lang="fr-BE" sz="1800" b="1" smtClean="0">
                <a:solidFill>
                  <a:schemeClr val="tx1"/>
                </a:solidFill>
              </a:rPr>
              <a:pPr/>
              <a:t>9</a:t>
            </a:fld>
            <a:endParaRPr lang="fr-BE" sz="1800" b="1" dirty="0">
              <a:solidFill>
                <a:schemeClr val="tx1"/>
              </a:solidFill>
            </a:endParaRPr>
          </a:p>
        </p:txBody>
      </p:sp>
      <p:sp>
        <p:nvSpPr>
          <p:cNvPr id="5" name="Rectangle 4"/>
          <p:cNvSpPr/>
          <p:nvPr/>
        </p:nvSpPr>
        <p:spPr>
          <a:xfrm>
            <a:off x="277205" y="1684272"/>
            <a:ext cx="11637589" cy="769441"/>
          </a:xfrm>
          <a:prstGeom prst="rect">
            <a:avLst/>
          </a:prstGeom>
        </p:spPr>
        <p:txBody>
          <a:bodyPr wrap="square">
            <a:spAutoFit/>
          </a:bodyPr>
          <a:lstStyle/>
          <a:p>
            <a:r>
              <a:rPr lang="fr-FR" sz="2200" b="1" dirty="0">
                <a:solidFill>
                  <a:srgbClr val="FF0000"/>
                </a:solidFill>
              </a:rPr>
              <a:t>La transformée </a:t>
            </a:r>
            <a:r>
              <a:rPr lang="fr-FR" sz="2200" dirty="0">
                <a:solidFill>
                  <a:srgbClr val="000000"/>
                </a:solidFill>
              </a:rPr>
              <a:t>convertit les échantillons </a:t>
            </a:r>
            <a:r>
              <a:rPr lang="fr-FR" sz="2200" b="1" dirty="0">
                <a:solidFill>
                  <a:srgbClr val="0070C0"/>
                </a:solidFill>
              </a:rPr>
              <a:t>dans un autre domaine </a:t>
            </a:r>
            <a:r>
              <a:rPr lang="fr-FR" sz="2200" dirty="0">
                <a:solidFill>
                  <a:srgbClr val="000000"/>
                </a:solidFill>
              </a:rPr>
              <a:t>dans lequel ils sont représentés par </a:t>
            </a:r>
            <a:r>
              <a:rPr lang="fr-FR" sz="2200" b="1" dirty="0">
                <a:solidFill>
                  <a:srgbClr val="00B050"/>
                </a:solidFill>
              </a:rPr>
              <a:t>des coefficients de transformation</a:t>
            </a:r>
            <a:r>
              <a:rPr lang="fr-FR" sz="2200" dirty="0">
                <a:solidFill>
                  <a:srgbClr val="000000"/>
                </a:solidFill>
              </a:rPr>
              <a:t>.</a:t>
            </a:r>
            <a:endParaRPr lang="en-GB" sz="2200" b="1" dirty="0">
              <a:solidFill>
                <a:srgbClr val="002060"/>
              </a:solidFill>
            </a:endParaRPr>
          </a:p>
        </p:txBody>
      </p:sp>
      <p:sp>
        <p:nvSpPr>
          <p:cNvPr id="12" name="Rectangle 11"/>
          <p:cNvSpPr/>
          <p:nvPr/>
        </p:nvSpPr>
        <p:spPr>
          <a:xfrm>
            <a:off x="309650" y="3137517"/>
            <a:ext cx="11637589" cy="769441"/>
          </a:xfrm>
          <a:prstGeom prst="rect">
            <a:avLst/>
          </a:prstGeom>
        </p:spPr>
        <p:txBody>
          <a:bodyPr wrap="square">
            <a:spAutoFit/>
          </a:bodyPr>
          <a:lstStyle/>
          <a:p>
            <a:r>
              <a:rPr lang="fr-FR" sz="2200" b="1" dirty="0">
                <a:solidFill>
                  <a:srgbClr val="FF0000"/>
                </a:solidFill>
              </a:rPr>
              <a:t>Les coefficients sont quantifiés </a:t>
            </a:r>
            <a:r>
              <a:rPr lang="fr-FR" sz="2200" dirty="0"/>
              <a:t>pour éliminer les valeurs insignifiantes, laissant un petit nombre de coefficients significatifs qui fournissent une représentation plus compacte </a:t>
            </a:r>
            <a:r>
              <a:rPr lang="fr-FR" sz="2200" dirty="0" smtClean="0"/>
              <a:t>de </a:t>
            </a:r>
            <a:r>
              <a:rPr lang="fr-FR" sz="2200" b="1" dirty="0" smtClean="0">
                <a:solidFill>
                  <a:srgbClr val="0070C0"/>
                </a:solidFill>
              </a:rPr>
              <a:t>la trame  </a:t>
            </a:r>
            <a:r>
              <a:rPr lang="fr-FR" sz="2200" b="1" dirty="0">
                <a:solidFill>
                  <a:srgbClr val="0070C0"/>
                </a:solidFill>
              </a:rPr>
              <a:t>résiduel</a:t>
            </a:r>
            <a:r>
              <a:rPr lang="fr-FR" sz="2200" dirty="0"/>
              <a:t>. </a:t>
            </a:r>
            <a:endParaRPr lang="en-GB" sz="2200" dirty="0"/>
          </a:p>
        </p:txBody>
      </p:sp>
      <p:sp>
        <p:nvSpPr>
          <p:cNvPr id="13" name="Rectangle 12"/>
          <p:cNvSpPr/>
          <p:nvPr/>
        </p:nvSpPr>
        <p:spPr>
          <a:xfrm>
            <a:off x="251359" y="4590762"/>
            <a:ext cx="10557610" cy="430887"/>
          </a:xfrm>
          <a:prstGeom prst="rect">
            <a:avLst/>
          </a:prstGeom>
        </p:spPr>
        <p:txBody>
          <a:bodyPr wrap="square">
            <a:spAutoFit/>
          </a:bodyPr>
          <a:lstStyle/>
          <a:p>
            <a:r>
              <a:rPr lang="fr-FR" sz="2200" dirty="0"/>
              <a:t>La sortie du modèle spatial est </a:t>
            </a:r>
            <a:r>
              <a:rPr lang="fr-FR" sz="2200" b="1" dirty="0">
                <a:solidFill>
                  <a:srgbClr val="00B050"/>
                </a:solidFill>
              </a:rPr>
              <a:t>un ensemble de coefficients de transformée quantifiés</a:t>
            </a:r>
            <a:r>
              <a:rPr lang="fr-FR" sz="2200" dirty="0"/>
              <a:t>.</a:t>
            </a:r>
            <a:endParaRPr lang="en-GB" sz="2200" dirty="0"/>
          </a:p>
        </p:txBody>
      </p:sp>
      <p:sp>
        <p:nvSpPr>
          <p:cNvPr id="14" name="Rectangle 13"/>
          <p:cNvSpPr/>
          <p:nvPr/>
        </p:nvSpPr>
        <p:spPr>
          <a:xfrm>
            <a:off x="2423592" y="104898"/>
            <a:ext cx="3151312" cy="584775"/>
          </a:xfrm>
          <a:prstGeom prst="rect">
            <a:avLst/>
          </a:prstGeom>
        </p:spPr>
        <p:txBody>
          <a:bodyPr wrap="square">
            <a:spAutoFit/>
          </a:bodyPr>
          <a:lstStyle/>
          <a:p>
            <a:r>
              <a:rPr lang="fr-FR" sz="3200" dirty="0" smtClean="0">
                <a:latin typeface="+mj-lt"/>
              </a:rPr>
              <a:t>Codage</a:t>
            </a:r>
            <a:r>
              <a:rPr lang="en-NZ" sz="3200" dirty="0" smtClean="0">
                <a:latin typeface="+mj-lt"/>
              </a:rPr>
              <a:t> </a:t>
            </a:r>
            <a:r>
              <a:rPr lang="fr-FR" sz="3200" dirty="0" smtClean="0">
                <a:latin typeface="+mj-lt"/>
              </a:rPr>
              <a:t>vidéo </a:t>
            </a:r>
            <a:endParaRPr lang="fr-FR" sz="3200" dirty="0">
              <a:latin typeface="+mj-lt"/>
              <a:cs typeface="Times New Roman" pitchFamily="18" charset="0"/>
            </a:endParaRPr>
          </a:p>
        </p:txBody>
      </p:sp>
      <p:sp>
        <p:nvSpPr>
          <p:cNvPr id="15" name="Rectangle 14"/>
          <p:cNvSpPr/>
          <p:nvPr/>
        </p:nvSpPr>
        <p:spPr>
          <a:xfrm>
            <a:off x="3191969" y="885761"/>
            <a:ext cx="2135589" cy="523220"/>
          </a:xfrm>
          <a:prstGeom prst="rect">
            <a:avLst/>
          </a:prstGeom>
        </p:spPr>
        <p:txBody>
          <a:bodyPr wrap="square">
            <a:spAutoFit/>
          </a:bodyPr>
          <a:lstStyle/>
          <a:p>
            <a:r>
              <a:rPr lang="fr-FR" sz="2800" dirty="0" smtClean="0">
                <a:latin typeface="+mj-lt"/>
              </a:rPr>
              <a:t>Codage  </a:t>
            </a:r>
            <a:endParaRPr lang="fr-FR" sz="2800" dirty="0">
              <a:latin typeface="+mj-lt"/>
              <a:cs typeface="Times New Roman" pitchFamily="18" charset="0"/>
            </a:endParaRPr>
          </a:p>
        </p:txBody>
      </p:sp>
    </p:spTree>
    <p:extLst>
      <p:ext uri="{BB962C8B-B14F-4D97-AF65-F5344CB8AC3E}">
        <p14:creationId xmlns:p14="http://schemas.microsoft.com/office/powerpoint/2010/main" val="26281550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checkerboard(across)">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P spid="13" grpId="0"/>
      <p:bldP spid="14"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p:cNvSpPr>
            <a:spLocks noGrp="1"/>
          </p:cNvSpPr>
          <p:nvPr>
            <p:ph type="sldNum" sz="quarter" idx="12"/>
          </p:nvPr>
        </p:nvSpPr>
        <p:spPr/>
        <p:txBody>
          <a:bodyPr/>
          <a:lstStyle/>
          <a:p>
            <a:fld id="{CF4668DC-857F-487D-BFFA-8C0CA5037977}" type="slidenum">
              <a:rPr lang="fr-BE" sz="1800" b="1" smtClean="0">
                <a:solidFill>
                  <a:schemeClr val="tx1"/>
                </a:solidFill>
              </a:rPr>
              <a:pPr/>
              <a:t>10</a:t>
            </a:fld>
            <a:endParaRPr lang="fr-BE" sz="1800" b="1" dirty="0">
              <a:solidFill>
                <a:schemeClr val="tx1"/>
              </a:solidFill>
            </a:endParaRPr>
          </a:p>
        </p:txBody>
      </p:sp>
      <p:sp>
        <p:nvSpPr>
          <p:cNvPr id="2" name="Rectangle 1"/>
          <p:cNvSpPr/>
          <p:nvPr/>
        </p:nvSpPr>
        <p:spPr>
          <a:xfrm>
            <a:off x="983432" y="2826491"/>
            <a:ext cx="8964051" cy="430887"/>
          </a:xfrm>
          <a:prstGeom prst="rect">
            <a:avLst/>
          </a:prstGeom>
        </p:spPr>
        <p:txBody>
          <a:bodyPr wrap="square">
            <a:spAutoFit/>
          </a:bodyPr>
          <a:lstStyle/>
          <a:p>
            <a:r>
              <a:rPr lang="fr-FR" sz="2200" b="1" dirty="0" smtClean="0">
                <a:solidFill>
                  <a:srgbClr val="000000"/>
                </a:solidFill>
              </a:rPr>
              <a:t>Créé </a:t>
            </a:r>
            <a:r>
              <a:rPr lang="fr-FR" sz="2200" b="1" dirty="0">
                <a:solidFill>
                  <a:srgbClr val="000000"/>
                </a:solidFill>
              </a:rPr>
              <a:t>par extrapolation spatiale à partir d’échantillons d’images voisines</a:t>
            </a:r>
            <a:endParaRPr lang="en-GB" sz="2200" b="1" i="1" dirty="0"/>
          </a:p>
        </p:txBody>
      </p:sp>
      <p:sp>
        <p:nvSpPr>
          <p:cNvPr id="4" name="Rectangle 3"/>
          <p:cNvSpPr/>
          <p:nvPr/>
        </p:nvSpPr>
        <p:spPr>
          <a:xfrm>
            <a:off x="3869418" y="1556583"/>
            <a:ext cx="2399928" cy="430887"/>
          </a:xfrm>
          <a:prstGeom prst="rect">
            <a:avLst/>
          </a:prstGeom>
        </p:spPr>
        <p:txBody>
          <a:bodyPr wrap="square">
            <a:spAutoFit/>
          </a:bodyPr>
          <a:lstStyle/>
          <a:p>
            <a:r>
              <a:rPr lang="fr-FR" sz="2200" b="1" dirty="0">
                <a:solidFill>
                  <a:srgbClr val="0070C0"/>
                </a:solidFill>
              </a:rPr>
              <a:t>intra-prédiction</a:t>
            </a:r>
            <a:endParaRPr lang="en-GB" sz="2200" b="1" dirty="0">
              <a:solidFill>
                <a:srgbClr val="0070C0"/>
              </a:solidFill>
            </a:endParaRPr>
          </a:p>
        </p:txBody>
      </p:sp>
      <p:sp>
        <p:nvSpPr>
          <p:cNvPr id="5" name="Rectangle 4"/>
          <p:cNvSpPr/>
          <p:nvPr/>
        </p:nvSpPr>
        <p:spPr>
          <a:xfrm>
            <a:off x="2303262" y="3854133"/>
            <a:ext cx="5880970" cy="430887"/>
          </a:xfrm>
          <a:prstGeom prst="rect">
            <a:avLst/>
          </a:prstGeom>
        </p:spPr>
        <p:txBody>
          <a:bodyPr wrap="square">
            <a:spAutoFit/>
          </a:bodyPr>
          <a:lstStyle/>
          <a:p>
            <a:r>
              <a:rPr lang="fr-FR" sz="2200" b="1" dirty="0">
                <a:solidFill>
                  <a:srgbClr val="0070C0"/>
                </a:solidFill>
              </a:rPr>
              <a:t>Prédiction compensée en inter ou mouvement </a:t>
            </a:r>
            <a:endParaRPr lang="en-GB" sz="2200" dirty="0">
              <a:solidFill>
                <a:srgbClr val="0070C0"/>
              </a:solidFill>
            </a:endParaRPr>
          </a:p>
        </p:txBody>
      </p:sp>
      <p:sp>
        <p:nvSpPr>
          <p:cNvPr id="11" name="Rectangle 10"/>
          <p:cNvSpPr/>
          <p:nvPr/>
        </p:nvSpPr>
        <p:spPr>
          <a:xfrm>
            <a:off x="2039591" y="5222461"/>
            <a:ext cx="6575933" cy="430887"/>
          </a:xfrm>
          <a:prstGeom prst="rect">
            <a:avLst/>
          </a:prstGeom>
        </p:spPr>
        <p:txBody>
          <a:bodyPr wrap="square">
            <a:spAutoFit/>
          </a:bodyPr>
          <a:lstStyle/>
          <a:p>
            <a:r>
              <a:rPr lang="fr-FR" sz="2200" b="1" dirty="0" smtClean="0">
                <a:solidFill>
                  <a:srgbClr val="000000"/>
                </a:solidFill>
              </a:rPr>
              <a:t>Créé </a:t>
            </a:r>
            <a:r>
              <a:rPr lang="fr-FR" sz="2200" b="1" dirty="0">
                <a:solidFill>
                  <a:srgbClr val="000000"/>
                </a:solidFill>
              </a:rPr>
              <a:t>en compensant les différences entre les </a:t>
            </a:r>
            <a:r>
              <a:rPr lang="fr-FR" sz="2200" b="1" dirty="0" smtClean="0">
                <a:solidFill>
                  <a:srgbClr val="000000"/>
                </a:solidFill>
              </a:rPr>
              <a:t>images</a:t>
            </a:r>
            <a:endParaRPr lang="en-GB" sz="2200" b="1" i="1" dirty="0"/>
          </a:p>
        </p:txBody>
      </p:sp>
      <p:sp>
        <p:nvSpPr>
          <p:cNvPr id="13" name="Down Arrow 12"/>
          <p:cNvSpPr/>
          <p:nvPr/>
        </p:nvSpPr>
        <p:spPr>
          <a:xfrm>
            <a:off x="4511824" y="2127211"/>
            <a:ext cx="263628" cy="550538"/>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Down Arrow 16"/>
          <p:cNvSpPr/>
          <p:nvPr/>
        </p:nvSpPr>
        <p:spPr>
          <a:xfrm>
            <a:off x="4511824" y="4534646"/>
            <a:ext cx="263628" cy="550538"/>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p:cNvSpPr/>
          <p:nvPr/>
        </p:nvSpPr>
        <p:spPr>
          <a:xfrm>
            <a:off x="2423592" y="104898"/>
            <a:ext cx="3151312" cy="584775"/>
          </a:xfrm>
          <a:prstGeom prst="rect">
            <a:avLst/>
          </a:prstGeom>
        </p:spPr>
        <p:txBody>
          <a:bodyPr wrap="square">
            <a:spAutoFit/>
          </a:bodyPr>
          <a:lstStyle/>
          <a:p>
            <a:r>
              <a:rPr lang="fr-FR" sz="3200" dirty="0" smtClean="0">
                <a:latin typeface="+mj-lt"/>
              </a:rPr>
              <a:t>Codage</a:t>
            </a:r>
            <a:r>
              <a:rPr lang="en-NZ" sz="3200" dirty="0" smtClean="0">
                <a:latin typeface="+mj-lt"/>
              </a:rPr>
              <a:t> </a:t>
            </a:r>
            <a:r>
              <a:rPr lang="fr-FR" sz="3200" dirty="0" smtClean="0">
                <a:latin typeface="+mj-lt"/>
              </a:rPr>
              <a:t>vidéo </a:t>
            </a:r>
            <a:endParaRPr lang="fr-FR" sz="3200" dirty="0">
              <a:latin typeface="+mj-lt"/>
              <a:cs typeface="Times New Roman" pitchFamily="18" charset="0"/>
            </a:endParaRPr>
          </a:p>
        </p:txBody>
      </p:sp>
      <p:sp>
        <p:nvSpPr>
          <p:cNvPr id="14" name="Rectangle 13"/>
          <p:cNvSpPr/>
          <p:nvPr/>
        </p:nvSpPr>
        <p:spPr>
          <a:xfrm>
            <a:off x="3191969" y="885761"/>
            <a:ext cx="2135589" cy="523220"/>
          </a:xfrm>
          <a:prstGeom prst="rect">
            <a:avLst/>
          </a:prstGeom>
        </p:spPr>
        <p:txBody>
          <a:bodyPr wrap="square">
            <a:spAutoFit/>
          </a:bodyPr>
          <a:lstStyle/>
          <a:p>
            <a:r>
              <a:rPr lang="fr-FR" sz="2800" dirty="0" smtClean="0">
                <a:latin typeface="+mj-lt"/>
              </a:rPr>
              <a:t>Codec  </a:t>
            </a:r>
            <a:endParaRPr lang="fr-FR" sz="2800" dirty="0">
              <a:latin typeface="+mj-lt"/>
              <a:cs typeface="Times New Roman" pitchFamily="18" charset="0"/>
            </a:endParaRPr>
          </a:p>
        </p:txBody>
      </p:sp>
    </p:spTree>
    <p:extLst>
      <p:ext uri="{BB962C8B-B14F-4D97-AF65-F5344CB8AC3E}">
        <p14:creationId xmlns:p14="http://schemas.microsoft.com/office/powerpoint/2010/main" val="40474915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checkerboard(across)">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11" grpId="0"/>
      <p:bldP spid="13" grpId="0" animBg="1"/>
      <p:bldP spid="17" grpId="0" animBg="1"/>
      <p:bldP spid="12"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p:cNvSpPr>
            <a:spLocks noGrp="1"/>
          </p:cNvSpPr>
          <p:nvPr>
            <p:ph type="sldNum" sz="quarter" idx="12"/>
          </p:nvPr>
        </p:nvSpPr>
        <p:spPr/>
        <p:txBody>
          <a:bodyPr/>
          <a:lstStyle/>
          <a:p>
            <a:fld id="{CF4668DC-857F-487D-BFFA-8C0CA5037977}" type="slidenum">
              <a:rPr lang="fr-BE" sz="1800" b="1" smtClean="0">
                <a:solidFill>
                  <a:schemeClr val="tx1"/>
                </a:solidFill>
              </a:rPr>
              <a:pPr/>
              <a:t>11</a:t>
            </a:fld>
            <a:endParaRPr lang="fr-BE" sz="1800" b="1" dirty="0">
              <a:solidFill>
                <a:schemeClr val="tx1"/>
              </a:solidFill>
            </a:endParaRPr>
          </a:p>
        </p:txBody>
      </p:sp>
      <p:sp>
        <p:nvSpPr>
          <p:cNvPr id="21" name="Rectangle 20"/>
          <p:cNvSpPr/>
          <p:nvPr/>
        </p:nvSpPr>
        <p:spPr>
          <a:xfrm>
            <a:off x="3191969" y="885761"/>
            <a:ext cx="5136279" cy="523220"/>
          </a:xfrm>
          <a:prstGeom prst="rect">
            <a:avLst/>
          </a:prstGeom>
        </p:spPr>
        <p:txBody>
          <a:bodyPr wrap="square">
            <a:spAutoFit/>
          </a:bodyPr>
          <a:lstStyle/>
          <a:p>
            <a:r>
              <a:rPr lang="fr-FR" sz="2800" dirty="0" smtClean="0">
                <a:latin typeface="+mj-lt"/>
              </a:rPr>
              <a:t>Compensation de mouvement </a:t>
            </a:r>
            <a:endParaRPr lang="fr-FR" sz="2800" dirty="0">
              <a:latin typeface="+mj-lt"/>
              <a:cs typeface="Times New Roman" pitchFamily="18" charset="0"/>
            </a:endParaRPr>
          </a:p>
        </p:txBody>
      </p:sp>
      <p:sp>
        <p:nvSpPr>
          <p:cNvPr id="6" name="Rectangle 5"/>
          <p:cNvSpPr/>
          <p:nvPr/>
        </p:nvSpPr>
        <p:spPr>
          <a:xfrm>
            <a:off x="167680" y="1700808"/>
            <a:ext cx="11856640" cy="1446550"/>
          </a:xfrm>
          <a:prstGeom prst="rect">
            <a:avLst/>
          </a:prstGeom>
        </p:spPr>
        <p:txBody>
          <a:bodyPr wrap="square">
            <a:spAutoFit/>
          </a:bodyPr>
          <a:lstStyle/>
          <a:p>
            <a:r>
              <a:rPr lang="fr-FR" sz="2200" b="1" dirty="0">
                <a:solidFill>
                  <a:srgbClr val="000000"/>
                </a:solidFill>
              </a:rPr>
              <a:t>Les échantillons de luminance et de chrominance de la « meilleure » région de correspondance sélectionnée dans </a:t>
            </a:r>
            <a:r>
              <a:rPr lang="fr-FR" sz="2200" b="1" dirty="0" smtClean="0">
                <a:solidFill>
                  <a:srgbClr val="000000"/>
                </a:solidFill>
              </a:rPr>
              <a:t>l’image </a:t>
            </a:r>
            <a:r>
              <a:rPr lang="fr-FR" sz="2200" b="1" dirty="0">
                <a:solidFill>
                  <a:srgbClr val="000000"/>
                </a:solidFill>
              </a:rPr>
              <a:t>de référence sont soustraits du </a:t>
            </a:r>
            <a:r>
              <a:rPr lang="fr-FR" sz="2200" b="1" dirty="0" smtClean="0">
                <a:solidFill>
                  <a:srgbClr val="000000"/>
                </a:solidFill>
              </a:rPr>
              <a:t>macro bloc </a:t>
            </a:r>
            <a:r>
              <a:rPr lang="fr-FR" sz="2200" b="1" dirty="0">
                <a:solidFill>
                  <a:srgbClr val="000000"/>
                </a:solidFill>
              </a:rPr>
              <a:t>actuel pour produire un </a:t>
            </a:r>
            <a:r>
              <a:rPr lang="fr-FR" sz="2200" b="1" dirty="0" smtClean="0">
                <a:solidFill>
                  <a:srgbClr val="000000"/>
                </a:solidFill>
              </a:rPr>
              <a:t>macro bloc </a:t>
            </a:r>
            <a:r>
              <a:rPr lang="fr-FR" sz="2200" b="1" dirty="0">
                <a:solidFill>
                  <a:srgbClr val="000000"/>
                </a:solidFill>
              </a:rPr>
              <a:t>résiduel qui est codé et transmis avec un vecteur de mouvement décrivant la position de la meilleure région de correspondance par rapport au position actuelle du </a:t>
            </a:r>
            <a:r>
              <a:rPr lang="fr-FR" sz="2200" b="1" dirty="0" smtClean="0">
                <a:solidFill>
                  <a:srgbClr val="000000"/>
                </a:solidFill>
              </a:rPr>
              <a:t>macro bloc. </a:t>
            </a:r>
            <a:endParaRPr lang="en-GB" sz="2200" b="1" dirty="0"/>
          </a:p>
        </p:txBody>
      </p:sp>
      <p:pic>
        <p:nvPicPr>
          <p:cNvPr id="7" name="Picture 6"/>
          <p:cNvPicPr>
            <a:picLocks noChangeAspect="1"/>
          </p:cNvPicPr>
          <p:nvPr/>
        </p:nvPicPr>
        <p:blipFill>
          <a:blip r:embed="rId3"/>
          <a:stretch>
            <a:fillRect/>
          </a:stretch>
        </p:blipFill>
        <p:spPr>
          <a:xfrm>
            <a:off x="2166598" y="3221363"/>
            <a:ext cx="7313778" cy="2462274"/>
          </a:xfrm>
          <a:prstGeom prst="rect">
            <a:avLst/>
          </a:prstGeom>
        </p:spPr>
      </p:pic>
      <p:sp>
        <p:nvSpPr>
          <p:cNvPr id="8" name="Rectangle 7"/>
          <p:cNvSpPr/>
          <p:nvPr/>
        </p:nvSpPr>
        <p:spPr>
          <a:xfrm>
            <a:off x="4012791" y="5683637"/>
            <a:ext cx="2399928" cy="430887"/>
          </a:xfrm>
          <a:prstGeom prst="rect">
            <a:avLst/>
          </a:prstGeom>
        </p:spPr>
        <p:txBody>
          <a:bodyPr wrap="square">
            <a:spAutoFit/>
          </a:bodyPr>
          <a:lstStyle/>
          <a:p>
            <a:r>
              <a:rPr lang="fr-FR" sz="2200" dirty="0" smtClean="0">
                <a:solidFill>
                  <a:srgbClr val="000000"/>
                </a:solidFill>
              </a:rPr>
              <a:t>Macro bloc </a:t>
            </a:r>
            <a:r>
              <a:rPr lang="fr-FR" sz="2200" dirty="0">
                <a:solidFill>
                  <a:srgbClr val="000000"/>
                </a:solidFill>
              </a:rPr>
              <a:t>(4:2:0</a:t>
            </a:r>
            <a:r>
              <a:rPr lang="fr-FR" sz="2200" dirty="0" smtClean="0">
                <a:solidFill>
                  <a:srgbClr val="000000"/>
                </a:solidFill>
              </a:rPr>
              <a:t>)</a:t>
            </a:r>
            <a:endParaRPr lang="en-GB" sz="2200" dirty="0"/>
          </a:p>
        </p:txBody>
      </p:sp>
      <p:sp>
        <p:nvSpPr>
          <p:cNvPr id="9" name="Rectangle 8"/>
          <p:cNvSpPr/>
          <p:nvPr/>
        </p:nvSpPr>
        <p:spPr>
          <a:xfrm>
            <a:off x="2423592" y="104898"/>
            <a:ext cx="3151312" cy="584775"/>
          </a:xfrm>
          <a:prstGeom prst="rect">
            <a:avLst/>
          </a:prstGeom>
        </p:spPr>
        <p:txBody>
          <a:bodyPr wrap="square">
            <a:spAutoFit/>
          </a:bodyPr>
          <a:lstStyle/>
          <a:p>
            <a:r>
              <a:rPr lang="fr-FR" sz="3200" dirty="0" smtClean="0">
                <a:latin typeface="+mj-lt"/>
              </a:rPr>
              <a:t>Codage</a:t>
            </a:r>
            <a:r>
              <a:rPr lang="en-NZ" sz="3200" dirty="0" smtClean="0">
                <a:latin typeface="+mj-lt"/>
              </a:rPr>
              <a:t> </a:t>
            </a:r>
            <a:r>
              <a:rPr lang="fr-FR" sz="3200" dirty="0" smtClean="0">
                <a:latin typeface="+mj-lt"/>
              </a:rPr>
              <a:t>vidéo </a:t>
            </a:r>
            <a:endParaRPr lang="fr-FR" sz="3200" dirty="0">
              <a:latin typeface="+mj-lt"/>
              <a:cs typeface="Times New Roman" pitchFamily="18" charset="0"/>
            </a:endParaRPr>
          </a:p>
        </p:txBody>
      </p:sp>
    </p:spTree>
    <p:extLst>
      <p:ext uri="{BB962C8B-B14F-4D97-AF65-F5344CB8AC3E}">
        <p14:creationId xmlns:p14="http://schemas.microsoft.com/office/powerpoint/2010/main" val="6265654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checkerboard(across)">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6" grpId="0"/>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23592" y="104898"/>
            <a:ext cx="3151312" cy="584775"/>
          </a:xfrm>
          <a:prstGeom prst="rect">
            <a:avLst/>
          </a:prstGeom>
        </p:spPr>
        <p:txBody>
          <a:bodyPr wrap="square">
            <a:spAutoFit/>
          </a:bodyPr>
          <a:lstStyle/>
          <a:p>
            <a:r>
              <a:rPr lang="fr-FR" sz="3200" dirty="0" smtClean="0">
                <a:latin typeface="+mj-lt"/>
              </a:rPr>
              <a:t>Codage vidéo </a:t>
            </a:r>
            <a:endParaRPr lang="fr-FR" sz="3200" dirty="0">
              <a:latin typeface="+mj-lt"/>
              <a:cs typeface="Times New Roman" pitchFamily="18" charset="0"/>
            </a:endParaRPr>
          </a:p>
        </p:txBody>
      </p:sp>
      <p:sp>
        <p:nvSpPr>
          <p:cNvPr id="18" name="Slide Number Placeholder 17"/>
          <p:cNvSpPr>
            <a:spLocks noGrp="1"/>
          </p:cNvSpPr>
          <p:nvPr>
            <p:ph type="sldNum" sz="quarter" idx="12"/>
          </p:nvPr>
        </p:nvSpPr>
        <p:spPr/>
        <p:txBody>
          <a:bodyPr/>
          <a:lstStyle/>
          <a:p>
            <a:fld id="{CF4668DC-857F-487D-BFFA-8C0CA5037977}" type="slidenum">
              <a:rPr lang="fr-BE" sz="1800" b="1" smtClean="0">
                <a:solidFill>
                  <a:schemeClr val="tx1"/>
                </a:solidFill>
              </a:rPr>
              <a:pPr/>
              <a:t>12</a:t>
            </a:fld>
            <a:endParaRPr lang="fr-BE" sz="1800" b="1" dirty="0">
              <a:solidFill>
                <a:schemeClr val="tx1"/>
              </a:solidFill>
            </a:endParaRPr>
          </a:p>
        </p:txBody>
      </p:sp>
      <p:sp>
        <p:nvSpPr>
          <p:cNvPr id="21" name="Rectangle 20"/>
          <p:cNvSpPr/>
          <p:nvPr/>
        </p:nvSpPr>
        <p:spPr>
          <a:xfrm>
            <a:off x="3191969" y="885761"/>
            <a:ext cx="5136279" cy="523220"/>
          </a:xfrm>
          <a:prstGeom prst="rect">
            <a:avLst/>
          </a:prstGeom>
        </p:spPr>
        <p:txBody>
          <a:bodyPr wrap="square">
            <a:spAutoFit/>
          </a:bodyPr>
          <a:lstStyle/>
          <a:p>
            <a:r>
              <a:rPr lang="fr-FR" sz="2800" dirty="0" smtClean="0">
                <a:latin typeface="+mj-lt"/>
              </a:rPr>
              <a:t>Compensation de mouvement </a:t>
            </a:r>
            <a:endParaRPr lang="fr-FR" sz="2800" dirty="0">
              <a:latin typeface="+mj-lt"/>
              <a:cs typeface="Times New Roman" pitchFamily="18" charset="0"/>
            </a:endParaRPr>
          </a:p>
        </p:txBody>
      </p:sp>
      <p:pic>
        <p:nvPicPr>
          <p:cNvPr id="2" name="Picture 1"/>
          <p:cNvPicPr>
            <a:picLocks noChangeAspect="1"/>
          </p:cNvPicPr>
          <p:nvPr/>
        </p:nvPicPr>
        <p:blipFill>
          <a:blip r:embed="rId3"/>
          <a:stretch>
            <a:fillRect/>
          </a:stretch>
        </p:blipFill>
        <p:spPr>
          <a:xfrm>
            <a:off x="839416" y="1656737"/>
            <a:ext cx="7743825" cy="4248150"/>
          </a:xfrm>
          <a:prstGeom prst="rect">
            <a:avLst/>
          </a:prstGeom>
        </p:spPr>
      </p:pic>
    </p:spTree>
    <p:extLst>
      <p:ext uri="{BB962C8B-B14F-4D97-AF65-F5344CB8AC3E}">
        <p14:creationId xmlns:p14="http://schemas.microsoft.com/office/powerpoint/2010/main" val="11956045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checkerboard(across)">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p:cNvSpPr>
            <a:spLocks noGrp="1"/>
          </p:cNvSpPr>
          <p:nvPr>
            <p:ph type="sldNum" sz="quarter" idx="12"/>
          </p:nvPr>
        </p:nvSpPr>
        <p:spPr/>
        <p:txBody>
          <a:bodyPr/>
          <a:lstStyle/>
          <a:p>
            <a:fld id="{CF4668DC-857F-487D-BFFA-8C0CA5037977}" type="slidenum">
              <a:rPr lang="fr-BE" sz="1800" b="1" smtClean="0">
                <a:solidFill>
                  <a:schemeClr val="tx1"/>
                </a:solidFill>
              </a:rPr>
              <a:pPr/>
              <a:t>13</a:t>
            </a:fld>
            <a:endParaRPr lang="fr-BE" sz="1800" b="1" dirty="0">
              <a:solidFill>
                <a:schemeClr val="tx1"/>
              </a:solidFill>
            </a:endParaRPr>
          </a:p>
        </p:txBody>
      </p:sp>
      <p:sp>
        <p:nvSpPr>
          <p:cNvPr id="6" name="Rectangle 5"/>
          <p:cNvSpPr/>
          <p:nvPr/>
        </p:nvSpPr>
        <p:spPr>
          <a:xfrm>
            <a:off x="243520" y="1671761"/>
            <a:ext cx="11736710" cy="769441"/>
          </a:xfrm>
          <a:prstGeom prst="rect">
            <a:avLst/>
          </a:prstGeom>
        </p:spPr>
        <p:txBody>
          <a:bodyPr wrap="square">
            <a:spAutoFit/>
          </a:bodyPr>
          <a:lstStyle/>
          <a:p>
            <a:r>
              <a:rPr lang="fr-FR" sz="2200" dirty="0">
                <a:solidFill>
                  <a:srgbClr val="000000"/>
                </a:solidFill>
              </a:rPr>
              <a:t>Il existe de nombreuses variations sur le processus d’estimation et de compensation du mouvement de base.</a:t>
            </a:r>
            <a:endParaRPr lang="en-GB" sz="2200" dirty="0"/>
          </a:p>
        </p:txBody>
      </p:sp>
      <p:sp>
        <p:nvSpPr>
          <p:cNvPr id="7" name="Rectangle 6"/>
          <p:cNvSpPr/>
          <p:nvPr/>
        </p:nvSpPr>
        <p:spPr>
          <a:xfrm>
            <a:off x="323478" y="3128437"/>
            <a:ext cx="11545044" cy="769441"/>
          </a:xfrm>
          <a:prstGeom prst="rect">
            <a:avLst/>
          </a:prstGeom>
        </p:spPr>
        <p:txBody>
          <a:bodyPr wrap="square">
            <a:spAutoFit/>
          </a:bodyPr>
          <a:lstStyle/>
          <a:p>
            <a:r>
              <a:rPr lang="fr-FR" sz="2200" b="1" dirty="0">
                <a:solidFill>
                  <a:srgbClr val="0070C0"/>
                </a:solidFill>
              </a:rPr>
              <a:t>La trame de référence </a:t>
            </a:r>
            <a:r>
              <a:rPr lang="fr-FR" sz="2200" dirty="0">
                <a:solidFill>
                  <a:srgbClr val="000000"/>
                </a:solidFill>
              </a:rPr>
              <a:t>peut être une trame précédente dans l’ordre temporel, une trame future ou une combinaison de prédictions provenant d’au moins deux trames précédemment codées. </a:t>
            </a:r>
            <a:endParaRPr lang="en-GB" sz="2200" dirty="0"/>
          </a:p>
        </p:txBody>
      </p:sp>
      <p:sp>
        <p:nvSpPr>
          <p:cNvPr id="8" name="Rectangle 7"/>
          <p:cNvSpPr/>
          <p:nvPr/>
        </p:nvSpPr>
        <p:spPr>
          <a:xfrm>
            <a:off x="227645" y="4550994"/>
            <a:ext cx="11905084" cy="430887"/>
          </a:xfrm>
          <a:prstGeom prst="rect">
            <a:avLst/>
          </a:prstGeom>
        </p:spPr>
        <p:txBody>
          <a:bodyPr wrap="square">
            <a:spAutoFit/>
          </a:bodyPr>
          <a:lstStyle/>
          <a:p>
            <a:r>
              <a:rPr lang="fr-FR" sz="2200" dirty="0">
                <a:solidFill>
                  <a:srgbClr val="000000"/>
                </a:solidFill>
              </a:rPr>
              <a:t>Si une trame future est choisie comme référence, </a:t>
            </a:r>
            <a:r>
              <a:rPr lang="fr-FR" sz="2200" b="1" dirty="0">
                <a:solidFill>
                  <a:srgbClr val="0070C0"/>
                </a:solidFill>
              </a:rPr>
              <a:t>il faut encoder cette trame avant la trame actuelle</a:t>
            </a:r>
            <a:r>
              <a:rPr lang="fr-FR" sz="2200" dirty="0">
                <a:solidFill>
                  <a:srgbClr val="000000"/>
                </a:solidFill>
              </a:rPr>
              <a:t>, </a:t>
            </a:r>
            <a:endParaRPr lang="en-GB" sz="2200" dirty="0"/>
          </a:p>
        </p:txBody>
      </p:sp>
      <p:sp>
        <p:nvSpPr>
          <p:cNvPr id="10" name="Rectangle 9"/>
          <p:cNvSpPr/>
          <p:nvPr/>
        </p:nvSpPr>
        <p:spPr>
          <a:xfrm>
            <a:off x="2423592" y="104898"/>
            <a:ext cx="3151312" cy="584775"/>
          </a:xfrm>
          <a:prstGeom prst="rect">
            <a:avLst/>
          </a:prstGeom>
        </p:spPr>
        <p:txBody>
          <a:bodyPr wrap="square">
            <a:spAutoFit/>
          </a:bodyPr>
          <a:lstStyle/>
          <a:p>
            <a:r>
              <a:rPr lang="fr-FR" sz="3200" dirty="0" smtClean="0">
                <a:latin typeface="+mj-lt"/>
              </a:rPr>
              <a:t>Codage vidéo </a:t>
            </a:r>
            <a:endParaRPr lang="fr-FR" sz="3200" dirty="0">
              <a:latin typeface="+mj-lt"/>
              <a:cs typeface="Times New Roman" pitchFamily="18" charset="0"/>
            </a:endParaRPr>
          </a:p>
        </p:txBody>
      </p:sp>
      <p:sp>
        <p:nvSpPr>
          <p:cNvPr id="11" name="Rectangle 10"/>
          <p:cNvSpPr/>
          <p:nvPr/>
        </p:nvSpPr>
        <p:spPr>
          <a:xfrm>
            <a:off x="3191969" y="885761"/>
            <a:ext cx="5136279" cy="523220"/>
          </a:xfrm>
          <a:prstGeom prst="rect">
            <a:avLst/>
          </a:prstGeom>
        </p:spPr>
        <p:txBody>
          <a:bodyPr wrap="square">
            <a:spAutoFit/>
          </a:bodyPr>
          <a:lstStyle/>
          <a:p>
            <a:r>
              <a:rPr lang="fr-FR" sz="2800" dirty="0" smtClean="0">
                <a:latin typeface="+mj-lt"/>
              </a:rPr>
              <a:t>Compensation de mouvement </a:t>
            </a:r>
            <a:endParaRPr lang="fr-FR" sz="2800" dirty="0">
              <a:latin typeface="+mj-lt"/>
              <a:cs typeface="Times New Roman" pitchFamily="18" charset="0"/>
            </a:endParaRPr>
          </a:p>
        </p:txBody>
      </p:sp>
    </p:spTree>
    <p:extLst>
      <p:ext uri="{BB962C8B-B14F-4D97-AF65-F5344CB8AC3E}">
        <p14:creationId xmlns:p14="http://schemas.microsoft.com/office/powerpoint/2010/main" val="32943635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checkerboard(across)">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p:cNvSpPr>
            <a:spLocks noGrp="1"/>
          </p:cNvSpPr>
          <p:nvPr>
            <p:ph type="sldNum" sz="quarter" idx="12"/>
          </p:nvPr>
        </p:nvSpPr>
        <p:spPr/>
        <p:txBody>
          <a:bodyPr/>
          <a:lstStyle/>
          <a:p>
            <a:fld id="{CF4668DC-857F-487D-BFFA-8C0CA5037977}" type="slidenum">
              <a:rPr lang="fr-BE" sz="1800" b="1" smtClean="0">
                <a:solidFill>
                  <a:schemeClr val="tx1"/>
                </a:solidFill>
              </a:rPr>
              <a:pPr/>
              <a:t>14</a:t>
            </a:fld>
            <a:endParaRPr lang="fr-BE" sz="1800" b="1" dirty="0">
              <a:solidFill>
                <a:schemeClr val="tx1"/>
              </a:solidFill>
            </a:endParaRPr>
          </a:p>
        </p:txBody>
      </p:sp>
      <p:sp>
        <p:nvSpPr>
          <p:cNvPr id="4" name="Rectangle 3"/>
          <p:cNvSpPr/>
          <p:nvPr/>
        </p:nvSpPr>
        <p:spPr>
          <a:xfrm>
            <a:off x="227956" y="1691812"/>
            <a:ext cx="11856640" cy="1107996"/>
          </a:xfrm>
          <a:prstGeom prst="rect">
            <a:avLst/>
          </a:prstGeom>
        </p:spPr>
        <p:txBody>
          <a:bodyPr wrap="square">
            <a:spAutoFit/>
          </a:bodyPr>
          <a:lstStyle/>
          <a:p>
            <a:r>
              <a:rPr lang="fr-FR" sz="2200" dirty="0">
                <a:solidFill>
                  <a:srgbClr val="000000"/>
                </a:solidFill>
              </a:rPr>
              <a:t>Les objets en mouvement dans une scène vidéo suivent rarement des limites « nettes » de 16 </a:t>
            </a:r>
            <a:r>
              <a:rPr lang="fr-FR" sz="2200" dirty="0" smtClean="0">
                <a:solidFill>
                  <a:srgbClr val="000000"/>
                </a:solidFill>
              </a:rPr>
              <a:t>x16 </a:t>
            </a:r>
            <a:r>
              <a:rPr lang="fr-FR" sz="2200" dirty="0">
                <a:solidFill>
                  <a:srgbClr val="000000"/>
                </a:solidFill>
              </a:rPr>
              <a:t>pixels et il peut donc être plus efficace d’utiliser une taille de bloc variable pour l’estimation et la compensation du mouvement. </a:t>
            </a:r>
            <a:endParaRPr lang="en-GB" sz="2200" dirty="0"/>
          </a:p>
        </p:txBody>
      </p:sp>
      <p:sp>
        <p:nvSpPr>
          <p:cNvPr id="5" name="Rectangle 4"/>
          <p:cNvSpPr/>
          <p:nvPr/>
        </p:nvSpPr>
        <p:spPr>
          <a:xfrm>
            <a:off x="227956" y="3131529"/>
            <a:ext cx="12024320" cy="1446550"/>
          </a:xfrm>
          <a:prstGeom prst="rect">
            <a:avLst/>
          </a:prstGeom>
        </p:spPr>
        <p:txBody>
          <a:bodyPr wrap="square">
            <a:spAutoFit/>
          </a:bodyPr>
          <a:lstStyle/>
          <a:p>
            <a:r>
              <a:rPr lang="fr-FR" sz="2200" dirty="0">
                <a:solidFill>
                  <a:srgbClr val="000000"/>
                </a:solidFill>
              </a:rPr>
              <a:t>Les objets peuvent se déplacer d’un nombre fractionnaire de pixels entre les images, par exemple 2,78 pixels plutôt que 2,0 pixels dans la direction horizontale, et une meilleure prédiction peut être formée en interpolant l’image de référence avec les positions des sous-pixels avant de rechercher ces positions pour la meilleure correspondance. </a:t>
            </a:r>
            <a:endParaRPr lang="en-GB" sz="2200" dirty="0"/>
          </a:p>
        </p:txBody>
      </p:sp>
      <p:sp>
        <p:nvSpPr>
          <p:cNvPr id="10" name="Rectangle 9"/>
          <p:cNvSpPr/>
          <p:nvPr/>
        </p:nvSpPr>
        <p:spPr>
          <a:xfrm>
            <a:off x="2423592" y="104898"/>
            <a:ext cx="3151312" cy="584775"/>
          </a:xfrm>
          <a:prstGeom prst="rect">
            <a:avLst/>
          </a:prstGeom>
        </p:spPr>
        <p:txBody>
          <a:bodyPr wrap="square">
            <a:spAutoFit/>
          </a:bodyPr>
          <a:lstStyle/>
          <a:p>
            <a:r>
              <a:rPr lang="fr-FR" sz="3200" dirty="0" smtClean="0">
                <a:latin typeface="+mj-lt"/>
              </a:rPr>
              <a:t>Codage vidéo </a:t>
            </a:r>
            <a:endParaRPr lang="fr-FR" sz="3200" dirty="0">
              <a:latin typeface="+mj-lt"/>
              <a:cs typeface="Times New Roman" pitchFamily="18" charset="0"/>
            </a:endParaRPr>
          </a:p>
        </p:txBody>
      </p:sp>
      <p:sp>
        <p:nvSpPr>
          <p:cNvPr id="11" name="Rectangle 10"/>
          <p:cNvSpPr/>
          <p:nvPr/>
        </p:nvSpPr>
        <p:spPr>
          <a:xfrm>
            <a:off x="3191969" y="885761"/>
            <a:ext cx="5136279" cy="523220"/>
          </a:xfrm>
          <a:prstGeom prst="rect">
            <a:avLst/>
          </a:prstGeom>
        </p:spPr>
        <p:txBody>
          <a:bodyPr wrap="square">
            <a:spAutoFit/>
          </a:bodyPr>
          <a:lstStyle/>
          <a:p>
            <a:r>
              <a:rPr lang="fr-FR" sz="2800" dirty="0" smtClean="0">
                <a:latin typeface="+mj-lt"/>
              </a:rPr>
              <a:t>Compensation de mouvement </a:t>
            </a:r>
            <a:endParaRPr lang="fr-FR" sz="2800" dirty="0">
              <a:latin typeface="+mj-lt"/>
              <a:cs typeface="Times New Roman" pitchFamily="18" charset="0"/>
            </a:endParaRPr>
          </a:p>
        </p:txBody>
      </p:sp>
    </p:spTree>
    <p:extLst>
      <p:ext uri="{BB962C8B-B14F-4D97-AF65-F5344CB8AC3E}">
        <p14:creationId xmlns:p14="http://schemas.microsoft.com/office/powerpoint/2010/main" val="40381855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checkerboard(across)">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p:cNvSpPr>
            <a:spLocks noGrp="1"/>
          </p:cNvSpPr>
          <p:nvPr>
            <p:ph type="sldNum" sz="quarter" idx="12"/>
          </p:nvPr>
        </p:nvSpPr>
        <p:spPr/>
        <p:txBody>
          <a:bodyPr/>
          <a:lstStyle/>
          <a:p>
            <a:fld id="{CF4668DC-857F-487D-BFFA-8C0CA5037977}" type="slidenum">
              <a:rPr lang="fr-BE" sz="1800" b="1" smtClean="0">
                <a:solidFill>
                  <a:schemeClr val="tx1"/>
                </a:solidFill>
              </a:rPr>
              <a:pPr/>
              <a:t>15</a:t>
            </a:fld>
            <a:endParaRPr lang="fr-BE" sz="1800" b="1" dirty="0">
              <a:solidFill>
                <a:schemeClr val="tx1"/>
              </a:solidFill>
            </a:endParaRPr>
          </a:p>
        </p:txBody>
      </p:sp>
      <p:sp>
        <p:nvSpPr>
          <p:cNvPr id="21" name="Rectangle 20"/>
          <p:cNvSpPr/>
          <p:nvPr/>
        </p:nvSpPr>
        <p:spPr>
          <a:xfrm>
            <a:off x="3191969" y="836712"/>
            <a:ext cx="2904031" cy="523220"/>
          </a:xfrm>
          <a:prstGeom prst="rect">
            <a:avLst/>
          </a:prstGeom>
        </p:spPr>
        <p:txBody>
          <a:bodyPr wrap="square">
            <a:spAutoFit/>
          </a:bodyPr>
          <a:lstStyle/>
          <a:p>
            <a:r>
              <a:rPr lang="fr-FR" sz="2800" dirty="0" smtClean="0">
                <a:latin typeface="+mj-lt"/>
              </a:rPr>
              <a:t>Groupe d’images </a:t>
            </a:r>
            <a:endParaRPr lang="fr-FR" sz="2800" dirty="0">
              <a:latin typeface="+mj-lt"/>
              <a:cs typeface="Times New Roman" pitchFamily="18" charset="0"/>
            </a:endParaRPr>
          </a:p>
        </p:txBody>
      </p:sp>
      <p:sp>
        <p:nvSpPr>
          <p:cNvPr id="4" name="Rectangle 3"/>
          <p:cNvSpPr/>
          <p:nvPr/>
        </p:nvSpPr>
        <p:spPr>
          <a:xfrm>
            <a:off x="191148" y="1700808"/>
            <a:ext cx="11593288" cy="769441"/>
          </a:xfrm>
          <a:prstGeom prst="rect">
            <a:avLst/>
          </a:prstGeom>
        </p:spPr>
        <p:txBody>
          <a:bodyPr wrap="square">
            <a:spAutoFit/>
          </a:bodyPr>
          <a:lstStyle/>
          <a:p>
            <a:r>
              <a:rPr lang="fr-FR" sz="2200" dirty="0">
                <a:solidFill>
                  <a:srgbClr val="000000"/>
                </a:solidFill>
              </a:rPr>
              <a:t>Les normes antérieures telles que </a:t>
            </a:r>
            <a:r>
              <a:rPr lang="fr-FR" sz="2200" b="1" dirty="0">
                <a:solidFill>
                  <a:srgbClr val="0070C0"/>
                </a:solidFill>
              </a:rPr>
              <a:t>MPEG-1 </a:t>
            </a:r>
            <a:r>
              <a:rPr lang="fr-FR" sz="2200" dirty="0">
                <a:solidFill>
                  <a:srgbClr val="000000"/>
                </a:solidFill>
              </a:rPr>
              <a:t>et </a:t>
            </a:r>
            <a:r>
              <a:rPr lang="fr-FR" sz="2200" b="1" dirty="0">
                <a:solidFill>
                  <a:srgbClr val="0070C0"/>
                </a:solidFill>
              </a:rPr>
              <a:t>MPEG-2</a:t>
            </a:r>
            <a:r>
              <a:rPr lang="fr-FR" sz="2200" dirty="0">
                <a:solidFill>
                  <a:srgbClr val="000000"/>
                </a:solidFill>
              </a:rPr>
              <a:t> prenaient en charge la structure du groupe d’images illustrée à la figure 1.</a:t>
            </a:r>
            <a:endParaRPr lang="en-GB" sz="2200" dirty="0"/>
          </a:p>
        </p:txBody>
      </p:sp>
      <p:pic>
        <p:nvPicPr>
          <p:cNvPr id="5" name="Picture 4"/>
          <p:cNvPicPr>
            <a:picLocks noChangeAspect="1"/>
          </p:cNvPicPr>
          <p:nvPr/>
        </p:nvPicPr>
        <p:blipFill>
          <a:blip r:embed="rId3"/>
          <a:stretch>
            <a:fillRect/>
          </a:stretch>
        </p:blipFill>
        <p:spPr>
          <a:xfrm>
            <a:off x="1559496" y="2847543"/>
            <a:ext cx="8856984" cy="2398491"/>
          </a:xfrm>
          <a:prstGeom prst="rect">
            <a:avLst/>
          </a:prstGeom>
        </p:spPr>
      </p:pic>
      <p:sp>
        <p:nvSpPr>
          <p:cNvPr id="6" name="Rectangle 5"/>
          <p:cNvSpPr/>
          <p:nvPr/>
        </p:nvSpPr>
        <p:spPr>
          <a:xfrm>
            <a:off x="143968" y="5143068"/>
            <a:ext cx="7032151" cy="430887"/>
          </a:xfrm>
          <a:prstGeom prst="rect">
            <a:avLst/>
          </a:prstGeom>
        </p:spPr>
        <p:txBody>
          <a:bodyPr wrap="square">
            <a:spAutoFit/>
          </a:bodyPr>
          <a:lstStyle/>
          <a:p>
            <a:r>
              <a:rPr lang="fr-FR" sz="2200" dirty="0">
                <a:solidFill>
                  <a:srgbClr val="000000"/>
                </a:solidFill>
              </a:rPr>
              <a:t>Le groupe d’images (GOP) commence par une </a:t>
            </a:r>
            <a:r>
              <a:rPr lang="fr-FR" sz="2200" dirty="0" smtClean="0">
                <a:solidFill>
                  <a:srgbClr val="000000"/>
                </a:solidFill>
              </a:rPr>
              <a:t>image </a:t>
            </a:r>
            <a:r>
              <a:rPr lang="fr-FR" sz="2200" dirty="0">
                <a:solidFill>
                  <a:srgbClr val="000000"/>
                </a:solidFill>
              </a:rPr>
              <a:t>I.</a:t>
            </a:r>
            <a:endParaRPr lang="en-GB" sz="2200" dirty="0"/>
          </a:p>
        </p:txBody>
      </p:sp>
      <p:sp>
        <p:nvSpPr>
          <p:cNvPr id="7" name="Rectangle 6"/>
          <p:cNvSpPr/>
          <p:nvPr/>
        </p:nvSpPr>
        <p:spPr>
          <a:xfrm>
            <a:off x="160415" y="5610765"/>
            <a:ext cx="5436604" cy="430887"/>
          </a:xfrm>
          <a:prstGeom prst="rect">
            <a:avLst/>
          </a:prstGeom>
        </p:spPr>
        <p:txBody>
          <a:bodyPr wrap="square">
            <a:spAutoFit/>
          </a:bodyPr>
          <a:lstStyle/>
          <a:p>
            <a:r>
              <a:rPr lang="fr-FR" sz="2200" dirty="0">
                <a:solidFill>
                  <a:srgbClr val="000000"/>
                </a:solidFill>
              </a:rPr>
              <a:t>P </a:t>
            </a:r>
            <a:r>
              <a:rPr lang="fr-FR" sz="2200" dirty="0" smtClean="0">
                <a:solidFill>
                  <a:srgbClr val="000000"/>
                </a:solidFill>
              </a:rPr>
              <a:t>images  </a:t>
            </a:r>
            <a:r>
              <a:rPr lang="fr-FR" sz="2200" dirty="0">
                <a:solidFill>
                  <a:srgbClr val="000000"/>
                </a:solidFill>
              </a:rPr>
              <a:t>sont insérées à intervalles,</a:t>
            </a:r>
            <a:endParaRPr lang="en-GB" sz="2200" dirty="0"/>
          </a:p>
        </p:txBody>
      </p:sp>
      <p:sp>
        <p:nvSpPr>
          <p:cNvPr id="8" name="Rectangle 7"/>
          <p:cNvSpPr/>
          <p:nvPr/>
        </p:nvSpPr>
        <p:spPr>
          <a:xfrm>
            <a:off x="191148" y="6041652"/>
            <a:ext cx="5760836" cy="430887"/>
          </a:xfrm>
          <a:prstGeom prst="rect">
            <a:avLst/>
          </a:prstGeom>
        </p:spPr>
        <p:txBody>
          <a:bodyPr wrap="square">
            <a:spAutoFit/>
          </a:bodyPr>
          <a:lstStyle/>
          <a:p>
            <a:r>
              <a:rPr lang="fr-FR" sz="2200" dirty="0">
                <a:solidFill>
                  <a:srgbClr val="000000"/>
                </a:solidFill>
              </a:rPr>
              <a:t>avec des </a:t>
            </a:r>
            <a:r>
              <a:rPr lang="fr-FR" sz="2200" dirty="0" smtClean="0">
                <a:solidFill>
                  <a:srgbClr val="000000"/>
                </a:solidFill>
              </a:rPr>
              <a:t>images  </a:t>
            </a:r>
            <a:r>
              <a:rPr lang="fr-FR" sz="2200" dirty="0">
                <a:solidFill>
                  <a:srgbClr val="000000"/>
                </a:solidFill>
              </a:rPr>
              <a:t>B entre les i</a:t>
            </a:r>
            <a:r>
              <a:rPr lang="fr-FR" sz="2200" dirty="0" smtClean="0">
                <a:solidFill>
                  <a:srgbClr val="000000"/>
                </a:solidFill>
              </a:rPr>
              <a:t>mages </a:t>
            </a:r>
            <a:r>
              <a:rPr lang="fr-FR" sz="2200" dirty="0">
                <a:solidFill>
                  <a:srgbClr val="000000"/>
                </a:solidFill>
              </a:rPr>
              <a:t>I et P. </a:t>
            </a:r>
          </a:p>
        </p:txBody>
      </p:sp>
      <p:sp>
        <p:nvSpPr>
          <p:cNvPr id="12" name="Rectangle 11"/>
          <p:cNvSpPr/>
          <p:nvPr/>
        </p:nvSpPr>
        <p:spPr>
          <a:xfrm>
            <a:off x="203200" y="2507059"/>
            <a:ext cx="8534400" cy="430887"/>
          </a:xfrm>
          <a:prstGeom prst="rect">
            <a:avLst/>
          </a:prstGeom>
        </p:spPr>
        <p:txBody>
          <a:bodyPr wrap="square">
            <a:spAutoFit/>
          </a:bodyPr>
          <a:lstStyle/>
          <a:p>
            <a:r>
              <a:rPr lang="fr-FR" sz="2200" dirty="0">
                <a:solidFill>
                  <a:srgbClr val="000000"/>
                </a:solidFill>
              </a:rPr>
              <a:t>Le </a:t>
            </a:r>
            <a:r>
              <a:rPr lang="fr-FR" sz="2200" b="1" dirty="0">
                <a:solidFill>
                  <a:srgbClr val="0070C0"/>
                </a:solidFill>
              </a:rPr>
              <a:t>GOP </a:t>
            </a:r>
            <a:r>
              <a:rPr lang="fr-FR" sz="2200" dirty="0">
                <a:solidFill>
                  <a:srgbClr val="000000"/>
                </a:solidFill>
              </a:rPr>
              <a:t>est un groupe d’images successives dans un </a:t>
            </a:r>
            <a:r>
              <a:rPr lang="fr-FR" sz="2200" b="1" dirty="0">
                <a:solidFill>
                  <a:srgbClr val="0070C0"/>
                </a:solidFill>
              </a:rPr>
              <a:t>flux vidéo codé</a:t>
            </a:r>
            <a:r>
              <a:rPr lang="fr-FR" sz="2200" dirty="0">
                <a:solidFill>
                  <a:srgbClr val="000000"/>
                </a:solidFill>
              </a:rPr>
              <a:t>.</a:t>
            </a:r>
            <a:endParaRPr lang="en-GB" sz="2200" dirty="0"/>
          </a:p>
        </p:txBody>
      </p:sp>
      <p:sp>
        <p:nvSpPr>
          <p:cNvPr id="11" name="Rectangle 10"/>
          <p:cNvSpPr/>
          <p:nvPr/>
        </p:nvSpPr>
        <p:spPr>
          <a:xfrm>
            <a:off x="2423592" y="107921"/>
            <a:ext cx="3151312" cy="584775"/>
          </a:xfrm>
          <a:prstGeom prst="rect">
            <a:avLst/>
          </a:prstGeom>
        </p:spPr>
        <p:txBody>
          <a:bodyPr wrap="square">
            <a:spAutoFit/>
          </a:bodyPr>
          <a:lstStyle/>
          <a:p>
            <a:r>
              <a:rPr lang="fr-FR" sz="3200" dirty="0" smtClean="0">
                <a:latin typeface="+mj-lt"/>
              </a:rPr>
              <a:t>Codage vidéo </a:t>
            </a:r>
            <a:endParaRPr lang="fr-FR" sz="3200" dirty="0">
              <a:latin typeface="+mj-lt"/>
              <a:cs typeface="Times New Roman" pitchFamily="18" charset="0"/>
            </a:endParaRPr>
          </a:p>
        </p:txBody>
      </p:sp>
    </p:spTree>
    <p:extLst>
      <p:ext uri="{BB962C8B-B14F-4D97-AF65-F5344CB8AC3E}">
        <p14:creationId xmlns:p14="http://schemas.microsoft.com/office/powerpoint/2010/main" val="5956627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checkerboard(across)">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4" grpId="0"/>
      <p:bldP spid="6" grpId="0"/>
      <p:bldP spid="7" grpId="0"/>
      <p:bldP spid="8" grpId="0"/>
      <p:bldP spid="12"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p:cNvSpPr>
            <a:spLocks noGrp="1"/>
          </p:cNvSpPr>
          <p:nvPr>
            <p:ph type="sldNum" sz="quarter" idx="12"/>
          </p:nvPr>
        </p:nvSpPr>
        <p:spPr/>
        <p:txBody>
          <a:bodyPr/>
          <a:lstStyle/>
          <a:p>
            <a:fld id="{CF4668DC-857F-487D-BFFA-8C0CA5037977}" type="slidenum">
              <a:rPr lang="fr-BE" sz="1800" b="1" smtClean="0">
                <a:solidFill>
                  <a:schemeClr val="tx1"/>
                </a:solidFill>
              </a:rPr>
              <a:pPr/>
              <a:t>16</a:t>
            </a:fld>
            <a:endParaRPr lang="fr-BE" sz="1800" b="1" dirty="0">
              <a:solidFill>
                <a:schemeClr val="tx1"/>
              </a:solidFill>
            </a:endParaRPr>
          </a:p>
        </p:txBody>
      </p:sp>
      <p:sp>
        <p:nvSpPr>
          <p:cNvPr id="10" name="Rectangle 9"/>
          <p:cNvSpPr/>
          <p:nvPr/>
        </p:nvSpPr>
        <p:spPr>
          <a:xfrm>
            <a:off x="219774" y="1437257"/>
            <a:ext cx="6096000" cy="430887"/>
          </a:xfrm>
          <a:prstGeom prst="rect">
            <a:avLst/>
          </a:prstGeom>
        </p:spPr>
        <p:txBody>
          <a:bodyPr>
            <a:spAutoFit/>
          </a:bodyPr>
          <a:lstStyle/>
          <a:p>
            <a:r>
              <a:rPr lang="fr-FR" sz="2200" dirty="0">
                <a:solidFill>
                  <a:srgbClr val="000000"/>
                </a:solidFill>
              </a:rPr>
              <a:t>Un GOP peut contenir les types d’images suivants</a:t>
            </a:r>
            <a:endParaRPr lang="en-GB" sz="2200" dirty="0"/>
          </a:p>
        </p:txBody>
      </p:sp>
      <p:sp>
        <p:nvSpPr>
          <p:cNvPr id="11" name="Rectangle 10"/>
          <p:cNvSpPr/>
          <p:nvPr/>
        </p:nvSpPr>
        <p:spPr>
          <a:xfrm>
            <a:off x="219774" y="1915364"/>
            <a:ext cx="11593288" cy="769441"/>
          </a:xfrm>
          <a:prstGeom prst="rect">
            <a:avLst/>
          </a:prstGeom>
        </p:spPr>
        <p:txBody>
          <a:bodyPr wrap="square">
            <a:spAutoFit/>
          </a:bodyPr>
          <a:lstStyle/>
          <a:p>
            <a:r>
              <a:rPr lang="fr-FR" sz="2200" i="1" dirty="0">
                <a:solidFill>
                  <a:srgbClr val="000000"/>
                </a:solidFill>
              </a:rPr>
              <a:t>• </a:t>
            </a:r>
            <a:r>
              <a:rPr lang="fr-FR" sz="2200" b="1" i="1" dirty="0" smtClean="0">
                <a:solidFill>
                  <a:srgbClr val="FF0000"/>
                </a:solidFill>
              </a:rPr>
              <a:t>Image </a:t>
            </a:r>
            <a:r>
              <a:rPr lang="fr-FR" sz="2200" b="1" i="1" dirty="0">
                <a:solidFill>
                  <a:srgbClr val="FF0000"/>
                </a:solidFill>
              </a:rPr>
              <a:t>I </a:t>
            </a:r>
            <a:r>
              <a:rPr lang="fr-FR" sz="2200" i="1" dirty="0">
                <a:solidFill>
                  <a:srgbClr val="000000"/>
                </a:solidFill>
              </a:rPr>
              <a:t>ou trame (image intra-codée) – </a:t>
            </a:r>
            <a:r>
              <a:rPr lang="fr-FR" sz="2200" b="1" i="1" dirty="0">
                <a:solidFill>
                  <a:srgbClr val="0070C0"/>
                </a:solidFill>
              </a:rPr>
              <a:t>une image qui est codée indépendamment de toutes les autres images.</a:t>
            </a:r>
            <a:r>
              <a:rPr lang="fr-FR" sz="2200" i="1" dirty="0">
                <a:solidFill>
                  <a:srgbClr val="000000"/>
                </a:solidFill>
              </a:rPr>
              <a:t> Chaque GOP commence (dans l’ordre de décodage) avec ce type d’image. </a:t>
            </a:r>
            <a:endParaRPr lang="en-GB" sz="2200" dirty="0"/>
          </a:p>
        </p:txBody>
      </p:sp>
      <p:sp>
        <p:nvSpPr>
          <p:cNvPr id="12" name="Rectangle 11"/>
          <p:cNvSpPr/>
          <p:nvPr/>
        </p:nvSpPr>
        <p:spPr>
          <a:xfrm>
            <a:off x="215632" y="2825961"/>
            <a:ext cx="11785024" cy="1785104"/>
          </a:xfrm>
          <a:prstGeom prst="rect">
            <a:avLst/>
          </a:prstGeom>
        </p:spPr>
        <p:txBody>
          <a:bodyPr wrap="square">
            <a:spAutoFit/>
          </a:bodyPr>
          <a:lstStyle/>
          <a:p>
            <a:r>
              <a:rPr lang="fr-FR" sz="2200" i="1" dirty="0">
                <a:solidFill>
                  <a:srgbClr val="000000"/>
                </a:solidFill>
              </a:rPr>
              <a:t>• </a:t>
            </a:r>
            <a:r>
              <a:rPr lang="fr-FR" sz="2200" b="1" i="1" dirty="0">
                <a:solidFill>
                  <a:srgbClr val="FF0000"/>
                </a:solidFill>
              </a:rPr>
              <a:t>Image P </a:t>
            </a:r>
            <a:r>
              <a:rPr lang="fr-FR" sz="2200" i="1" dirty="0">
                <a:solidFill>
                  <a:srgbClr val="000000"/>
                </a:solidFill>
              </a:rPr>
              <a:t>ou trame P (image codée prédictive) – contient </a:t>
            </a:r>
            <a:r>
              <a:rPr lang="fr-FR" sz="2200" b="1" i="1" dirty="0">
                <a:solidFill>
                  <a:srgbClr val="0070C0"/>
                </a:solidFill>
              </a:rPr>
              <a:t>des informations de différence compensées en mouvement</a:t>
            </a:r>
            <a:r>
              <a:rPr lang="fr-FR" sz="2200" i="1" dirty="0">
                <a:solidFill>
                  <a:srgbClr val="000000"/>
                </a:solidFill>
              </a:rPr>
              <a:t> par rapport aux images précédemment décodées. Dans les anciens modèles tels que MPEG-1, H.262/MPEG-2 et H.263, </a:t>
            </a:r>
            <a:r>
              <a:rPr lang="fr-FR" sz="2200" b="1" i="1" dirty="0">
                <a:solidFill>
                  <a:srgbClr val="00B050"/>
                </a:solidFill>
              </a:rPr>
              <a:t>chaque image P ne peut faire référence qu’à une seule image</a:t>
            </a:r>
            <a:r>
              <a:rPr lang="fr-FR" sz="2200" i="1" dirty="0">
                <a:solidFill>
                  <a:srgbClr val="000000"/>
                </a:solidFill>
              </a:rPr>
              <a:t>, et cette image doit précéder l’image P dans l’ordre d’affichage ainsi que dans l’ordre de décodage et doit être une image I ou P. </a:t>
            </a:r>
            <a:endParaRPr lang="en-US" sz="2200" dirty="0" smtClean="0">
              <a:solidFill>
                <a:srgbClr val="000000"/>
              </a:solidFill>
            </a:endParaRPr>
          </a:p>
        </p:txBody>
      </p:sp>
      <p:sp>
        <p:nvSpPr>
          <p:cNvPr id="13" name="Rectangle 12"/>
          <p:cNvSpPr/>
          <p:nvPr/>
        </p:nvSpPr>
        <p:spPr>
          <a:xfrm>
            <a:off x="215632" y="4571247"/>
            <a:ext cx="12049000" cy="1785104"/>
          </a:xfrm>
          <a:prstGeom prst="rect">
            <a:avLst/>
          </a:prstGeom>
        </p:spPr>
        <p:txBody>
          <a:bodyPr wrap="square">
            <a:spAutoFit/>
          </a:bodyPr>
          <a:lstStyle/>
          <a:p>
            <a:r>
              <a:rPr lang="fr-FR" sz="2200" i="1" dirty="0">
                <a:solidFill>
                  <a:srgbClr val="000000"/>
                </a:solidFill>
              </a:rPr>
              <a:t>• </a:t>
            </a:r>
            <a:r>
              <a:rPr lang="fr-FR" sz="2200" b="1" i="1" dirty="0">
                <a:solidFill>
                  <a:srgbClr val="FF0000"/>
                </a:solidFill>
              </a:rPr>
              <a:t>Image B </a:t>
            </a:r>
            <a:r>
              <a:rPr lang="fr-FR" sz="2200" i="1" dirty="0">
                <a:solidFill>
                  <a:srgbClr val="000000"/>
                </a:solidFill>
              </a:rPr>
              <a:t>ou trame B (image codée </a:t>
            </a:r>
            <a:r>
              <a:rPr lang="fr-FR" sz="2200" i="1" dirty="0" err="1">
                <a:solidFill>
                  <a:srgbClr val="000000"/>
                </a:solidFill>
              </a:rPr>
              <a:t>biprédictive</a:t>
            </a:r>
            <a:r>
              <a:rPr lang="fr-FR" sz="2200" i="1" dirty="0">
                <a:solidFill>
                  <a:srgbClr val="000000"/>
                </a:solidFill>
              </a:rPr>
              <a:t>) – contient des informations de différence compensées en mouvement par rapport aux images précédemment décodées. Dans les conceptions plus anciennes telles que MPEG-1 et H.262/MPEG-2, chaque image B ne peut faire référence qu’à deux images, dont l’une doit précéder l’image B dans l’ordre d’affichage et l’autre doit suivre l’image B dans l’ordre d’affichage, et toutes les images référencées doivent être des images I ou P. </a:t>
            </a:r>
            <a:endParaRPr lang="en-GB" sz="2200" dirty="0"/>
          </a:p>
        </p:txBody>
      </p:sp>
      <p:sp>
        <p:nvSpPr>
          <p:cNvPr id="9" name="Rectangle 8"/>
          <p:cNvSpPr/>
          <p:nvPr/>
        </p:nvSpPr>
        <p:spPr>
          <a:xfrm>
            <a:off x="3191969" y="836712"/>
            <a:ext cx="2904031" cy="523220"/>
          </a:xfrm>
          <a:prstGeom prst="rect">
            <a:avLst/>
          </a:prstGeom>
        </p:spPr>
        <p:txBody>
          <a:bodyPr wrap="square">
            <a:spAutoFit/>
          </a:bodyPr>
          <a:lstStyle/>
          <a:p>
            <a:r>
              <a:rPr lang="fr-FR" sz="2800" dirty="0" smtClean="0">
                <a:latin typeface="+mj-lt"/>
              </a:rPr>
              <a:t>Groupe d’images </a:t>
            </a:r>
            <a:endParaRPr lang="fr-FR" sz="2800" dirty="0">
              <a:latin typeface="+mj-lt"/>
              <a:cs typeface="Times New Roman" pitchFamily="18" charset="0"/>
            </a:endParaRPr>
          </a:p>
        </p:txBody>
      </p:sp>
      <p:sp>
        <p:nvSpPr>
          <p:cNvPr id="14" name="Rectangle 13"/>
          <p:cNvSpPr/>
          <p:nvPr/>
        </p:nvSpPr>
        <p:spPr>
          <a:xfrm>
            <a:off x="2423592" y="104898"/>
            <a:ext cx="3151312" cy="584775"/>
          </a:xfrm>
          <a:prstGeom prst="rect">
            <a:avLst/>
          </a:prstGeom>
        </p:spPr>
        <p:txBody>
          <a:bodyPr wrap="square">
            <a:spAutoFit/>
          </a:bodyPr>
          <a:lstStyle/>
          <a:p>
            <a:r>
              <a:rPr lang="fr-FR" sz="3200" dirty="0" smtClean="0">
                <a:latin typeface="+mj-lt"/>
              </a:rPr>
              <a:t>Codage vidéo </a:t>
            </a:r>
            <a:endParaRPr lang="fr-FR" sz="3200" dirty="0">
              <a:latin typeface="+mj-lt"/>
              <a:cs typeface="Times New Roman" pitchFamily="18" charset="0"/>
            </a:endParaRPr>
          </a:p>
        </p:txBody>
      </p:sp>
    </p:spTree>
    <p:extLst>
      <p:ext uri="{BB962C8B-B14F-4D97-AF65-F5344CB8AC3E}">
        <p14:creationId xmlns:p14="http://schemas.microsoft.com/office/powerpoint/2010/main" val="40420987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9" grpId="0"/>
      <p:bldP spid="14" grpId="0"/>
    </p:bldLst>
  </p:timing>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2872</TotalTime>
  <Words>1060</Words>
  <Application>Microsoft Office PowerPoint</Application>
  <PresentationFormat>Widescreen</PresentationFormat>
  <Paragraphs>119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MyriadPro-BoldCond</vt:lpstr>
      <vt:lpstr>Times New Roman</vt:lpstr>
      <vt:lpstr>Thème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Principe de formation  des images</dc:title>
  <dc:creator>ABDERRAHMANE</dc:creator>
  <cp:lastModifiedBy>USER</cp:lastModifiedBy>
  <cp:revision>657</cp:revision>
  <dcterms:created xsi:type="dcterms:W3CDTF">2019-10-21T15:42:17Z</dcterms:created>
  <dcterms:modified xsi:type="dcterms:W3CDTF">2025-10-31T06:59:07Z</dcterms:modified>
</cp:coreProperties>
</file>