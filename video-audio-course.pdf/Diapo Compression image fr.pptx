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03" r:id="rId2"/>
    <p:sldId id="348" r:id="rId3"/>
    <p:sldId id="336" r:id="rId4"/>
    <p:sldId id="337" r:id="rId5"/>
    <p:sldId id="338" r:id="rId6"/>
    <p:sldId id="339" r:id="rId7"/>
    <p:sldId id="340" r:id="rId8"/>
    <p:sldId id="341" r:id="rId9"/>
    <p:sldId id="343" r:id="rId10"/>
    <p:sldId id="344" r:id="rId11"/>
    <p:sldId id="345" r:id="rId12"/>
    <p:sldId id="346" r:id="rId13"/>
    <p:sldId id="347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86345" autoAdjust="0"/>
  </p:normalViewPr>
  <p:slideViewPr>
    <p:cSldViewPr>
      <p:cViewPr varScale="1">
        <p:scale>
          <a:sx n="45" d="100"/>
          <a:sy n="45" d="100"/>
        </p:scale>
        <p:origin x="924" y="48"/>
      </p:cViewPr>
      <p:guideLst>
        <p:guide orient="horz" pos="2115"/>
        <p:guide pos="3840"/>
      </p:guideLst>
    </p:cSldViewPr>
  </p:slideViewPr>
  <p:outlineViewPr>
    <p:cViewPr>
      <p:scale>
        <a:sx n="33" d="100"/>
        <a:sy n="33" d="100"/>
      </p:scale>
      <p:origin x="246" y="7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297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6.wmf"/><Relationship Id="rId1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F659B-360C-4CCA-8FA0-5BBC4F244462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8BDD2-4F65-4B79-8B8E-9FE12C5CF40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644973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6DC23-7474-4DC7-98A9-E54664E76549}" type="datetimeFigureOut">
              <a:rPr lang="fr-FR" smtClean="0"/>
              <a:pPr/>
              <a:t>02/11/2025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1C1C7-12CF-4C56-AF83-A11C91197268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38F3-2DDC-4FDA-8396-0A5881A7FA3A}" type="datetime1">
              <a:rPr lang="fr-FR" smtClean="0"/>
              <a:t>02/11/2025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BD3E-E888-4981-8D58-77AE47DE91D2}" type="datetime1">
              <a:rPr lang="fr-FR" smtClean="0"/>
              <a:t>02/11/2025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0668F-CB4B-45BC-905F-80683AF4F7EE}" type="datetime1">
              <a:rPr lang="fr-FR" smtClean="0"/>
              <a:t>02/11/2025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5094-55D3-474D-AEDB-EDF4B7428C54}" type="datetime1">
              <a:rPr lang="fr-FR" smtClean="0"/>
              <a:t>02/11/2025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58A-1B25-4358-9A0D-35DB3CCAF104}" type="datetime1">
              <a:rPr lang="fr-FR" smtClean="0"/>
              <a:t>02/11/2025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00E-A147-4BD9-BE03-FE3711579D2C}" type="datetime1">
              <a:rPr lang="fr-FR" smtClean="0"/>
              <a:t>02/11/2025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3E25D-0BD1-45A9-95EC-061DA244F9A5}" type="datetime1">
              <a:rPr lang="fr-FR" smtClean="0"/>
              <a:t>02/11/2025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E30F-1F6F-47B6-8B3E-64221809C9A4}" type="datetime1">
              <a:rPr lang="fr-FR" smtClean="0"/>
              <a:t>02/11/2025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6236C-E168-4EE0-A428-991228438458}" type="datetime1">
              <a:rPr lang="fr-FR" smtClean="0"/>
              <a:t>02/11/2025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D32-F759-479A-8EE4-8C6600023CAC}" type="datetime1">
              <a:rPr lang="fr-FR" smtClean="0"/>
              <a:t>02/11/2025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602B-F2A2-44A4-B2A0-385629911022}" type="datetime1">
              <a:rPr lang="fr-FR" smtClean="0"/>
              <a:t>02/11/2025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764A6-A83F-4B0A-B2D6-11D91B41B2F0}" type="datetime1">
              <a:rPr lang="fr-FR" smtClean="0"/>
              <a:t>02/11/2025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5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4088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Processus de compression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pic>
        <p:nvPicPr>
          <p:cNvPr id="37" name="Imag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368" y="1844824"/>
            <a:ext cx="11305256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31462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Les transformations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0000" y="4102125"/>
            <a:ext cx="884950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 smtClean="0">
                <a:solidFill>
                  <a:srgbClr val="000000"/>
                </a:solidFill>
                <a:ea typeface="SimSun" panose="02010600030101010101" pitchFamily="2" charset="-122"/>
              </a:rPr>
              <a:t>La </a:t>
            </a:r>
            <a:r>
              <a:rPr lang="fr-FR" sz="2000" dirty="0">
                <a:solidFill>
                  <a:srgbClr val="000000"/>
                </a:solidFill>
                <a:ea typeface="SimSun" panose="02010600030101010101" pitchFamily="2" charset="-122"/>
              </a:rPr>
              <a:t>transformée DCT s’exprime mathématiquement par la formule suivante :</a:t>
            </a:r>
            <a:endParaRPr lang="fr-FR" sz="2000" dirty="0">
              <a:ea typeface="SimSun" panose="02010600030101010101" pitchFamily="2" charset="-122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364415"/>
              </p:ext>
            </p:extLst>
          </p:nvPr>
        </p:nvGraphicFramePr>
        <p:xfrm>
          <a:off x="892175" y="4989513"/>
          <a:ext cx="8799513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11" name="Equation" r:id="rId3" imgW="4279680" imgH="431640" progId="Equation.3">
                  <p:embed/>
                </p:oleObj>
              </mc:Choice>
              <mc:Fallback>
                <p:oleObj name="Equation" r:id="rId3" imgW="4279680" imgH="431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4989513"/>
                        <a:ext cx="8799513" cy="811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291217" y="1686095"/>
            <a:ext cx="41791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Pour calculer une TFD, on doit calculer</a:t>
            </a: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311790"/>
              </p:ext>
            </p:extLst>
          </p:nvPr>
        </p:nvGraphicFramePr>
        <p:xfrm>
          <a:off x="5078413" y="1487488"/>
          <a:ext cx="5913437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12" name="Equation" r:id="rId5" imgW="2971800" imgH="431640" progId="Equation.3">
                  <p:embed/>
                </p:oleObj>
              </mc:Choice>
              <mc:Fallback>
                <p:oleObj name="Equation" r:id="rId5" imgW="297180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413" y="1487488"/>
                        <a:ext cx="5913437" cy="842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270000" y="3702015"/>
            <a:ext cx="52295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 TFD, fournit des valeurs   X(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u,v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  </a:t>
            </a: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complexes 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960030"/>
              </p:ext>
            </p:extLst>
          </p:nvPr>
        </p:nvGraphicFramePr>
        <p:xfrm>
          <a:off x="3203575" y="2355850"/>
          <a:ext cx="10017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13" name="Equation" r:id="rId7" imgW="495000" imgH="228600" progId="Equation.3">
                  <p:embed/>
                </p:oleObj>
              </mc:Choice>
              <mc:Fallback>
                <p:oleObj name="Equation" r:id="rId7" imgW="495000" imgH="228600" progId="Equation.3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355850"/>
                        <a:ext cx="1001713" cy="476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/>
          <p:cNvSpPr/>
          <p:nvPr/>
        </p:nvSpPr>
        <p:spPr>
          <a:xfrm>
            <a:off x="1612949" y="2440542"/>
            <a:ext cx="7368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 smtClean="0">
                <a:cs typeface="Times New Roman" panose="02020603050405020304" pitchFamily="18" charset="0"/>
              </a:rPr>
              <a:t>Avec </a:t>
            </a:r>
            <a:endParaRPr lang="en-GB" sz="2000" dirty="0"/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136469"/>
              </p:ext>
            </p:extLst>
          </p:nvPr>
        </p:nvGraphicFramePr>
        <p:xfrm>
          <a:off x="2150716" y="3015611"/>
          <a:ext cx="810026" cy="444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14" name="Equation" r:id="rId9" imgW="393480" imgH="215640" progId="Equation.3">
                  <p:embed/>
                </p:oleObj>
              </mc:Choice>
              <mc:Fallback>
                <p:oleObj name="Equation" r:id="rId9" imgW="39348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50716" y="3015611"/>
                        <a:ext cx="810026" cy="444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/>
          <p:cNvSpPr/>
          <p:nvPr/>
        </p:nvSpPr>
        <p:spPr>
          <a:xfrm>
            <a:off x="4109665" y="3037660"/>
            <a:ext cx="35846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 smtClean="0">
                <a:cs typeface="Times New Roman" panose="02020603050405020304" pitchFamily="18" charset="0"/>
              </a:rPr>
              <a:t>Représente l’amplitude du pixel 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87212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5" grpId="0"/>
      <p:bldP spid="18" grpId="0"/>
      <p:bldP spid="24" grpId="0"/>
      <p:bldP spid="27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3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1258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La DCT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1637" y="1703863"/>
            <a:ext cx="1116124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000000"/>
                </a:solidFill>
                <a:ea typeface="Calibri" panose="020F0502020204030204" pitchFamily="34" charset="0"/>
              </a:rPr>
              <a:t>La transformée en cosinus discrète DCT  (</a:t>
            </a:r>
            <a:r>
              <a:rPr lang="fr-FR" sz="2000" dirty="0" err="1">
                <a:solidFill>
                  <a:srgbClr val="000000"/>
                </a:solidFill>
                <a:ea typeface="Calibri" panose="020F0502020204030204" pitchFamily="34" charset="0"/>
              </a:rPr>
              <a:t>Discrete</a:t>
            </a:r>
            <a:r>
              <a:rPr lang="fr-FR" sz="2000" dirty="0">
                <a:solidFill>
                  <a:srgbClr val="000000"/>
                </a:solidFill>
                <a:ea typeface="Calibri" panose="020F0502020204030204" pitchFamily="34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ea typeface="Calibri" panose="020F0502020204030204" pitchFamily="34" charset="0"/>
              </a:rPr>
              <a:t>Cosine</a:t>
            </a:r>
            <a:r>
              <a:rPr lang="fr-FR" sz="2000" dirty="0">
                <a:solidFill>
                  <a:srgbClr val="000000"/>
                </a:solidFill>
                <a:ea typeface="Calibri" panose="020F0502020204030204" pitchFamily="34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ea typeface="Calibri" panose="020F0502020204030204" pitchFamily="34" charset="0"/>
              </a:rPr>
              <a:t>Transform</a:t>
            </a:r>
            <a:r>
              <a:rPr lang="fr-FR" sz="2000" dirty="0">
                <a:solidFill>
                  <a:srgbClr val="000000"/>
                </a:solidFill>
                <a:ea typeface="Calibri" panose="020F0502020204030204" pitchFamily="34" charset="0"/>
              </a:rPr>
              <a:t> ) opère sur un bloc(ou matrice  </a:t>
            </a:r>
            <a:r>
              <a:rPr lang="fr-FR" sz="2400" b="1" dirty="0">
                <a:solidFill>
                  <a:srgbClr val="000000"/>
                </a:solidFill>
                <a:ea typeface="Calibri" panose="020F0502020204030204" pitchFamily="34" charset="0"/>
              </a:rPr>
              <a:t>X</a:t>
            </a:r>
            <a:r>
              <a:rPr lang="fr-FR" sz="2000" dirty="0">
                <a:solidFill>
                  <a:srgbClr val="000000"/>
                </a:solidFill>
                <a:ea typeface="Calibri" panose="020F0502020204030204" pitchFamily="34" charset="0"/>
              </a:rPr>
              <a:t>  , un  bloc de  </a:t>
            </a:r>
            <a:r>
              <a:rPr lang="fr-FR" sz="2000" i="1" dirty="0">
                <a:solidFill>
                  <a:srgbClr val="000000"/>
                </a:solidFill>
                <a:ea typeface="Calibri" panose="020F0502020204030204" pitchFamily="34" charset="0"/>
              </a:rPr>
              <a:t>N × N </a:t>
            </a:r>
            <a:r>
              <a:rPr lang="fr-FR" sz="2000" i="1" dirty="0" smtClean="0">
                <a:solidFill>
                  <a:srgbClr val="000000"/>
                </a:solidFill>
                <a:ea typeface="Calibri" panose="020F0502020204030204" pitchFamily="34" charset="0"/>
              </a:rPr>
              <a:t> éléments 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294499" y="2821463"/>
            <a:ext cx="1143825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L’application de la DCT direct (FDCT) sur un bloc de N</a:t>
            </a:r>
            <a:r>
              <a:rPr lang="fr-FR" sz="20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× N élément est donné par </a:t>
            </a:r>
            <a:r>
              <a:rPr lang="fr-FR" sz="20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fr-F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278553"/>
              </p:ext>
            </p:extLst>
          </p:nvPr>
        </p:nvGraphicFramePr>
        <p:xfrm>
          <a:off x="9480376" y="2881425"/>
          <a:ext cx="1720677" cy="398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28" name="Equation" r:id="rId3" imgW="850531" imgH="190417" progId="Equation.3">
                  <p:embed/>
                </p:oleObj>
              </mc:Choice>
              <mc:Fallback>
                <p:oleObj name="Equation" r:id="rId3" imgW="850531" imgH="190417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0376" y="2881425"/>
                        <a:ext cx="1720677" cy="3980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294498" y="2327427"/>
            <a:ext cx="107700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L’action de la DCT (et son inverse, IDCT) peut être décrite en terme de matrice de transformation </a:t>
            </a:r>
            <a:r>
              <a:rPr lang="fr-FR" sz="20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fr-FR" sz="2400" b="1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fr-FR" sz="2000" b="1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0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fr-F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1637" y="3658670"/>
            <a:ext cx="4166462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ea typeface="Calibri" panose="020F0502020204030204" pitchFamily="34" charset="0"/>
                <a:cs typeface="Arial" panose="020B0604020202020204" pitchFamily="34" charset="0"/>
              </a:rPr>
              <a:t>L’application de la DCT inverse donne :</a:t>
            </a:r>
            <a:endParaRPr lang="fr-F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403189"/>
              </p:ext>
            </p:extLst>
          </p:nvPr>
        </p:nvGraphicFramePr>
        <p:xfrm>
          <a:off x="5031918" y="3622660"/>
          <a:ext cx="1720677" cy="398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29" name="Equation" r:id="rId5" imgW="850680" imgH="190440" progId="Equation.3">
                  <p:embed/>
                </p:oleObj>
              </mc:Choice>
              <mc:Fallback>
                <p:oleObj name="Equation" r:id="rId5" imgW="850680" imgH="19044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1918" y="3622660"/>
                        <a:ext cx="1720677" cy="3980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294499" y="4554181"/>
            <a:ext cx="5271443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193290" algn="l"/>
              </a:tabLst>
            </a:pPr>
            <a:r>
              <a:rPr lang="fr-FR" sz="20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Les coefficients de la matrice A sont donnés par :</a:t>
            </a:r>
            <a:endParaRPr lang="fr-F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680267"/>
              </p:ext>
            </p:extLst>
          </p:nvPr>
        </p:nvGraphicFramePr>
        <p:xfrm>
          <a:off x="6240016" y="4322937"/>
          <a:ext cx="3487485" cy="884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0" name="Equation" r:id="rId7" imgW="1600200" imgH="431800" progId="Equation.3">
                  <p:embed/>
                </p:oleObj>
              </mc:Choice>
              <mc:Fallback>
                <p:oleObj name="Equation" r:id="rId7" imgW="16002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4322937"/>
                        <a:ext cx="3487485" cy="8841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321354" y="5301104"/>
            <a:ext cx="5469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ea typeface="Calibri" panose="020F0502020204030204" pitchFamily="34" charset="0"/>
              </a:rPr>
              <a:t>Où </a:t>
            </a:r>
            <a:endParaRPr lang="en-US" sz="2000" dirty="0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752884"/>
              </p:ext>
            </p:extLst>
          </p:nvPr>
        </p:nvGraphicFramePr>
        <p:xfrm>
          <a:off x="1921208" y="5043949"/>
          <a:ext cx="2158567" cy="858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1" name="Equation" r:id="rId9" imgW="1117115" imgH="444307" progId="Equation.3">
                  <p:embed/>
                </p:oleObj>
              </mc:Choice>
              <mc:Fallback>
                <p:oleObj name="Equation" r:id="rId9" imgW="1117115" imgH="44430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208" y="5043949"/>
                        <a:ext cx="2158567" cy="8585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239754"/>
              </p:ext>
            </p:extLst>
          </p:nvPr>
        </p:nvGraphicFramePr>
        <p:xfrm>
          <a:off x="1921208" y="5926932"/>
          <a:ext cx="21590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2" name="Equation" r:id="rId11" imgW="1117440" imgH="444240" progId="Equation.3">
                  <p:embed/>
                </p:oleObj>
              </mc:Choice>
              <mc:Fallback>
                <p:oleObj name="Equation" r:id="rId11" imgW="1117440" imgH="44424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208" y="5926932"/>
                        <a:ext cx="2159000" cy="858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932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2" grpId="0"/>
      <p:bldP spid="4" grpId="0"/>
      <p:bldP spid="8" grpId="0"/>
      <p:bldP spid="9" grpId="0"/>
      <p:bldP spid="11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4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1177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La DCT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629" y="1680349"/>
            <a:ext cx="5007333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193290" algn="l"/>
              </a:tabLst>
            </a:pPr>
            <a:r>
              <a:rPr lang="fr-FR" sz="2000" dirty="0">
                <a:ea typeface="Calibri" panose="020F0502020204030204" pitchFamily="34" charset="0"/>
                <a:cs typeface="Arial" panose="020B0604020202020204" pitchFamily="34" charset="0"/>
              </a:rPr>
              <a:t>En utilisant le symbole somme on peut écrire :</a:t>
            </a:r>
            <a:endParaRPr lang="fr-F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67174"/>
              </p:ext>
            </p:extLst>
          </p:nvPr>
        </p:nvGraphicFramePr>
        <p:xfrm>
          <a:off x="1055440" y="2102003"/>
          <a:ext cx="6314377" cy="8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10" name="Equation" r:id="rId3" imgW="3581400" imgH="457200" progId="Equation.3">
                  <p:embed/>
                </p:oleObj>
              </mc:Choice>
              <mc:Fallback>
                <p:oleObj name="Equation" r:id="rId3" imgW="358140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2102003"/>
                        <a:ext cx="6314377" cy="8046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518670"/>
              </p:ext>
            </p:extLst>
          </p:nvPr>
        </p:nvGraphicFramePr>
        <p:xfrm>
          <a:off x="1055440" y="2918581"/>
          <a:ext cx="6259909" cy="819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11" name="Equation" r:id="rId5" imgW="3492500" imgH="457200" progId="Equation.3">
                  <p:embed/>
                </p:oleObj>
              </mc:Choice>
              <mc:Fallback>
                <p:oleObj name="Equation" r:id="rId5" imgW="34925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2918581"/>
                        <a:ext cx="6259909" cy="8194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/>
          <p:cNvSpPr/>
          <p:nvPr/>
        </p:nvSpPr>
        <p:spPr>
          <a:xfrm>
            <a:off x="184860" y="3933056"/>
            <a:ext cx="2260234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193290" algn="l"/>
              </a:tabLst>
            </a:pPr>
            <a:r>
              <a:rPr lang="fr-FR" sz="2000" dirty="0">
                <a:ea typeface="Calibri" panose="020F0502020204030204" pitchFamily="34" charset="0"/>
                <a:cs typeface="Arial" panose="020B0604020202020204" pitchFamily="34" charset="0"/>
              </a:rPr>
              <a:t>Exemple : N = 4,       </a:t>
            </a:r>
            <a:endParaRPr lang="fr-F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569975"/>
              </p:ext>
            </p:extLst>
          </p:nvPr>
        </p:nvGraphicFramePr>
        <p:xfrm>
          <a:off x="2625629" y="4115100"/>
          <a:ext cx="5846635" cy="238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12" name="Equation" r:id="rId7" imgW="4114800" imgH="1676400" progId="Equation.3">
                  <p:embed/>
                </p:oleObj>
              </mc:Choice>
              <mc:Fallback>
                <p:oleObj name="Equation" r:id="rId7" imgW="4114800" imgH="1676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5629" y="4115100"/>
                        <a:ext cx="5846635" cy="2381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48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5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5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1258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La DCT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3352" y="1700808"/>
            <a:ext cx="11928648" cy="838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193290" algn="l"/>
              </a:tabLst>
            </a:pPr>
            <a:r>
              <a:rPr lang="fr-FR" sz="2000" dirty="0">
                <a:ea typeface="Calibri" panose="020F0502020204030204" pitchFamily="34" charset="0"/>
                <a:cs typeface="Arial" panose="020B0604020202020204" pitchFamily="34" charset="0"/>
              </a:rPr>
              <a:t>La transformation en cosinus est symétrique et périodique de période 2п   et ainsi la matrice A peut-être </a:t>
            </a:r>
            <a:endParaRPr lang="fr-FR" sz="2000" dirty="0" smtClean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193290" algn="l"/>
              </a:tabLst>
            </a:pPr>
            <a:r>
              <a:rPr lang="fr-F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simplifié </a:t>
            </a:r>
            <a:r>
              <a:rPr lang="fr-FR" sz="2000" dirty="0">
                <a:ea typeface="Calibri" panose="020F0502020204030204" pitchFamily="34" charset="0"/>
                <a:cs typeface="Arial" panose="020B0604020202020204" pitchFamily="34" charset="0"/>
              </a:rPr>
              <a:t>et </a:t>
            </a:r>
            <a:endParaRPr lang="fr-F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370050"/>
              </p:ext>
            </p:extLst>
          </p:nvPr>
        </p:nvGraphicFramePr>
        <p:xfrm>
          <a:off x="2360632" y="2132856"/>
          <a:ext cx="6091441" cy="2354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15" name="Equation" r:id="rId3" imgW="4216400" imgH="1625600" progId="Equation.3">
                  <p:embed/>
                </p:oleObj>
              </mc:Choice>
              <mc:Fallback>
                <p:oleObj name="Equation" r:id="rId3" imgW="4216400" imgH="162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0632" y="2132856"/>
                        <a:ext cx="6091441" cy="23541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119336" y="4603176"/>
            <a:ext cx="34455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ea typeface="Calibri" panose="020F0502020204030204" pitchFamily="34" charset="0"/>
              </a:rPr>
              <a:t>L’évaluation des cosinus donne </a:t>
            </a:r>
            <a:endParaRPr lang="en-US" sz="2000" dirty="0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944623"/>
              </p:ext>
            </p:extLst>
          </p:nvPr>
        </p:nvGraphicFramePr>
        <p:xfrm>
          <a:off x="4295800" y="4765149"/>
          <a:ext cx="4176464" cy="1578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16" name="Equation" r:id="rId5" imgW="2413000" imgH="914400" progId="Equation.3">
                  <p:embed/>
                </p:oleObj>
              </mc:Choice>
              <mc:Fallback>
                <p:oleObj name="Equation" r:id="rId5" imgW="241300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800" y="4765149"/>
                        <a:ext cx="4176464" cy="15785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20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2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6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1258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La DCT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3352" y="1700808"/>
            <a:ext cx="7882364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ea typeface="Calibri" panose="020F0502020204030204" pitchFamily="34" charset="0"/>
                <a:cs typeface="Arial" panose="020B0604020202020204" pitchFamily="34" charset="0"/>
              </a:rPr>
              <a:t>Exemple 1 : Calcul de la DCT d’un bloc de 4x4 pris d’une image.</a:t>
            </a:r>
            <a:endParaRPr lang="fr-F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834866"/>
              </p:ext>
            </p:extLst>
          </p:nvPr>
        </p:nvGraphicFramePr>
        <p:xfrm>
          <a:off x="8132421" y="1120182"/>
          <a:ext cx="2484283" cy="1582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6" name="Equation" r:id="rId3" imgW="1435100" imgH="914400" progId="Equation.3">
                  <p:embed/>
                </p:oleObj>
              </mc:Choice>
              <mc:Fallback>
                <p:oleObj name="Equation" r:id="rId3" imgW="1435100" imgH="914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2421" y="1120182"/>
                        <a:ext cx="2484283" cy="15829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254025" y="3095382"/>
            <a:ext cx="2633541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ea typeface="Calibri" panose="020F0502020204030204" pitchFamily="34" charset="0"/>
                <a:cs typeface="Arial" panose="020B0604020202020204" pitchFamily="34" charset="0"/>
              </a:rPr>
              <a:t>Calcul de la DCT direct :</a:t>
            </a:r>
            <a:endParaRPr lang="fr-F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8951" y="3889243"/>
            <a:ext cx="728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ea typeface="Calibri" panose="020F0502020204030204" pitchFamily="34" charset="0"/>
              </a:rPr>
              <a:t>On a </a:t>
            </a:r>
            <a:endParaRPr lang="en-US" sz="2000" dirty="0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956107"/>
              </p:ext>
            </p:extLst>
          </p:nvPr>
        </p:nvGraphicFramePr>
        <p:xfrm>
          <a:off x="1343472" y="3820333"/>
          <a:ext cx="1440160" cy="394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7" name="Equation" r:id="rId5" imgW="850531" imgH="190417" progId="Equation.3">
                  <p:embed/>
                </p:oleObj>
              </mc:Choice>
              <mc:Fallback>
                <p:oleObj name="Equation" r:id="rId5" imgW="850531" imgH="19041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3820333"/>
                        <a:ext cx="1440160" cy="3944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3387410" y="3889243"/>
            <a:ext cx="46326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ea typeface="Calibri" panose="020F0502020204030204" pitchFamily="34" charset="0"/>
              </a:rPr>
              <a:t>donc on calcul d’abord le produit matriciel </a:t>
            </a:r>
            <a:endParaRPr lang="en-US" sz="2000" dirty="0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114848"/>
              </p:ext>
            </p:extLst>
          </p:nvPr>
        </p:nvGraphicFramePr>
        <p:xfrm>
          <a:off x="8160920" y="3889243"/>
          <a:ext cx="1391464" cy="32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8" name="Equation" r:id="rId7" imgW="609336" imgH="165028" progId="Equation.3">
                  <p:embed/>
                </p:oleObj>
              </mc:Choice>
              <mc:Fallback>
                <p:oleObj name="Equation" r:id="rId7" imgW="609336" imgH="16502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0920" y="3889243"/>
                        <a:ext cx="1391464" cy="3255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/>
          <p:nvPr/>
        </p:nvSpPr>
        <p:spPr>
          <a:xfrm>
            <a:off x="233263" y="4577263"/>
            <a:ext cx="7368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ea typeface="Calibri" panose="020F0502020204030204" pitchFamily="34" charset="0"/>
              </a:rPr>
              <a:t>Avec </a:t>
            </a:r>
            <a:endParaRPr lang="en-US" sz="2000" dirty="0"/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02018"/>
              </p:ext>
            </p:extLst>
          </p:nvPr>
        </p:nvGraphicFramePr>
        <p:xfrm>
          <a:off x="1205921" y="4603280"/>
          <a:ext cx="3831413" cy="1448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9" name="Equation" r:id="rId9" imgW="2413000" imgH="914400" progId="Equation.3">
                  <p:embed/>
                </p:oleObj>
              </mc:Choice>
              <mc:Fallback>
                <p:oleObj name="Equation" r:id="rId9" imgW="2413000" imgH="91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921" y="4603280"/>
                        <a:ext cx="3831413" cy="14480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/>
          <p:cNvSpPr/>
          <p:nvPr/>
        </p:nvSpPr>
        <p:spPr>
          <a:xfrm>
            <a:off x="5483496" y="4603280"/>
            <a:ext cx="4558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ea typeface="Calibri" panose="020F0502020204030204" pitchFamily="34" charset="0"/>
              </a:rPr>
              <a:t>et </a:t>
            </a:r>
            <a:endParaRPr lang="en-US" sz="2000" dirty="0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041038"/>
              </p:ext>
            </p:extLst>
          </p:nvPr>
        </p:nvGraphicFramePr>
        <p:xfrm>
          <a:off x="6473820" y="4528517"/>
          <a:ext cx="2376264" cy="1514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0" name="Equation" r:id="rId11" imgW="1435100" imgH="914400" progId="Equation.3">
                  <p:embed/>
                </p:oleObj>
              </mc:Choice>
              <mc:Fallback>
                <p:oleObj name="Equation" r:id="rId11" imgW="1435100" imgH="914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3820" y="4528517"/>
                        <a:ext cx="2376264" cy="15140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090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4" grpId="0"/>
      <p:bldP spid="12" grpId="0"/>
      <p:bldP spid="13" grpId="0"/>
      <p:bldP spid="16" grpId="0"/>
      <p:bldP spid="19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7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1258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La DCT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1344" y="1700808"/>
            <a:ext cx="2891369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634365" algn="l"/>
              </a:tabLst>
            </a:pPr>
            <a:r>
              <a:rPr lang="fr-FR" sz="2000" dirty="0">
                <a:ea typeface="Calibri" panose="020F0502020204030204" pitchFamily="34" charset="0"/>
                <a:cs typeface="Arial" panose="020B0604020202020204" pitchFamily="34" charset="0"/>
              </a:rPr>
              <a:t>Le calcul complet donne : </a:t>
            </a:r>
            <a:endParaRPr lang="fr-F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153845"/>
              </p:ext>
            </p:extLst>
          </p:nvPr>
        </p:nvGraphicFramePr>
        <p:xfrm>
          <a:off x="3379021" y="1700808"/>
          <a:ext cx="3920852" cy="1532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80" name="Equation" r:id="rId3" imgW="2552700" imgH="914400" progId="Equation.3">
                  <p:embed/>
                </p:oleObj>
              </mc:Choice>
              <mc:Fallback>
                <p:oleObj name="Equation" r:id="rId3" imgW="2552700" imgH="914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9021" y="1700808"/>
                        <a:ext cx="3920852" cy="1532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335360" y="3244334"/>
            <a:ext cx="57967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ea typeface="Calibri" panose="020F0502020204030204" pitchFamily="34" charset="0"/>
              </a:rPr>
              <a:t>On passe par la suite au second calcul matriciel avec : </a:t>
            </a:r>
            <a:endParaRPr lang="en-US" sz="2000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097814"/>
              </p:ext>
            </p:extLst>
          </p:nvPr>
        </p:nvGraphicFramePr>
        <p:xfrm>
          <a:off x="6312024" y="3233490"/>
          <a:ext cx="1296144" cy="372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81" name="Equation" r:id="rId5" imgW="609336" imgH="190417" progId="Equation.3">
                  <p:embed/>
                </p:oleObj>
              </mc:Choice>
              <mc:Fallback>
                <p:oleObj name="Equation" r:id="rId5" imgW="609336" imgH="19041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2024" y="3233490"/>
                        <a:ext cx="1296144" cy="3720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335360" y="3911911"/>
            <a:ext cx="1979516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ea typeface="Calibri" panose="020F0502020204030204" pitchFamily="34" charset="0"/>
                <a:cs typeface="Arial" panose="020B0604020202020204" pitchFamily="34" charset="0"/>
              </a:rPr>
              <a:t>Le calcul donne : </a:t>
            </a:r>
            <a:endParaRPr lang="fr-F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011764"/>
              </p:ext>
            </p:extLst>
          </p:nvPr>
        </p:nvGraphicFramePr>
        <p:xfrm>
          <a:off x="3228444" y="4016030"/>
          <a:ext cx="4208401" cy="1593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82" name="Equation" r:id="rId7" imgW="2654280" imgH="914400" progId="Equation.3">
                  <p:embed/>
                </p:oleObj>
              </mc:Choice>
              <mc:Fallback>
                <p:oleObj name="Equation" r:id="rId7" imgW="2654280" imgH="914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444" y="4016030"/>
                        <a:ext cx="4208401" cy="15935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257888" y="5648465"/>
            <a:ext cx="114553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ea typeface="Times New Roman" panose="02020603050405020304" pitchFamily="18" charset="0"/>
              </a:rPr>
              <a:t>Cette DCT va permettre de décrire les composantes du bloc en fréquences spatiales représentant des motifs géométriques périodiques caractérisés par leur taille et leur amplitude.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483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2" grpId="0"/>
      <p:bldP spid="8" grpId="0"/>
      <p:bldP spid="17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8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38949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/>
              <a:t>Quantification et Codage</a:t>
            </a:r>
            <a:endParaRPr lang="fr-FR" sz="2800" dirty="0"/>
          </a:p>
        </p:txBody>
      </p:sp>
      <p:sp>
        <p:nvSpPr>
          <p:cNvPr id="4" name="Rectangle 3"/>
          <p:cNvSpPr/>
          <p:nvPr/>
        </p:nvSpPr>
        <p:spPr>
          <a:xfrm>
            <a:off x="299356" y="1576418"/>
            <a:ext cx="115932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>
                <a:ea typeface="Times New Roman" panose="02020603050405020304" pitchFamily="18" charset="0"/>
              </a:rPr>
              <a:t>Les fréquences spatiales horizontales augmentent de la gauche vers la droite (les détails horizontaux deviennent de plus en plus fins) </a:t>
            </a:r>
            <a:endParaRPr lang="fr-FR" sz="2000" dirty="0">
              <a:ea typeface="SimSun" panose="02010600030101010101" pitchFamily="2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9356" y="2676352"/>
            <a:ext cx="11593288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 smtClean="0">
                <a:ea typeface="Times New Roman" panose="02020603050405020304" pitchFamily="18" charset="0"/>
              </a:rPr>
              <a:t>Les </a:t>
            </a:r>
            <a:r>
              <a:rPr lang="fr-FR" sz="2000" dirty="0">
                <a:ea typeface="Times New Roman" panose="02020603050405020304" pitchFamily="18" charset="0"/>
              </a:rPr>
              <a:t>fréquences spatiales verticales </a:t>
            </a:r>
            <a:r>
              <a:rPr lang="fr-FR" sz="2000" dirty="0" smtClean="0">
                <a:ea typeface="Times New Roman" panose="02020603050405020304" pitchFamily="18" charset="0"/>
              </a:rPr>
              <a:t>augmentent  </a:t>
            </a:r>
            <a:r>
              <a:rPr lang="fr-FR" sz="2000" dirty="0">
                <a:ea typeface="Times New Roman" panose="02020603050405020304" pitchFamily="18" charset="0"/>
              </a:rPr>
              <a:t>de haut en bas (les détails verticaux deviennent de plus en plus fins).</a:t>
            </a:r>
            <a:endParaRPr lang="fr-FR" sz="2000" dirty="0">
              <a:ea typeface="SimSun" panose="02010600030101010101" pitchFamily="2" charset="-122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607411"/>
              </p:ext>
            </p:extLst>
          </p:nvPr>
        </p:nvGraphicFramePr>
        <p:xfrm>
          <a:off x="2285635" y="4005064"/>
          <a:ext cx="4208401" cy="1449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63" name="Equation" r:id="rId3" imgW="2654280" imgH="914400" progId="Equation.3">
                  <p:embed/>
                </p:oleObj>
              </mc:Choice>
              <mc:Fallback>
                <p:oleObj name="Equation" r:id="rId3" imgW="2654280" imgH="914400" progId="Equation.3">
                  <p:embed/>
                  <p:pic>
                    <p:nvPicPr>
                      <p:cNvPr id="2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635" y="4005064"/>
                        <a:ext cx="4208401" cy="14497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565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9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38949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/>
              <a:t>Quantification et Codage</a:t>
            </a:r>
            <a:endParaRPr lang="fr-FR" sz="2800" dirty="0"/>
          </a:p>
        </p:txBody>
      </p:sp>
      <p:sp>
        <p:nvSpPr>
          <p:cNvPr id="4" name="Rectangle 3"/>
          <p:cNvSpPr/>
          <p:nvPr/>
        </p:nvSpPr>
        <p:spPr>
          <a:xfrm>
            <a:off x="263352" y="1700808"/>
            <a:ext cx="11521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ea typeface="Times New Roman" panose="02020603050405020304" pitchFamily="18" charset="0"/>
              </a:rPr>
              <a:t>La DCT permet de concentrer les valeurs significatives sur une zone restreinte.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247750" y="2427891"/>
            <a:ext cx="114492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ea typeface="Times New Roman" panose="02020603050405020304" pitchFamily="18" charset="0"/>
              </a:rPr>
              <a:t>Cette </a:t>
            </a:r>
            <a:r>
              <a:rPr lang="fr-FR" sz="2000" dirty="0">
                <a:ea typeface="Times New Roman" panose="02020603050405020304" pitchFamily="18" charset="0"/>
              </a:rPr>
              <a:t>transformée purement mathématique préserve l’intégralité de l’information du bloc et n’introduit aucune </a:t>
            </a:r>
            <a:r>
              <a:rPr lang="fr-FR" sz="2000" dirty="0" smtClean="0">
                <a:ea typeface="Times New Roman" panose="02020603050405020304" pitchFamily="18" charset="0"/>
              </a:rPr>
              <a:t>perte. 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227348" y="3135777"/>
            <a:ext cx="115932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ea typeface="Times New Roman" panose="02020603050405020304" pitchFamily="18" charset="0"/>
              </a:rPr>
              <a:t>Comme le système visuel humain accorde moins d’importance aux amplitudes des détails fins de l’image qu’aux plages uniformes,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232068" y="4084345"/>
            <a:ext cx="115838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ea typeface="Times New Roman" panose="02020603050405020304" pitchFamily="18" charset="0"/>
              </a:rPr>
              <a:t>Les </a:t>
            </a:r>
            <a:r>
              <a:rPr lang="fr-FR" sz="2000" dirty="0">
                <a:ea typeface="Times New Roman" panose="02020603050405020304" pitchFamily="18" charset="0"/>
              </a:rPr>
              <a:t>hautes fréquences spatiales vont pouvoir être codées avec une fidélité moins grande que les basses fréquences et donc être sous quantifiées.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263352" y="5039991"/>
            <a:ext cx="1155728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>
                <a:ea typeface="Times New Roman" panose="02020603050405020304" pitchFamily="18" charset="0"/>
              </a:rPr>
              <a:t>Certains coefficients inférieurs à un certain seuil seront même éliminés.</a:t>
            </a:r>
            <a:endParaRPr lang="fr-FR" sz="2000" dirty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531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4" grpId="0"/>
      <p:bldP spid="5" grpId="0"/>
      <p:bldP spid="7" grpId="0"/>
      <p:bldP spid="8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10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42519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/>
              <a:t>Les tables de quantification </a:t>
            </a:r>
            <a:endParaRPr lang="fr-FR" sz="2800" dirty="0"/>
          </a:p>
        </p:txBody>
      </p:sp>
      <p:sp>
        <p:nvSpPr>
          <p:cNvPr id="2" name="Rectangle 1"/>
          <p:cNvSpPr/>
          <p:nvPr/>
        </p:nvSpPr>
        <p:spPr>
          <a:xfrm>
            <a:off x="263352" y="1713002"/>
            <a:ext cx="115932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ea typeface="Times New Roman" panose="02020603050405020304" pitchFamily="18" charset="0"/>
              </a:rPr>
              <a:t>Cette phase est effectuée en utilisant différentes tables de quantification employées pour la luminance et la chrominance qui déterminent pour chacun des coefficients DCT par quelle valeur il sera quantifié. 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263352" y="2431182"/>
            <a:ext cx="115932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ea typeface="Times New Roman" panose="02020603050405020304" pitchFamily="18" charset="0"/>
              </a:rPr>
              <a:t>Les coefficients de la matrice de quantification sont choisis en fonction de la capacité du SVH à détecter les motifs par leur changement de contraste. </a:t>
            </a:r>
            <a:endParaRPr lang="en-US" sz="2000" dirty="0"/>
          </a:p>
        </p:txBody>
      </p:sp>
      <p:pic>
        <p:nvPicPr>
          <p:cNvPr id="12" name="Pictur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305" y="3088780"/>
            <a:ext cx="10069390" cy="249910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/>
          <p:cNvSpPr/>
          <p:nvPr/>
        </p:nvSpPr>
        <p:spPr>
          <a:xfrm>
            <a:off x="261612" y="5587884"/>
            <a:ext cx="115950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ea typeface="Times New Roman" panose="02020603050405020304" pitchFamily="18" charset="0"/>
              </a:rPr>
              <a:t>C’est </a:t>
            </a:r>
            <a:r>
              <a:rPr lang="fr-FR" sz="2000" dirty="0">
                <a:ea typeface="Times New Roman" panose="02020603050405020304" pitchFamily="18" charset="0"/>
              </a:rPr>
              <a:t>dans cette phase de quantification que sont introduites les pertes d’informations et que des distorsions peuvent apparaître.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4070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2" grpId="0"/>
      <p:bldP spid="9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11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40161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/>
              <a:t>La redondance statistique </a:t>
            </a:r>
            <a:endParaRPr lang="fr-FR" sz="2800" dirty="0"/>
          </a:p>
        </p:txBody>
      </p:sp>
      <p:sp>
        <p:nvSpPr>
          <p:cNvPr id="4" name="Rectangle 3"/>
          <p:cNvSpPr/>
          <p:nvPr/>
        </p:nvSpPr>
        <p:spPr>
          <a:xfrm>
            <a:off x="263352" y="1700808"/>
            <a:ext cx="11521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ea typeface="Times New Roman" panose="02020603050405020304" pitchFamily="18" charset="0"/>
              </a:rPr>
              <a:t>Les </a:t>
            </a:r>
            <a:r>
              <a:rPr lang="fr-FR" sz="2000" dirty="0">
                <a:ea typeface="Times New Roman" panose="02020603050405020304" pitchFamily="18" charset="0"/>
              </a:rPr>
              <a:t>données peuvent encore être compressées en utilisant la redondance statistique.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263352" y="2427507"/>
            <a:ext cx="115212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Avec le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balayage en zig </a:t>
            </a:r>
            <a:r>
              <a:rPr lang="fr-FR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zag</a:t>
            </a:r>
            <a:r>
              <a:rPr lang="fr-F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,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 matrice obtenue après quantification est balayée en zig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zag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comme l’illustre la figure </a:t>
            </a:r>
            <a:r>
              <a:rPr lang="fr-F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suivante.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99356" y="5679413"/>
            <a:ext cx="115932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ea typeface="Times New Roman" panose="02020603050405020304" pitchFamily="18" charset="0"/>
              </a:rPr>
              <a:t>Les coefficients sont réarrangés sous la forme d’un vecteur dans lequel les premières composantes représentent les basses fréquences et les dernières les hautes fréquences. </a:t>
            </a:r>
            <a:endParaRPr lang="en-US" sz="2000" dirty="0"/>
          </a:p>
        </p:txBody>
      </p:sp>
      <p:pic>
        <p:nvPicPr>
          <p:cNvPr id="14" name="Picture 1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3003595"/>
            <a:ext cx="7632848" cy="2605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589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4" grpId="0"/>
      <p:bldP spid="5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12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16375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/>
              <a:t>Le codage</a:t>
            </a:r>
            <a:endParaRPr lang="fr-FR" sz="2800" dirty="0"/>
          </a:p>
        </p:txBody>
      </p:sp>
      <p:sp>
        <p:nvSpPr>
          <p:cNvPr id="2" name="Rectangle 1"/>
          <p:cNvSpPr/>
          <p:nvPr/>
        </p:nvSpPr>
        <p:spPr>
          <a:xfrm>
            <a:off x="228796" y="2074377"/>
            <a:ext cx="11593288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 smtClean="0">
                <a:ea typeface="Times New Roman" panose="02020603050405020304" pitchFamily="18" charset="0"/>
              </a:rPr>
              <a:t>Le principe </a:t>
            </a:r>
            <a:r>
              <a:rPr lang="fr-FR" sz="2000" dirty="0">
                <a:ea typeface="Times New Roman" panose="02020603050405020304" pitchFamily="18" charset="0"/>
              </a:rPr>
              <a:t>consiste à attribuer les codes les plus courts aux coefficients statistiquement les plus fréquents, et à réserver les codes longs aux coefficients dont la probabilité d’occurrence est faible.</a:t>
            </a:r>
            <a:endParaRPr lang="fr-FR" sz="2000" dirty="0">
              <a:ea typeface="SimSun" panose="02010600030101010101" pitchFamily="2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3352" y="3507854"/>
            <a:ext cx="11593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vecteur ainsi formé contient des suites plus ou moins longues de coefficients de valeurs identiques, souvent nulles.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63352" y="4018227"/>
            <a:ext cx="11593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Plutôt que de coder systématiquement chaque coefficient à chaque fois qu’il apparaît,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63352" y="4616114"/>
            <a:ext cx="11593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codage à longueur variable (ou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Run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Coding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formate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le vecteur sous la forme de </a:t>
            </a:r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paires de données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63352" y="5091222"/>
            <a:ext cx="115721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 première donnée indique la valeur du coefficient, tandis que la seconde signale le nombre de fois qu’il se répète.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53480" y="5636860"/>
            <a:ext cx="1160316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Ce codage est plus communément appelé le RLC (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Run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Coding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fr-FR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8796" y="3025383"/>
            <a:ext cx="3213380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codage à longueur variable </a:t>
            </a:r>
            <a:endParaRPr lang="fr-FR" sz="16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3352" y="1688567"/>
            <a:ext cx="236699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codage entropique </a:t>
            </a:r>
            <a:endParaRPr lang="fr-FR" sz="16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755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2" grpId="0"/>
      <p:bldP spid="8" grpId="0"/>
      <p:bldP spid="9" grpId="0"/>
      <p:bldP spid="11" grpId="0"/>
      <p:bldP spid="12" grpId="0"/>
      <p:bldP spid="13" grpId="0"/>
      <p:bldP spid="15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4031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Compression d’image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13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1581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/>
              <a:t>Synthèse </a:t>
            </a:r>
            <a:endParaRPr lang="fr-FR" sz="2800" dirty="0"/>
          </a:p>
        </p:txBody>
      </p:sp>
      <p:sp>
        <p:nvSpPr>
          <p:cNvPr id="4" name="Rectangle 3"/>
          <p:cNvSpPr/>
          <p:nvPr/>
        </p:nvSpPr>
        <p:spPr>
          <a:xfrm>
            <a:off x="263352" y="1700808"/>
            <a:ext cx="993710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>
                <a:ea typeface="Times New Roman" panose="02020603050405020304" pitchFamily="18" charset="0"/>
              </a:rPr>
              <a:t>Pour résumer, les étapes utilisées pour la compression spatiale sont les suivantes :</a:t>
            </a:r>
            <a:endParaRPr lang="fr-FR" sz="2000" dirty="0">
              <a:ea typeface="SimSun" panose="02010600030101010101" pitchFamily="2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6074" y="2395883"/>
            <a:ext cx="6796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>
                <a:ea typeface="Times New Roman" panose="02020603050405020304" pitchFamily="18" charset="0"/>
              </a:rPr>
              <a:t>• Découpage de l’image en MB eux-mêmes subdivisés en blocs.</a:t>
            </a:r>
            <a:endParaRPr lang="fr-FR" sz="2000" dirty="0">
              <a:ea typeface="SimSun" panose="02010600030101010101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6074" y="3090958"/>
            <a:ext cx="60793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>
                <a:ea typeface="Times New Roman" panose="02020603050405020304" pitchFamily="18" charset="0"/>
              </a:rPr>
              <a:t>• Passage au domaine fréquentiel par le calcul de la DCT.</a:t>
            </a:r>
            <a:endParaRPr lang="fr-FR" sz="2000" dirty="0">
              <a:ea typeface="SimSun" panose="02010600030101010101" pitchFamily="2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6074" y="3799519"/>
            <a:ext cx="405418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>
                <a:ea typeface="Times New Roman" panose="02020603050405020304" pitchFamily="18" charset="0"/>
              </a:rPr>
              <a:t>• Quantification des coefficients DCT.</a:t>
            </a:r>
            <a:endParaRPr lang="fr-FR" sz="2000" dirty="0">
              <a:ea typeface="SimSun" panose="02010600030101010101" pitchFamily="2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6074" y="4508080"/>
            <a:ext cx="745611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>
                <a:ea typeface="Times New Roman" panose="02020603050405020304" pitchFamily="18" charset="0"/>
              </a:rPr>
              <a:t>• Balayage en zig </a:t>
            </a:r>
            <a:r>
              <a:rPr lang="fr-FR" sz="2000" dirty="0" err="1">
                <a:ea typeface="Times New Roman" panose="02020603050405020304" pitchFamily="18" charset="0"/>
              </a:rPr>
              <a:t>zag</a:t>
            </a:r>
            <a:r>
              <a:rPr lang="fr-FR" sz="2000" dirty="0">
                <a:ea typeface="Times New Roman" panose="02020603050405020304" pitchFamily="18" charset="0"/>
              </a:rPr>
              <a:t> transformant la matrice en vecteur de données.</a:t>
            </a:r>
            <a:endParaRPr lang="fr-FR" sz="2000" dirty="0">
              <a:ea typeface="SimSun" panose="02010600030101010101" pitchFamily="2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0832" y="5301208"/>
            <a:ext cx="116478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000" dirty="0">
                <a:ea typeface="Times New Roman" panose="02020603050405020304" pitchFamily="18" charset="0"/>
              </a:rPr>
              <a:t>• Codage à longueur variable et codage entropique pour exploiter les redondances statistiques du vecteur de données.</a:t>
            </a:r>
            <a:endParaRPr lang="fr-FR" sz="2000" dirty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16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4" grpId="0"/>
      <p:bldP spid="5" grpId="0"/>
      <p:bldP spid="7" grpId="0"/>
      <p:bldP spid="8" grpId="0"/>
      <p:bldP spid="9" grpId="0"/>
      <p:bldP spid="11" grpId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2476</TotalTime>
  <Words>741</Words>
  <Application>Microsoft Office PowerPoint</Application>
  <PresentationFormat>Widescreen</PresentationFormat>
  <Paragraphs>92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SimSun</vt:lpstr>
      <vt:lpstr>Arial</vt:lpstr>
      <vt:lpstr>Calibri</vt:lpstr>
      <vt:lpstr>Times New Roman</vt:lpstr>
      <vt:lpstr>Thème Office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Principe de formation  des images</dc:title>
  <dc:creator>ABDERRAHMANE</dc:creator>
  <cp:lastModifiedBy>USER</cp:lastModifiedBy>
  <cp:revision>637</cp:revision>
  <dcterms:created xsi:type="dcterms:W3CDTF">2019-10-21T15:42:17Z</dcterms:created>
  <dcterms:modified xsi:type="dcterms:W3CDTF">2025-11-02T04:49:36Z</dcterms:modified>
</cp:coreProperties>
</file>