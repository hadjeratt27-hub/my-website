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98" r:id="rId4"/>
    <p:sldId id="257" r:id="rId5"/>
    <p:sldId id="258" r:id="rId6"/>
    <p:sldId id="260" r:id="rId7"/>
    <p:sldId id="294" r:id="rId8"/>
    <p:sldId id="292" r:id="rId9"/>
    <p:sldId id="268" r:id="rId10"/>
    <p:sldId id="297" r:id="rId11"/>
    <p:sldId id="267" r:id="rId12"/>
    <p:sldId id="266" r:id="rId13"/>
    <p:sldId id="289" r:id="rId14"/>
    <p:sldId id="265" r:id="rId15"/>
    <p:sldId id="280" r:id="rId16"/>
    <p:sldId id="262" r:id="rId17"/>
    <p:sldId id="281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00" y="40"/>
      </p:cViewPr>
      <p:guideLst>
        <p:guide orient="horz" pos="2160"/>
        <p:guide pos="42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2C5BD-81D2-4478-947D-0CF649C0F131}" type="datetimeFigureOut">
              <a:rPr lang="fr-FR" smtClean="0"/>
              <a:pPr/>
              <a:t>28/09/2025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B3D1E-1984-4C2A-84EB-AF86A0E03A2A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B3D1E-1984-4C2A-84EB-AF86A0E03A2A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943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FAAAE-A621-4B08-B18F-BA9FEE10DE18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433-6F31-4019-B250-3DB8F5B37011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2413-EB11-4199-9884-9599F708EEA3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35A4B-34EB-4DF4-B8E5-2A70332B1E2E}" type="datetime1">
              <a:rPr lang="fr-FR" smtClean="0"/>
              <a:t>28/09/2025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607DC-7BEF-4DDE-966E-1945E28F4A9E}" type="datetime1">
              <a:rPr lang="fr-FR" smtClean="0"/>
              <a:t>28/09/2025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DAE07-2ACB-444D-93A2-F443DAC0FC10}" type="datetime1">
              <a:rPr lang="fr-FR" smtClean="0"/>
              <a:t>28/09/2025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EACA-09DF-4432-9126-30819EFC18B0}" type="datetime1">
              <a:rPr lang="fr-FR" smtClean="0"/>
              <a:t>28/09/2025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6EF65-68F7-48E8-9404-96FA0308B8E1}" type="datetime1">
              <a:rPr lang="fr-FR" smtClean="0"/>
              <a:t>28/09/2025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D492-2A21-4F15-8192-B4EDDF4936D3}" type="datetime1">
              <a:rPr lang="fr-FR" smtClean="0"/>
              <a:t>28/09/2025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5CB4-00C7-4A3E-ACD9-D2A9569C5039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2AECD-91DD-49B5-8DEB-E9111FD8A8C3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DF010-4304-4526-B2A4-6845503FCCF1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6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1428736"/>
            <a:ext cx="7500990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1199456" y="116632"/>
            <a:ext cx="8152378" cy="571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3200" b="1" dirty="0">
                <a:latin typeface="+mj-lt"/>
                <a:ea typeface="+mj-ea"/>
                <a:cs typeface="Times New Roman" pitchFamily="18" charset="0"/>
              </a:rPr>
              <a:t>Coupe d’un tube cathodique noir et blanc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767408" y="24951"/>
            <a:ext cx="7772400" cy="714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3200" b="1" dirty="0">
                <a:latin typeface="+mj-lt"/>
                <a:ea typeface="+mj-ea"/>
                <a:cs typeface="Times New Roman" pitchFamily="18" charset="0"/>
              </a:rPr>
              <a:t>Principe de formation  des images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2711624" y="866250"/>
            <a:ext cx="4032448" cy="5715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2800" dirty="0" smtClean="0">
                <a:latin typeface="+mj-lt"/>
                <a:ea typeface="+mj-ea"/>
                <a:cs typeface="Times New Roman" pitchFamily="18" charset="0"/>
              </a:rPr>
              <a:t>Notion de balayage</a:t>
            </a:r>
            <a:endParaRPr lang="fr-FR" sz="2800" dirty="0"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2</a:t>
            </a:fld>
            <a:endParaRPr lang="fr-BE" sz="1600" b="1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3352" y="1844824"/>
            <a:ext cx="116287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rgbClr val="000000"/>
                </a:solidFill>
              </a:rPr>
              <a:t>La norme vidéo précise déjà la notion de </a:t>
            </a:r>
            <a:r>
              <a:rPr lang="fr-FR" sz="2200" b="1" dirty="0" smtClean="0">
                <a:solidFill>
                  <a:srgbClr val="FF0000"/>
                </a:solidFill>
              </a:rPr>
              <a:t>lignes </a:t>
            </a:r>
            <a:r>
              <a:rPr lang="fr-FR" sz="2200" b="1" dirty="0">
                <a:solidFill>
                  <a:srgbClr val="FF0000"/>
                </a:solidFill>
              </a:rPr>
              <a:t>de balayage</a:t>
            </a:r>
            <a:r>
              <a:rPr lang="fr-FR" sz="2200" dirty="0">
                <a:solidFill>
                  <a:srgbClr val="000000"/>
                </a:solidFill>
              </a:rPr>
              <a:t>, c’est à dire </a:t>
            </a:r>
            <a:r>
              <a:rPr lang="fr-FR" sz="2200" b="1" dirty="0">
                <a:solidFill>
                  <a:srgbClr val="0070C0"/>
                </a:solidFill>
              </a:rPr>
              <a:t>la </a:t>
            </a:r>
            <a:r>
              <a:rPr lang="fr-FR" sz="2200" b="1" dirty="0" smtClean="0">
                <a:solidFill>
                  <a:srgbClr val="0070C0"/>
                </a:solidFill>
              </a:rPr>
              <a:t>discrétisation spatiale </a:t>
            </a:r>
            <a:r>
              <a:rPr lang="fr-FR" sz="2200" b="1" dirty="0">
                <a:solidFill>
                  <a:srgbClr val="0070C0"/>
                </a:solidFill>
              </a:rPr>
              <a:t>dans le sens vertical</a:t>
            </a:r>
            <a:r>
              <a:rPr lang="fr-FR" sz="2200" dirty="0">
                <a:solidFill>
                  <a:srgbClr val="000000"/>
                </a:solidFill>
              </a:rPr>
              <a:t>.</a:t>
            </a:r>
            <a:r>
              <a:rPr lang="fr-FR" sz="22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63351" y="3095078"/>
            <a:ext cx="1162878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rgbClr val="000000"/>
                </a:solidFill>
              </a:rPr>
              <a:t>Le nombre de lignes définies dans le standard CCIR ou NTSC </a:t>
            </a:r>
            <a:r>
              <a:rPr lang="fr-FR" sz="2200" dirty="0" smtClean="0">
                <a:solidFill>
                  <a:srgbClr val="000000"/>
                </a:solidFill>
              </a:rPr>
              <a:t>correspond au </a:t>
            </a:r>
            <a:r>
              <a:rPr lang="fr-FR" sz="2200" i="1" dirty="0">
                <a:solidFill>
                  <a:srgbClr val="000000"/>
                </a:solidFill>
              </a:rPr>
              <a:t>nombre total </a:t>
            </a:r>
            <a:r>
              <a:rPr lang="fr-FR" sz="2200" dirty="0">
                <a:solidFill>
                  <a:srgbClr val="000000"/>
                </a:solidFill>
              </a:rPr>
              <a:t>de lignes, 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767408" y="24951"/>
            <a:ext cx="7772400" cy="714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3200" b="1" dirty="0">
                <a:latin typeface="+mj-lt"/>
                <a:ea typeface="+mj-ea"/>
                <a:cs typeface="Times New Roman" pitchFamily="18" charset="0"/>
              </a:rPr>
              <a:t>Principe de formation  des images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2711624" y="836712"/>
            <a:ext cx="4032448" cy="5715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2800" dirty="0">
                <a:latin typeface="+mj-lt"/>
                <a:ea typeface="+mj-ea"/>
                <a:cs typeface="Times New Roman" pitchFamily="18" charset="0"/>
              </a:rPr>
              <a:t>Balayage progressive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9456" y="1797311"/>
            <a:ext cx="7929618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3095900" y="6189799"/>
            <a:ext cx="4136730" cy="571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000" dirty="0">
                <a:ea typeface="+mj-ea"/>
                <a:cs typeface="Times New Roman" pitchFamily="18" charset="0"/>
              </a:rPr>
              <a:t>L’image est constitué de 525 lignes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3</a:t>
            </a:fld>
            <a:endParaRPr lang="fr-BE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6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767408" y="46175"/>
            <a:ext cx="7772400" cy="714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3200" b="1" dirty="0">
                <a:latin typeface="+mj-lt"/>
                <a:ea typeface="+mj-ea"/>
                <a:cs typeface="Times New Roman" pitchFamily="18" charset="0"/>
              </a:rPr>
              <a:t>Principe de formation  des images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2155" y="1432227"/>
            <a:ext cx="9001125" cy="4593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re 1"/>
          <p:cNvSpPr txBox="1">
            <a:spLocks/>
          </p:cNvSpPr>
          <p:nvPr/>
        </p:nvSpPr>
        <p:spPr>
          <a:xfrm>
            <a:off x="2855640" y="846434"/>
            <a:ext cx="3456384" cy="571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2800" dirty="0">
                <a:latin typeface="+mj-lt"/>
                <a:ea typeface="+mj-ea"/>
                <a:cs typeface="Times New Roman" pitchFamily="18" charset="0"/>
              </a:rPr>
              <a:t>Balayage entrelacé </a:t>
            </a: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85998" y="6125519"/>
            <a:ext cx="5477954" cy="571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spcBef>
                <a:spcPct val="0"/>
              </a:spcBef>
              <a:defRPr/>
            </a:pPr>
            <a:r>
              <a:rPr lang="fr-FR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L’image</a:t>
            </a:r>
            <a:r>
              <a:rPr lang="fr-FR" sz="20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(frame) </a:t>
            </a:r>
            <a:r>
              <a:rPr lang="fr-FR" sz="2000" dirty="0">
                <a:latin typeface="Times New Roman" pitchFamily="18" charset="0"/>
                <a:ea typeface="+mj-ea"/>
                <a:cs typeface="Times New Roman" pitchFamily="18" charset="0"/>
              </a:rPr>
              <a:t>est constitué de Deux </a:t>
            </a:r>
            <a:r>
              <a:rPr lang="fr-FR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trames </a:t>
            </a:r>
            <a:r>
              <a:rPr lang="fr-FR" sz="20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(field</a:t>
            </a:r>
            <a:r>
              <a:rPr lang="fr-FR" sz="2000" dirty="0" smtClean="0">
                <a:latin typeface="Times New Roman" pitchFamily="18" charset="0"/>
                <a:ea typeface="+mj-ea"/>
                <a:cs typeface="Times New Roman" pitchFamily="18" charset="0"/>
              </a:rPr>
              <a:t>)</a:t>
            </a:r>
            <a:endParaRPr lang="fr-FR" sz="2000" dirty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7032104" y="6125518"/>
            <a:ext cx="4136730" cy="571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000" dirty="0">
                <a:latin typeface="Times New Roman" pitchFamily="18" charset="0"/>
                <a:ea typeface="+mj-ea"/>
                <a:cs typeface="Times New Roman" pitchFamily="18" charset="0"/>
              </a:rPr>
              <a:t>une trame impaire  et une trame paire </a:t>
            </a:r>
          </a:p>
        </p:txBody>
      </p:sp>
      <p:cxnSp>
        <p:nvCxnSpPr>
          <p:cNvPr id="3" name="Straight Arrow Connector 2"/>
          <p:cNvCxnSpPr>
            <a:stCxn id="8" idx="3"/>
            <a:endCxn id="9" idx="1"/>
          </p:cNvCxnSpPr>
          <p:nvPr/>
        </p:nvCxnSpPr>
        <p:spPr>
          <a:xfrm flipV="1">
            <a:off x="5663952" y="6411270"/>
            <a:ext cx="13681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4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9152" y="3717032"/>
            <a:ext cx="11233248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cs typeface="Times New Roman" panose="02020603050405020304" pitchFamily="18" charset="0"/>
              </a:rPr>
              <a:t>Dès 20 images par seconde, on crée l’impression </a:t>
            </a:r>
            <a:r>
              <a:rPr lang="fr-FR" sz="2400" dirty="0" smtClean="0">
                <a:cs typeface="Times New Roman" panose="02020603050405020304" pitchFamily="18" charset="0"/>
              </a:rPr>
              <a:t>d’un  </a:t>
            </a:r>
            <a:r>
              <a:rPr lang="fr-FR" sz="2400" dirty="0">
                <a:cs typeface="Times New Roman" panose="02020603050405020304" pitchFamily="18" charset="0"/>
              </a:rPr>
              <a:t>mouvement fluide des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3512" y="156906"/>
            <a:ext cx="53285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Caracteristiques de </a:t>
            </a:r>
            <a:r>
              <a:rPr lang="fr-FR" sz="3200" b="1" dirty="0" smtClean="0">
                <a:latin typeface="+mj-lt"/>
                <a:cs typeface="Times New Roman" pitchFamily="18" charset="0"/>
              </a:rPr>
              <a:t>la vidéo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6000" y="2392696"/>
            <a:ext cx="60019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anose="02020603050405020304" pitchFamily="18" charset="0"/>
              </a:rPr>
              <a:t>Faculté limitée de perception de </a:t>
            </a:r>
            <a:r>
              <a:rPr lang="fr-FR" sz="2400" dirty="0" smtClean="0">
                <a:cs typeface="Times New Roman" panose="02020603050405020304" pitchFamily="18" charset="0"/>
              </a:rPr>
              <a:t>l’œil </a:t>
            </a:r>
            <a:r>
              <a:rPr lang="fr-FR" sz="2400" dirty="0">
                <a:cs typeface="Times New Roman" panose="02020603050405020304" pitchFamily="18" charset="0"/>
              </a:rPr>
              <a:t>humain.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1666785"/>
            <a:ext cx="572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cs typeface="Times New Roman" panose="02020603050405020304" pitchFamily="18" charset="0"/>
              </a:rPr>
              <a:t>Une vidéo est une succession d’images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5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703512" y="127085"/>
            <a:ext cx="7200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Caractéristiques de  </a:t>
            </a:r>
            <a:r>
              <a:rPr lang="fr-FR" sz="3200" b="1" dirty="0" smtClean="0">
                <a:latin typeface="+mj-lt"/>
                <a:ea typeface="Times New Roman" pitchFamily="18" charset="0"/>
                <a:cs typeface="Times New Roman" pitchFamily="18" charset="0"/>
              </a:rPr>
              <a:t>la vidéo et </a:t>
            </a: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Balayage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20653"/>
              </p:ext>
            </p:extLst>
          </p:nvPr>
        </p:nvGraphicFramePr>
        <p:xfrm>
          <a:off x="695400" y="1087851"/>
          <a:ext cx="10513168" cy="5247810"/>
        </p:xfrm>
        <a:graphic>
          <a:graphicData uri="http://schemas.openxmlformats.org/drawingml/2006/table">
            <a:tbl>
              <a:tblPr/>
              <a:tblGrid>
                <a:gridCol w="2844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1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6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72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Standard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CCIR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B,G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FCC(USA)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 </a:t>
                      </a:r>
                      <a:r>
                        <a:rPr lang="fr-FR" sz="2000" b="1" dirty="0" smtClean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 M</a:t>
                      </a:r>
                      <a:endParaRPr lang="fr-FR" sz="2000" b="1" dirty="0"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Nombre de lignes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625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  525</a:t>
                      </a:r>
                      <a:endParaRPr lang="fr-FR" sz="2000" b="1" dirty="0"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Nombre de lignes utiles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580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480</a:t>
                      </a:r>
                      <a:endParaRPr lang="fr-FR" sz="2000" b="1" dirty="0"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fr-FR" sz="2000" b="1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Fréquence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Temps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Fréquence </a:t>
                      </a:r>
                      <a:endParaRPr lang="fr-FR" sz="2000" b="1" dirty="0"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Temps </a:t>
                      </a:r>
                      <a:endParaRPr lang="fr-FR" sz="2000" b="1" dirty="0"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Image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25 Hz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40 ms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30</a:t>
                      </a:r>
                      <a:r>
                        <a:rPr lang="fr-FR" sz="2000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Hz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33.33 ms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Trame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50 Hz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20 ms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60 Hz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16.67 ms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Fréquence Ligne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</a:t>
                      </a: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15625 Hz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</a:t>
                      </a:r>
                      <a:r>
                        <a:rPr lang="fr-FR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25 x</a:t>
                      </a:r>
                      <a:r>
                        <a:rPr lang="fr-FR" sz="2000" baseline="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625</a:t>
                      </a:r>
                      <a:endParaRPr lang="fr-FR" sz="2000" dirty="0">
                        <a:solidFill>
                          <a:srgbClr val="FF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64  µs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15750 Hz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   </a:t>
                      </a:r>
                      <a:r>
                        <a:rPr lang="fr-FR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30 x</a:t>
                      </a:r>
                      <a:r>
                        <a:rPr lang="fr-FR" sz="2000" baseline="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 525</a:t>
                      </a:r>
                      <a:endParaRPr lang="fr-FR" sz="2000" dirty="0" smtClean="0">
                        <a:solidFill>
                          <a:srgbClr val="FF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SimSun"/>
                          <a:cs typeface="Times New Roman" pitchFamily="18" charset="0"/>
                        </a:rPr>
                        <a:t>63.49  µs</a:t>
                      </a:r>
                      <a:endParaRPr lang="fr-FR" sz="2000" dirty="0">
                        <a:solidFill>
                          <a:srgbClr val="000000"/>
                        </a:solidFill>
                        <a:latin typeface="Times New Roman" pitchFamily="18" charset="0"/>
                        <a:ea typeface="SimSun"/>
                        <a:cs typeface="Times New Roman" pitchFamily="18" charset="0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6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5489" y="82211"/>
            <a:ext cx="4552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Signal vidéo composite </a:t>
            </a:r>
          </a:p>
        </p:txBody>
      </p:sp>
      <p:pic>
        <p:nvPicPr>
          <p:cNvPr id="3" name="Imag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0" y="764704"/>
            <a:ext cx="7526640" cy="2987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983432" y="3820246"/>
            <a:ext cx="71734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u="sng" dirty="0">
                <a:cs typeface="Times New Roman" pitchFamily="18" charset="0"/>
              </a:rPr>
              <a:t>Intervalle de suppression horizontale(Horizontal </a:t>
            </a:r>
            <a:r>
              <a:rPr lang="fr-FR" sz="2000" u="sng" dirty="0" err="1">
                <a:cs typeface="Times New Roman" pitchFamily="18" charset="0"/>
              </a:rPr>
              <a:t>blanking</a:t>
            </a:r>
            <a:r>
              <a:rPr lang="fr-FR" sz="2000" u="sng" dirty="0">
                <a:cs typeface="Times New Roman" pitchFamily="18" charset="0"/>
              </a:rPr>
              <a:t> </a:t>
            </a:r>
            <a:r>
              <a:rPr lang="fr-FR" sz="2000" u="sng" dirty="0" err="1">
                <a:cs typeface="Times New Roman" pitchFamily="18" charset="0"/>
              </a:rPr>
              <a:t>interval</a:t>
            </a:r>
            <a:r>
              <a:rPr lang="fr-FR" sz="2000" u="sng" dirty="0">
                <a:cs typeface="Times New Roman" pitchFamily="18" charset="0"/>
              </a:rPr>
              <a:t>) :</a:t>
            </a:r>
          </a:p>
        </p:txBody>
      </p:sp>
      <p:sp>
        <p:nvSpPr>
          <p:cNvPr id="5" name="Rectangle 4"/>
          <p:cNvSpPr/>
          <p:nvPr/>
        </p:nvSpPr>
        <p:spPr>
          <a:xfrm>
            <a:off x="2166911" y="4149080"/>
            <a:ext cx="16063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000" dirty="0">
                <a:cs typeface="Times New Roman" pitchFamily="18" charset="0"/>
              </a:rPr>
              <a:t>L’amorçage 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6910" y="4509120"/>
            <a:ext cx="40503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000" dirty="0">
                <a:cs typeface="Times New Roman" pitchFamily="18" charset="0"/>
              </a:rPr>
              <a:t>Le top de  synchronisation de ligne 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6910" y="4869160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000" dirty="0">
                <a:cs typeface="Times New Roman" pitchFamily="18" charset="0"/>
              </a:rPr>
              <a:t>Le palier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0440" y="5153565"/>
            <a:ext cx="364696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sz="2000" u="sng" dirty="0">
                <a:ea typeface="SimSun" panose="02010600030101010101" pitchFamily="2" charset="-122"/>
              </a:rPr>
              <a:t>La ligne active (active line time) :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1308" y="5727185"/>
            <a:ext cx="77009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ea typeface="SimSun" panose="02010600030101010101" pitchFamily="2" charset="-122"/>
              </a:rPr>
              <a:t>L’amplitude du signal évolue proportionnellement à la luminance du pixel analysé dans la ligne</a:t>
            </a:r>
            <a:endParaRPr lang="fr-FR" sz="20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7</a:t>
            </a:fld>
            <a:endParaRPr lang="fr-BE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03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28098" y="116632"/>
            <a:ext cx="62681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Signal vidéo N&amp;B composite(CCIR)</a:t>
            </a:r>
            <a:endParaRPr lang="fr-FR" sz="3200" b="1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448" y="1039796"/>
            <a:ext cx="10081120" cy="530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8</a:t>
            </a:fld>
            <a:endParaRPr lang="fr-BE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05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3512" y="123208"/>
            <a:ext cx="50857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Synchronisation trame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5440" y="1772816"/>
            <a:ext cx="65916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cs typeface="Times New Roman" panose="02020603050405020304" pitchFamily="18" charset="0"/>
              </a:rPr>
              <a:t>La "synchro trame" est la référence des temps d'une image. </a:t>
            </a:r>
          </a:p>
        </p:txBody>
      </p:sp>
      <p:pic>
        <p:nvPicPr>
          <p:cNvPr id="6" name="Imag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1059" y="2924944"/>
            <a:ext cx="8715436" cy="2366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9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38742" y="129202"/>
            <a:ext cx="58326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Bande passante du signal vidéo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487179" y="1374782"/>
            <a:ext cx="4564515" cy="1247152"/>
            <a:chOff x="3304" y="13302"/>
            <a:chExt cx="7187" cy="1594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304" y="13820"/>
              <a:ext cx="3462" cy="329"/>
              <a:chOff x="1242" y="13647"/>
              <a:chExt cx="3462" cy="329"/>
            </a:xfrm>
          </p:grpSpPr>
          <p:grpSp>
            <p:nvGrpSpPr>
              <p:cNvPr id="21" name="Group 4"/>
              <p:cNvGrpSpPr>
                <a:grpSpLocks/>
              </p:cNvGrpSpPr>
              <p:nvPr/>
            </p:nvGrpSpPr>
            <p:grpSpPr bwMode="auto">
              <a:xfrm>
                <a:off x="1242" y="13647"/>
                <a:ext cx="688" cy="311"/>
                <a:chOff x="1242" y="13647"/>
                <a:chExt cx="688" cy="311"/>
              </a:xfrm>
            </p:grpSpPr>
            <p:grpSp>
              <p:nvGrpSpPr>
                <p:cNvPr id="50" name="Group 5"/>
                <p:cNvGrpSpPr>
                  <a:grpSpLocks/>
                </p:cNvGrpSpPr>
                <p:nvPr/>
              </p:nvGrpSpPr>
              <p:grpSpPr bwMode="auto">
                <a:xfrm>
                  <a:off x="1242" y="13647"/>
                  <a:ext cx="344" cy="310"/>
                  <a:chOff x="1242" y="13647"/>
                  <a:chExt cx="344" cy="310"/>
                </a:xfrm>
              </p:grpSpPr>
              <p:sp>
                <p:nvSpPr>
                  <p:cNvPr id="54" name="AutoShape 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42" y="13647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55" name="AutoShap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86" y="13666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56" name="AutoShape 8"/>
                  <p:cNvSpPr>
                    <a:spLocks noChangeShapeType="1"/>
                  </p:cNvSpPr>
                  <p:nvPr/>
                </p:nvSpPr>
                <p:spPr bwMode="auto">
                  <a:xfrm>
                    <a:off x="1242" y="13666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  <p:grpSp>
              <p:nvGrpSpPr>
                <p:cNvPr id="51" name="Group 9"/>
                <p:cNvGrpSpPr>
                  <a:grpSpLocks/>
                </p:cNvGrpSpPr>
                <p:nvPr/>
              </p:nvGrpSpPr>
              <p:grpSpPr bwMode="auto">
                <a:xfrm>
                  <a:off x="1586" y="13659"/>
                  <a:ext cx="344" cy="299"/>
                  <a:chOff x="1586" y="13659"/>
                  <a:chExt cx="344" cy="299"/>
                </a:xfrm>
              </p:grpSpPr>
              <p:sp>
                <p:nvSpPr>
                  <p:cNvPr id="52" name="AutoShap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0" y="13659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53" name="AutoShape 11"/>
                  <p:cNvSpPr>
                    <a:spLocks noChangeShapeType="1"/>
                  </p:cNvSpPr>
                  <p:nvPr/>
                </p:nvSpPr>
                <p:spPr bwMode="auto">
                  <a:xfrm>
                    <a:off x="1586" y="13958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</p:grpSp>
          <p:grpSp>
            <p:nvGrpSpPr>
              <p:cNvPr id="22" name="Group 12"/>
              <p:cNvGrpSpPr>
                <a:grpSpLocks/>
              </p:cNvGrpSpPr>
              <p:nvPr/>
            </p:nvGrpSpPr>
            <p:grpSpPr bwMode="auto">
              <a:xfrm>
                <a:off x="1937" y="13665"/>
                <a:ext cx="688" cy="299"/>
                <a:chOff x="2067" y="13665"/>
                <a:chExt cx="688" cy="299"/>
              </a:xfrm>
            </p:grpSpPr>
            <p:grpSp>
              <p:nvGrpSpPr>
                <p:cNvPr id="44" name="Group 13"/>
                <p:cNvGrpSpPr>
                  <a:grpSpLocks/>
                </p:cNvGrpSpPr>
                <p:nvPr/>
              </p:nvGrpSpPr>
              <p:grpSpPr bwMode="auto">
                <a:xfrm>
                  <a:off x="2411" y="13665"/>
                  <a:ext cx="344" cy="299"/>
                  <a:chOff x="1586" y="13659"/>
                  <a:chExt cx="344" cy="299"/>
                </a:xfrm>
              </p:grpSpPr>
              <p:sp>
                <p:nvSpPr>
                  <p:cNvPr id="48" name="AutoShape 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0" y="13659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49" name="AutoShape 15"/>
                  <p:cNvSpPr>
                    <a:spLocks noChangeShapeType="1"/>
                  </p:cNvSpPr>
                  <p:nvPr/>
                </p:nvSpPr>
                <p:spPr bwMode="auto">
                  <a:xfrm>
                    <a:off x="1586" y="13958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  <p:grpSp>
              <p:nvGrpSpPr>
                <p:cNvPr id="45" name="Group 16"/>
                <p:cNvGrpSpPr>
                  <a:grpSpLocks/>
                </p:cNvGrpSpPr>
                <p:nvPr/>
              </p:nvGrpSpPr>
              <p:grpSpPr bwMode="auto">
                <a:xfrm>
                  <a:off x="2067" y="13672"/>
                  <a:ext cx="344" cy="291"/>
                  <a:chOff x="2067" y="13672"/>
                  <a:chExt cx="344" cy="291"/>
                </a:xfrm>
              </p:grpSpPr>
              <p:sp>
                <p:nvSpPr>
                  <p:cNvPr id="46" name="AutoShap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1" y="13672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47" name="AutoShape 18"/>
                  <p:cNvSpPr>
                    <a:spLocks noChangeShapeType="1"/>
                  </p:cNvSpPr>
                  <p:nvPr/>
                </p:nvSpPr>
                <p:spPr bwMode="auto">
                  <a:xfrm>
                    <a:off x="2067" y="13672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</p:grpSp>
          <p:grpSp>
            <p:nvGrpSpPr>
              <p:cNvPr id="23" name="Group 19"/>
              <p:cNvGrpSpPr>
                <a:grpSpLocks/>
              </p:cNvGrpSpPr>
              <p:nvPr/>
            </p:nvGrpSpPr>
            <p:grpSpPr bwMode="auto">
              <a:xfrm>
                <a:off x="2632" y="13671"/>
                <a:ext cx="688" cy="299"/>
                <a:chOff x="2067" y="13665"/>
                <a:chExt cx="688" cy="299"/>
              </a:xfrm>
            </p:grpSpPr>
            <p:grpSp>
              <p:nvGrpSpPr>
                <p:cNvPr id="38" name="Group 20"/>
                <p:cNvGrpSpPr>
                  <a:grpSpLocks/>
                </p:cNvGrpSpPr>
                <p:nvPr/>
              </p:nvGrpSpPr>
              <p:grpSpPr bwMode="auto">
                <a:xfrm>
                  <a:off x="2411" y="13665"/>
                  <a:ext cx="344" cy="299"/>
                  <a:chOff x="1586" y="13659"/>
                  <a:chExt cx="344" cy="299"/>
                </a:xfrm>
              </p:grpSpPr>
              <p:sp>
                <p:nvSpPr>
                  <p:cNvPr id="42" name="AutoShap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0" y="13659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43" name="AutoShape 22"/>
                  <p:cNvSpPr>
                    <a:spLocks noChangeShapeType="1"/>
                  </p:cNvSpPr>
                  <p:nvPr/>
                </p:nvSpPr>
                <p:spPr bwMode="auto">
                  <a:xfrm>
                    <a:off x="1586" y="13958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  <p:grpSp>
              <p:nvGrpSpPr>
                <p:cNvPr id="39" name="Group 23"/>
                <p:cNvGrpSpPr>
                  <a:grpSpLocks/>
                </p:cNvGrpSpPr>
                <p:nvPr/>
              </p:nvGrpSpPr>
              <p:grpSpPr bwMode="auto">
                <a:xfrm>
                  <a:off x="2067" y="13672"/>
                  <a:ext cx="344" cy="291"/>
                  <a:chOff x="2067" y="13672"/>
                  <a:chExt cx="344" cy="291"/>
                </a:xfrm>
              </p:grpSpPr>
              <p:sp>
                <p:nvSpPr>
                  <p:cNvPr id="40" name="AutoShap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1" y="13672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41" name="AutoShape 25"/>
                  <p:cNvSpPr>
                    <a:spLocks noChangeShapeType="1"/>
                  </p:cNvSpPr>
                  <p:nvPr/>
                </p:nvSpPr>
                <p:spPr bwMode="auto">
                  <a:xfrm>
                    <a:off x="2067" y="13672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</p:grpSp>
          <p:grpSp>
            <p:nvGrpSpPr>
              <p:cNvPr id="24" name="Group 26"/>
              <p:cNvGrpSpPr>
                <a:grpSpLocks/>
              </p:cNvGrpSpPr>
              <p:nvPr/>
            </p:nvGrpSpPr>
            <p:grpSpPr bwMode="auto">
              <a:xfrm>
                <a:off x="3334" y="13671"/>
                <a:ext cx="688" cy="299"/>
                <a:chOff x="2067" y="13665"/>
                <a:chExt cx="688" cy="299"/>
              </a:xfrm>
            </p:grpSpPr>
            <p:grpSp>
              <p:nvGrpSpPr>
                <p:cNvPr id="32" name="Group 27"/>
                <p:cNvGrpSpPr>
                  <a:grpSpLocks/>
                </p:cNvGrpSpPr>
                <p:nvPr/>
              </p:nvGrpSpPr>
              <p:grpSpPr bwMode="auto">
                <a:xfrm>
                  <a:off x="2411" y="13665"/>
                  <a:ext cx="344" cy="299"/>
                  <a:chOff x="1586" y="13659"/>
                  <a:chExt cx="344" cy="299"/>
                </a:xfrm>
              </p:grpSpPr>
              <p:sp>
                <p:nvSpPr>
                  <p:cNvPr id="36" name="AutoShape 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0" y="13659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37" name="AutoShape 29"/>
                  <p:cNvSpPr>
                    <a:spLocks noChangeShapeType="1"/>
                  </p:cNvSpPr>
                  <p:nvPr/>
                </p:nvSpPr>
                <p:spPr bwMode="auto">
                  <a:xfrm>
                    <a:off x="1586" y="13958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  <p:grpSp>
              <p:nvGrpSpPr>
                <p:cNvPr id="33" name="Group 30"/>
                <p:cNvGrpSpPr>
                  <a:grpSpLocks/>
                </p:cNvGrpSpPr>
                <p:nvPr/>
              </p:nvGrpSpPr>
              <p:grpSpPr bwMode="auto">
                <a:xfrm>
                  <a:off x="2067" y="13672"/>
                  <a:ext cx="344" cy="291"/>
                  <a:chOff x="2067" y="13672"/>
                  <a:chExt cx="344" cy="291"/>
                </a:xfrm>
              </p:grpSpPr>
              <p:sp>
                <p:nvSpPr>
                  <p:cNvPr id="34" name="AutoShape 3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1" y="13672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35" name="AutoShape 32"/>
                  <p:cNvSpPr>
                    <a:spLocks noChangeShapeType="1"/>
                  </p:cNvSpPr>
                  <p:nvPr/>
                </p:nvSpPr>
                <p:spPr bwMode="auto">
                  <a:xfrm>
                    <a:off x="2067" y="13672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</p:grpSp>
          <p:grpSp>
            <p:nvGrpSpPr>
              <p:cNvPr id="25" name="Group 33"/>
              <p:cNvGrpSpPr>
                <a:grpSpLocks/>
              </p:cNvGrpSpPr>
              <p:nvPr/>
            </p:nvGrpSpPr>
            <p:grpSpPr bwMode="auto">
              <a:xfrm>
                <a:off x="4016" y="13677"/>
                <a:ext cx="688" cy="299"/>
                <a:chOff x="2067" y="13665"/>
                <a:chExt cx="688" cy="299"/>
              </a:xfrm>
            </p:grpSpPr>
            <p:grpSp>
              <p:nvGrpSpPr>
                <p:cNvPr id="26" name="Group 34"/>
                <p:cNvGrpSpPr>
                  <a:grpSpLocks/>
                </p:cNvGrpSpPr>
                <p:nvPr/>
              </p:nvGrpSpPr>
              <p:grpSpPr bwMode="auto">
                <a:xfrm>
                  <a:off x="2411" y="13665"/>
                  <a:ext cx="344" cy="299"/>
                  <a:chOff x="1586" y="13659"/>
                  <a:chExt cx="344" cy="299"/>
                </a:xfrm>
              </p:grpSpPr>
              <p:sp>
                <p:nvSpPr>
                  <p:cNvPr id="30" name="AutoShap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0" y="13659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31" name="AutoShape 36"/>
                  <p:cNvSpPr>
                    <a:spLocks noChangeShapeType="1"/>
                  </p:cNvSpPr>
                  <p:nvPr/>
                </p:nvSpPr>
                <p:spPr bwMode="auto">
                  <a:xfrm>
                    <a:off x="1586" y="13958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  <p:grpSp>
              <p:nvGrpSpPr>
                <p:cNvPr id="27" name="Group 37"/>
                <p:cNvGrpSpPr>
                  <a:grpSpLocks/>
                </p:cNvGrpSpPr>
                <p:nvPr/>
              </p:nvGrpSpPr>
              <p:grpSpPr bwMode="auto">
                <a:xfrm>
                  <a:off x="2067" y="13672"/>
                  <a:ext cx="344" cy="291"/>
                  <a:chOff x="2067" y="13672"/>
                  <a:chExt cx="344" cy="291"/>
                </a:xfrm>
              </p:grpSpPr>
              <p:sp>
                <p:nvSpPr>
                  <p:cNvPr id="28" name="AutoShap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1" y="13672"/>
                    <a:ext cx="0" cy="29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  <p:sp>
                <p:nvSpPr>
                  <p:cNvPr id="29" name="AutoShape 39"/>
                  <p:cNvSpPr>
                    <a:spLocks noChangeShapeType="1"/>
                  </p:cNvSpPr>
                  <p:nvPr/>
                </p:nvSpPr>
                <p:spPr bwMode="auto">
                  <a:xfrm>
                    <a:off x="2067" y="13672"/>
                    <a:ext cx="34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 sz="2000"/>
                  </a:p>
                </p:txBody>
              </p:sp>
            </p:grpSp>
          </p:grp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6240" y="13302"/>
              <a:ext cx="4251" cy="1056"/>
              <a:chOff x="6240" y="13302"/>
              <a:chExt cx="4251" cy="1056"/>
            </a:xfrm>
          </p:grpSpPr>
          <p:grpSp>
            <p:nvGrpSpPr>
              <p:cNvPr id="15" name="Group 41"/>
              <p:cNvGrpSpPr>
                <a:grpSpLocks/>
              </p:cNvGrpSpPr>
              <p:nvPr/>
            </p:nvGrpSpPr>
            <p:grpSpPr bwMode="auto">
              <a:xfrm>
                <a:off x="6240" y="13621"/>
                <a:ext cx="1251" cy="529"/>
                <a:chOff x="6240" y="13621"/>
                <a:chExt cx="1251" cy="529"/>
              </a:xfrm>
            </p:grpSpPr>
            <p:sp>
              <p:nvSpPr>
                <p:cNvPr id="19" name="AutoShape 42"/>
                <p:cNvSpPr>
                  <a:spLocks noChangeShapeType="1"/>
                </p:cNvSpPr>
                <p:nvPr/>
              </p:nvSpPr>
              <p:spPr bwMode="auto">
                <a:xfrm flipH="1">
                  <a:off x="6240" y="13621"/>
                  <a:ext cx="896" cy="23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000"/>
                </a:p>
              </p:txBody>
            </p:sp>
            <p:sp>
              <p:nvSpPr>
                <p:cNvPr id="20" name="AutoShape 43"/>
                <p:cNvSpPr>
                  <a:spLocks noChangeShapeType="1"/>
                </p:cNvSpPr>
                <p:nvPr/>
              </p:nvSpPr>
              <p:spPr bwMode="auto">
                <a:xfrm flipH="1">
                  <a:off x="6636" y="13924"/>
                  <a:ext cx="855" cy="22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000"/>
                </a:p>
              </p:txBody>
            </p:sp>
          </p:grpSp>
          <p:grpSp>
            <p:nvGrpSpPr>
              <p:cNvPr id="16" name="Group 44"/>
              <p:cNvGrpSpPr>
                <a:grpSpLocks/>
              </p:cNvGrpSpPr>
              <p:nvPr/>
            </p:nvGrpSpPr>
            <p:grpSpPr bwMode="auto">
              <a:xfrm>
                <a:off x="7412" y="13302"/>
                <a:ext cx="3079" cy="1056"/>
                <a:chOff x="7412" y="13302"/>
                <a:chExt cx="3079" cy="1056"/>
              </a:xfrm>
            </p:grpSpPr>
            <p:sp>
              <p:nvSpPr>
                <p:cNvPr id="1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7412" y="13302"/>
                  <a:ext cx="3061" cy="25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ts val="800"/>
                    </a:spcAft>
                  </a:pPr>
                  <a:r>
                    <a:rPr lang="fr-FR" altLang="fr-FR" sz="2000" dirty="0">
                      <a:ea typeface="Arial" panose="020B0604020202020204" pitchFamily="34" charset="0"/>
                    </a:rPr>
                    <a:t>Niveau du blanc</a:t>
                  </a:r>
                  <a:endParaRPr lang="fr-FR" altLang="fr-FR" sz="2000" dirty="0"/>
                </a:p>
              </p:txBody>
            </p:sp>
            <p:sp>
              <p:nvSpPr>
                <p:cNvPr id="18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7620" y="13815"/>
                  <a:ext cx="2871" cy="54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ts val="800"/>
                    </a:spcAft>
                  </a:pPr>
                  <a:r>
                    <a:rPr lang="fr-FR" altLang="fr-FR" sz="2000" dirty="0">
                      <a:ea typeface="Arial" panose="020B0604020202020204" pitchFamily="34" charset="0"/>
                    </a:rPr>
                    <a:t>Niveau du noir</a:t>
                  </a:r>
                  <a:endParaRPr lang="fr-FR" altLang="fr-FR" sz="2000" dirty="0"/>
                </a:p>
              </p:txBody>
            </p:sp>
          </p:grp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3992" y="14111"/>
              <a:ext cx="702" cy="785"/>
              <a:chOff x="3992" y="14111"/>
              <a:chExt cx="702" cy="785"/>
            </a:xfrm>
          </p:grpSpPr>
          <p:grpSp>
            <p:nvGrpSpPr>
              <p:cNvPr id="10" name="Group 48"/>
              <p:cNvGrpSpPr>
                <a:grpSpLocks/>
              </p:cNvGrpSpPr>
              <p:nvPr/>
            </p:nvGrpSpPr>
            <p:grpSpPr bwMode="auto">
              <a:xfrm>
                <a:off x="3992" y="14111"/>
                <a:ext cx="702" cy="500"/>
                <a:chOff x="3992" y="14111"/>
                <a:chExt cx="702" cy="500"/>
              </a:xfrm>
            </p:grpSpPr>
            <p:sp>
              <p:nvSpPr>
                <p:cNvPr id="12" name="AutoShape 49"/>
                <p:cNvSpPr>
                  <a:spLocks noChangeShapeType="1"/>
                </p:cNvSpPr>
                <p:nvPr/>
              </p:nvSpPr>
              <p:spPr bwMode="auto">
                <a:xfrm>
                  <a:off x="3999" y="14466"/>
                  <a:ext cx="695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000"/>
                </a:p>
              </p:txBody>
            </p:sp>
            <p:sp>
              <p:nvSpPr>
                <p:cNvPr id="13" name="AutoShape 50"/>
                <p:cNvSpPr>
                  <a:spLocks noChangeShapeType="1"/>
                </p:cNvSpPr>
                <p:nvPr/>
              </p:nvSpPr>
              <p:spPr bwMode="auto">
                <a:xfrm>
                  <a:off x="3992" y="14111"/>
                  <a:ext cx="7" cy="50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000"/>
                </a:p>
              </p:txBody>
            </p:sp>
            <p:sp>
              <p:nvSpPr>
                <p:cNvPr id="14" name="AutoShape 51"/>
                <p:cNvSpPr>
                  <a:spLocks noChangeShapeType="1"/>
                </p:cNvSpPr>
                <p:nvPr/>
              </p:nvSpPr>
              <p:spPr bwMode="auto">
                <a:xfrm>
                  <a:off x="4680" y="14149"/>
                  <a:ext cx="14" cy="46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2000"/>
                </a:p>
              </p:txBody>
            </p:sp>
          </p:grpSp>
          <p:sp>
            <p:nvSpPr>
              <p:cNvPr id="11" name="Text Box 52"/>
              <p:cNvSpPr txBox="1">
                <a:spLocks noChangeArrowheads="1"/>
              </p:cNvSpPr>
              <p:nvPr/>
            </p:nvSpPr>
            <p:spPr bwMode="auto">
              <a:xfrm>
                <a:off x="4118" y="14545"/>
                <a:ext cx="472" cy="35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ts val="800"/>
                  </a:spcAft>
                </a:pPr>
                <a:r>
                  <a:rPr lang="fr-FR" altLang="fr-FR" sz="2000">
                    <a:ea typeface="Arial" panose="020B0604020202020204" pitchFamily="34" charset="0"/>
                  </a:rPr>
                  <a:t>T</a:t>
                </a:r>
                <a:endParaRPr lang="fr-FR" altLang="fr-FR" sz="2000"/>
              </a:p>
            </p:txBody>
          </p:sp>
        </p:grpSp>
      </p:grpSp>
      <p:sp>
        <p:nvSpPr>
          <p:cNvPr id="57" name="Rectangle 56"/>
          <p:cNvSpPr/>
          <p:nvPr/>
        </p:nvSpPr>
        <p:spPr>
          <a:xfrm>
            <a:off x="630184" y="890847"/>
            <a:ext cx="36921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000" dirty="0">
                <a:solidFill>
                  <a:srgbClr val="000000"/>
                </a:solidFill>
                <a:ea typeface="SimSun" panose="02010600030101010101" pitchFamily="2" charset="-122"/>
              </a:rPr>
              <a:t>Signal correspondant à un damier</a:t>
            </a:r>
            <a:endParaRPr lang="fr-FR" sz="2000" dirty="0">
              <a:ea typeface="SimSun" panose="02010600030101010101" pitchFamily="2" charset="-122"/>
            </a:endParaRPr>
          </a:p>
        </p:txBody>
      </p:sp>
      <p:graphicFrame>
        <p:nvGraphicFramePr>
          <p:cNvPr id="59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501564"/>
              </p:ext>
            </p:extLst>
          </p:nvPr>
        </p:nvGraphicFramePr>
        <p:xfrm>
          <a:off x="1304613" y="2480824"/>
          <a:ext cx="1695043" cy="640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1" name="Equation" r:id="rId3" imgW="1066680" imgH="393480" progId="Equation.3">
                  <p:embed/>
                </p:oleObj>
              </mc:Choice>
              <mc:Fallback>
                <p:oleObj name="Equation" r:id="rId3" imgW="1066680" imgH="39348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613" y="2480824"/>
                        <a:ext cx="1695043" cy="6406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879202"/>
              </p:ext>
            </p:extLst>
          </p:nvPr>
        </p:nvGraphicFramePr>
        <p:xfrm>
          <a:off x="983432" y="3488340"/>
          <a:ext cx="327627" cy="327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2" name="Equation" r:id="rId5" imgW="177492" imgH="177492" progId="Equation.3">
                  <p:embed/>
                </p:oleObj>
              </mc:Choice>
              <mc:Fallback>
                <p:oleObj name="Equation" r:id="rId5" imgW="177492" imgH="177492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488340"/>
                        <a:ext cx="327627" cy="3276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692046"/>
              </p:ext>
            </p:extLst>
          </p:nvPr>
        </p:nvGraphicFramePr>
        <p:xfrm>
          <a:off x="983432" y="3975368"/>
          <a:ext cx="479425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3" name="Equation" r:id="rId7" imgW="279360" imgH="164880" progId="Equation.3">
                  <p:embed/>
                </p:oleObj>
              </mc:Choice>
              <mc:Fallback>
                <p:oleObj name="Equation" r:id="rId7" imgW="279360" imgH="16488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975368"/>
                        <a:ext cx="479425" cy="258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120933"/>
              </p:ext>
            </p:extLst>
          </p:nvPr>
        </p:nvGraphicFramePr>
        <p:xfrm>
          <a:off x="996993" y="4479798"/>
          <a:ext cx="452301" cy="372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4" name="Equation" r:id="rId9" imgW="253780" imgH="203024" progId="Equation.3">
                  <p:embed/>
                </p:oleObj>
              </mc:Choice>
              <mc:Fallback>
                <p:oleObj name="Equation" r:id="rId9" imgW="253780" imgH="203024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93" y="4479798"/>
                        <a:ext cx="452301" cy="3721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59"/>
          <p:cNvSpPr>
            <a:spLocks noChangeArrowheads="1"/>
          </p:cNvSpPr>
          <p:nvPr/>
        </p:nvSpPr>
        <p:spPr bwMode="auto">
          <a:xfrm>
            <a:off x="1963978" y="3442852"/>
            <a:ext cx="53821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00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Nombre de lignes horizontale  de </a:t>
            </a:r>
            <a:r>
              <a:rPr lang="fr-FR" altLang="zh-CN" sz="2000" dirty="0" smtClean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l’image      </a:t>
            </a:r>
            <a:endParaRPr lang="fr-FR" altLang="zh-CN" sz="2000" dirty="0"/>
          </a:p>
        </p:txBody>
      </p:sp>
      <p:sp>
        <p:nvSpPr>
          <p:cNvPr id="65" name="Rectangle 60"/>
          <p:cNvSpPr>
            <a:spLocks noChangeArrowheads="1"/>
          </p:cNvSpPr>
          <p:nvPr/>
        </p:nvSpPr>
        <p:spPr bwMode="auto">
          <a:xfrm>
            <a:off x="1936360" y="3941760"/>
            <a:ext cx="72806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000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Résolution horizontale de l’image (Nombre de lignes verticale)</a:t>
            </a:r>
            <a:endParaRPr lang="fr-FR" altLang="zh-CN" sz="2000" dirty="0"/>
          </a:p>
        </p:txBody>
      </p:sp>
      <p:sp>
        <p:nvSpPr>
          <p:cNvPr id="67" name="Rectangle 66"/>
          <p:cNvSpPr/>
          <p:nvPr/>
        </p:nvSpPr>
        <p:spPr>
          <a:xfrm>
            <a:off x="2081694" y="4461587"/>
            <a:ext cx="59052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000000"/>
                </a:solidFill>
                <a:ea typeface="SimSun" panose="02010600030101010101" pitchFamily="2" charset="-122"/>
              </a:rPr>
              <a:t>Nombre d’images  par seconde (frame per seconde)</a:t>
            </a:r>
            <a:endParaRPr lang="fr-FR" sz="2000" dirty="0"/>
          </a:p>
        </p:txBody>
      </p:sp>
      <p:sp>
        <p:nvSpPr>
          <p:cNvPr id="68" name="Rectangle 67"/>
          <p:cNvSpPr/>
          <p:nvPr/>
        </p:nvSpPr>
        <p:spPr>
          <a:xfrm>
            <a:off x="926166" y="5270108"/>
            <a:ext cx="2484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rgbClr val="000000"/>
                </a:solidFill>
                <a:ea typeface="SimSun" panose="02010600030101010101" pitchFamily="2" charset="-122"/>
              </a:rPr>
              <a:t>Pour le standard CCIR </a:t>
            </a:r>
            <a:endParaRPr lang="fr-FR" sz="2000" dirty="0"/>
          </a:p>
        </p:txBody>
      </p:sp>
      <p:graphicFrame>
        <p:nvGraphicFramePr>
          <p:cNvPr id="70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82643"/>
              </p:ext>
            </p:extLst>
          </p:nvPr>
        </p:nvGraphicFramePr>
        <p:xfrm>
          <a:off x="3973670" y="5297074"/>
          <a:ext cx="754178" cy="26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5" name="Equation" r:id="rId11" imgW="558558" imgH="177723" progId="Equation.3">
                  <p:embed/>
                </p:oleObj>
              </mc:Choice>
              <mc:Fallback>
                <p:oleObj name="Equation" r:id="rId11" imgW="558558" imgH="177723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670" y="5297074"/>
                        <a:ext cx="754178" cy="269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573773"/>
              </p:ext>
            </p:extLst>
          </p:nvPr>
        </p:nvGraphicFramePr>
        <p:xfrm>
          <a:off x="5305826" y="5293434"/>
          <a:ext cx="790174" cy="293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6" name="Equation" r:id="rId13" imgW="558558" imgH="203112" progId="Equation.3">
                  <p:embed/>
                </p:oleObj>
              </mc:Choice>
              <mc:Fallback>
                <p:oleObj name="Equation" r:id="rId13" imgW="558558" imgH="203112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826" y="5293434"/>
                        <a:ext cx="790174" cy="2934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376405"/>
              </p:ext>
            </p:extLst>
          </p:nvPr>
        </p:nvGraphicFramePr>
        <p:xfrm>
          <a:off x="1864176" y="5977455"/>
          <a:ext cx="1880215" cy="520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7" name="Equation" r:id="rId15" imgW="1447560" imgH="393480" progId="Equation.3">
                  <p:embed/>
                </p:oleObj>
              </mc:Choice>
              <mc:Fallback>
                <p:oleObj name="Equation" r:id="rId15" imgW="1447560" imgH="39348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76" y="5977455"/>
                        <a:ext cx="1880215" cy="520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832233"/>
              </p:ext>
            </p:extLst>
          </p:nvPr>
        </p:nvGraphicFramePr>
        <p:xfrm>
          <a:off x="4201136" y="5905600"/>
          <a:ext cx="1712637" cy="59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8" name="Equation" r:id="rId17" imgW="1167893" imgH="393529" progId="Equation.3">
                  <p:embed/>
                </p:oleObj>
              </mc:Choice>
              <mc:Fallback>
                <p:oleObj name="Equation" r:id="rId17" imgW="1167893" imgH="393529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1136" y="5905600"/>
                        <a:ext cx="1712637" cy="5926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007659"/>
              </p:ext>
            </p:extLst>
          </p:nvPr>
        </p:nvGraphicFramePr>
        <p:xfrm>
          <a:off x="6779933" y="6043684"/>
          <a:ext cx="1260283" cy="30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9" name="Equation" r:id="rId19" imgW="799753" imgH="203112" progId="Equation.3">
                  <p:embed/>
                </p:oleObj>
              </mc:Choice>
              <mc:Fallback>
                <p:oleObj name="Equation" r:id="rId19" imgW="799753" imgH="203112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9933" y="6043684"/>
                        <a:ext cx="1260283" cy="309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78"/>
          <p:cNvSpPr/>
          <p:nvPr/>
        </p:nvSpPr>
        <p:spPr>
          <a:xfrm>
            <a:off x="6779933" y="5228336"/>
            <a:ext cx="15846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rgbClr val="000000"/>
                </a:solidFill>
                <a:ea typeface="SimSun" panose="02010600030101010101" pitchFamily="2" charset="-122"/>
              </a:rPr>
              <a:t>Format    4/3 </a:t>
            </a:r>
            <a:endParaRPr lang="fr-FR" sz="2000" dirty="0"/>
          </a:p>
        </p:txBody>
      </p:sp>
      <p:pic>
        <p:nvPicPr>
          <p:cNvPr id="71" name="Picture 70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8966001" y="1151329"/>
            <a:ext cx="2747966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10</a:t>
            </a:fld>
            <a:endParaRPr lang="fr-BE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94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7" grpId="0"/>
      <p:bldP spid="64" grpId="0"/>
      <p:bldP spid="65" grpId="0"/>
      <p:bldP spid="67" grpId="0"/>
      <p:bldP spid="68" grpId="0"/>
      <p:bldP spid="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631504" y="127085"/>
            <a:ext cx="46805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3200" b="1" dirty="0">
                <a:latin typeface="+mj-lt"/>
                <a:cs typeface="Times New Roman" pitchFamily="18" charset="0"/>
              </a:rPr>
              <a:t>Tube cathodique couleur</a:t>
            </a:r>
          </a:p>
        </p:txBody>
      </p:sp>
      <p:pic>
        <p:nvPicPr>
          <p:cNvPr id="5" name="Imag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5400" y="1142985"/>
            <a:ext cx="9329690" cy="5213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11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50917" y="1413204"/>
            <a:ext cx="1137726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En dosant judicieusement les lumières, on peut obtenir toutes les nuances de </a:t>
            </a:r>
            <a:r>
              <a:rPr lang="fr-FR" altLang="zh-CN" sz="20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couleurs  </a:t>
            </a: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avec l'intensité désirée, et même un blanc très acceptable par la combinaison :</a:t>
            </a:r>
            <a:endParaRPr lang="fr-FR" altLang="zh-CN" sz="2000" dirty="0"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27773" y="2465884"/>
            <a:ext cx="2956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cs typeface="Times New Roman" pitchFamily="18" charset="0"/>
              </a:rPr>
              <a:t>Y = 0,3 R + 0,11 B + 0,59 V 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50917" y="3210788"/>
            <a:ext cx="97886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2806700" algn="l"/>
                <a:tab pos="4152900" algn="l"/>
              </a:tabLst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On peut facilement retrouver, à la réception, les composantes R, V et B nécessaires au tube :</a:t>
            </a:r>
            <a:endParaRPr lang="fr-FR" altLang="zh-CN" sz="2000" dirty="0"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l"/>
                <a:tab pos="4152900" algn="l"/>
              </a:tabLst>
            </a:pPr>
            <a:r>
              <a:rPr lang="fr-FR" altLang="zh-CN" sz="2000" dirty="0">
                <a:ea typeface="SimSun" pitchFamily="2" charset="-122"/>
                <a:cs typeface="Times New Roman" pitchFamily="18" charset="0"/>
              </a:rPr>
              <a:t>	</a:t>
            </a:r>
            <a:endParaRPr lang="fr-FR" altLang="zh-CN" sz="2000" dirty="0">
              <a:cs typeface="Arial" pitchFamily="34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309918" y="4000505"/>
            <a:ext cx="464343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2806700" algn="l"/>
                <a:tab pos="4152900" algn="l"/>
              </a:tabLst>
            </a:pPr>
            <a:r>
              <a:rPr lang="fr-FR" altLang="zh-CN" sz="2000" b="1" dirty="0">
                <a:ea typeface="SimSun" pitchFamily="2" charset="-122"/>
                <a:cs typeface="Times New Roman" pitchFamily="18" charset="0"/>
              </a:rPr>
              <a:t>R = (R - Y) + Y</a:t>
            </a:r>
            <a:endParaRPr lang="fr-FR" altLang="zh-CN" sz="2000" dirty="0"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l"/>
                <a:tab pos="4152900" algn="l"/>
              </a:tabLst>
            </a:pPr>
            <a:r>
              <a:rPr lang="fr-FR" altLang="zh-CN" sz="2000" b="1" dirty="0">
                <a:ea typeface="SimSun" pitchFamily="2" charset="-122"/>
                <a:cs typeface="Times New Roman" pitchFamily="18" charset="0"/>
              </a:rPr>
              <a:t>B = (B - Y) + Y</a:t>
            </a:r>
            <a:endParaRPr lang="fr-FR" altLang="zh-CN" sz="2000" dirty="0"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2806700" algn="l"/>
                <a:tab pos="4152900" algn="l"/>
              </a:tabLst>
            </a:pPr>
            <a:r>
              <a:rPr lang="fr-FR" altLang="zh-CN" sz="2000" b="1" dirty="0">
                <a:ea typeface="SimSun" pitchFamily="2" charset="-122"/>
                <a:cs typeface="Times New Roman" pitchFamily="18" charset="0"/>
              </a:rPr>
              <a:t>V = 1,695 Y - 0,5 R - 0,186 B</a:t>
            </a:r>
            <a:endParaRPr lang="fr-FR" altLang="zh-CN" sz="2000" dirty="0">
              <a:cs typeface="Times New Roman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03512" y="130004"/>
            <a:ext cx="46805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3200" b="1" dirty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Composantes RVB</a:t>
            </a:r>
            <a:endParaRPr lang="fr-FR" altLang="zh-CN" sz="3200" b="1" dirty="0">
              <a:latin typeface="+mj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12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47138" y="122334"/>
            <a:ext cx="45917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Signaux  du système NTSC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1524001" y="5487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>
              <a:latin typeface="Arial" pitchFamily="34" charset="0"/>
              <a:cs typeface="Arial" pitchFamily="34" charset="0"/>
            </a:endParaRP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524000" y="918777"/>
            <a:ext cx="2231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ja-JP" sz="1200">
                <a:latin typeface="Times New Roman" pitchFamily="18" charset="0"/>
                <a:ea typeface="MS Mincho" pitchFamily="49" charset="-128"/>
                <a:cs typeface="Times New Roman" pitchFamily="18" charset="0"/>
              </a:rPr>
              <a:t> </a:t>
            </a:r>
            <a:endParaRPr lang="fr-FR" altLang="ja-JP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83432" y="1729832"/>
            <a:ext cx="4557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cs typeface="Times New Roman" pitchFamily="18" charset="0"/>
              </a:rPr>
              <a:t>Les signaux codés de la manière suivante :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575118"/>
              </p:ext>
            </p:extLst>
          </p:nvPr>
        </p:nvGraphicFramePr>
        <p:xfrm>
          <a:off x="2423592" y="2690080"/>
          <a:ext cx="4103168" cy="80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1" name="Équation" r:id="rId3" imgW="2044700" imgH="431800" progId="Equation.3">
                  <p:embed/>
                </p:oleObj>
              </mc:Choice>
              <mc:Fallback>
                <p:oleObj name="Équation" r:id="rId3" imgW="2044700" imgH="4318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690080"/>
                        <a:ext cx="4103168" cy="80907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13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8732" y="116632"/>
            <a:ext cx="3918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3200" b="1" dirty="0">
                <a:latin typeface="+mj-lt"/>
                <a:cs typeface="Times New Roman" panose="02020603050405020304" pitchFamily="18" charset="0"/>
              </a:rPr>
              <a:t>Systèmes de couleurs 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176891"/>
              </p:ext>
            </p:extLst>
          </p:nvPr>
        </p:nvGraphicFramePr>
        <p:xfrm>
          <a:off x="335361" y="1412777"/>
          <a:ext cx="11017222" cy="4392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6350">
                  <a:extLst>
                    <a:ext uri="{9D8B030D-6E8A-4147-A177-3AD203B41FA5}">
                      <a16:colId xmlns:a16="http://schemas.microsoft.com/office/drawing/2014/main" val="4138709081"/>
                    </a:ext>
                  </a:extLst>
                </a:gridCol>
                <a:gridCol w="1642919">
                  <a:extLst>
                    <a:ext uri="{9D8B030D-6E8A-4147-A177-3AD203B41FA5}">
                      <a16:colId xmlns:a16="http://schemas.microsoft.com/office/drawing/2014/main" val="3696374283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3127543098"/>
                    </a:ext>
                  </a:extLst>
                </a:gridCol>
                <a:gridCol w="4445546">
                  <a:extLst>
                    <a:ext uri="{9D8B030D-6E8A-4147-A177-3AD203B41FA5}">
                      <a16:colId xmlns:a16="http://schemas.microsoft.com/office/drawing/2014/main" val="3356155916"/>
                    </a:ext>
                  </a:extLst>
                </a:gridCol>
              </a:tblGrid>
              <a:tr h="4050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Composante 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Valeur (systèmes 525 et 625) 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Remarque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6523743"/>
                  </a:ext>
                </a:extLst>
              </a:tr>
              <a:tr h="40501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NTSC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–0,268 (B-Y) + 0,7358 (R-Y)</a:t>
                      </a:r>
                      <a:endParaRPr lang="fr-FR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= 0,3 R + 0,58 V + 0,11B</a:t>
                      </a:r>
                      <a:b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R-Y = 0,7 R – 0,58 V – 0,11 B</a:t>
                      </a:r>
                      <a:b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B-Y = –0,3 R – 0,58 V + 0,88 B</a:t>
                      </a:r>
                      <a:b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Ces valeurs tiennent compte de la  correction de gamma de la caméra.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Ces valeurs sont applicables aux  systèmes de télédiffusion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525/59,94/2:1  et  625/50/2:1.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9395376"/>
                  </a:ext>
                </a:extLst>
              </a:tr>
              <a:tr h="40501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+0,4127(B-Y) + 0,4778 (R-Y)</a:t>
                      </a:r>
                      <a:endParaRPr lang="fr-FR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449341"/>
                  </a:ext>
                </a:extLst>
              </a:tr>
              <a:tr h="250647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0,493 (B-Y) </a:t>
                      </a:r>
                      <a:endParaRPr lang="fr-FR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399192"/>
                  </a:ext>
                </a:extLst>
              </a:tr>
              <a:tr h="2506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0,877 (R-Y)</a:t>
                      </a:r>
                      <a:endParaRPr lang="fr-FR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953612"/>
                  </a:ext>
                </a:extLst>
              </a:tr>
              <a:tr h="250647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SECAM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D′r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–1,902 (R-Y) </a:t>
                      </a:r>
                      <a:endParaRPr lang="fr-FR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610398"/>
                  </a:ext>
                </a:extLst>
              </a:tr>
              <a:tr h="72605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D′b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1,505 (B-Y) 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00724"/>
                  </a:ext>
                </a:extLst>
              </a:tr>
              <a:tr h="250647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0,564 (B-Y) 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Ces valeurs ont été définies par la SMPTE (Society of Motion Picture and </a:t>
                      </a:r>
                      <a:r>
                        <a:rPr lang="fr-FR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Television</a:t>
                      </a: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Engineers</a:t>
                      </a: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et s’appliquent </a:t>
                      </a:r>
                      <a:r>
                        <a:rPr lang="fr-FR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aux</a:t>
                      </a:r>
                      <a:r>
                        <a:rPr lang="fr-FR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connexions </a:t>
                      </a: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analogiques avec les lecteurs DVD, BD, etc.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7413804"/>
                  </a:ext>
                </a:extLst>
              </a:tr>
              <a:tr h="2506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0,713 (R-Y)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024543"/>
                  </a:ext>
                </a:extLst>
              </a:tr>
              <a:tr h="250647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Pb+350 mV  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29152"/>
                  </a:ext>
                </a:extLst>
              </a:tr>
              <a:tr h="7693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Pr+350 mV</a:t>
                      </a:r>
                      <a:endParaRPr lang="fr-FR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672028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14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921324"/>
              </p:ext>
            </p:extLst>
          </p:nvPr>
        </p:nvGraphicFramePr>
        <p:xfrm>
          <a:off x="1847528" y="1214426"/>
          <a:ext cx="8034686" cy="4954805"/>
        </p:xfrm>
        <a:graphic>
          <a:graphicData uri="http://schemas.openxmlformats.org/drawingml/2006/table">
            <a:tbl>
              <a:tblPr/>
              <a:tblGrid>
                <a:gridCol w="2470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5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8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64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Standard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  CCIR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   B,G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    FCC(USA)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     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VHF, band I /MHz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47  To</a:t>
                      </a:r>
                      <a:r>
                        <a:rPr lang="fr-FR" sz="2000" b="1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  68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54  To</a:t>
                      </a:r>
                      <a:r>
                        <a:rPr lang="fr-FR" sz="2000" b="1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  88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Times New Roman"/>
                          <a:ea typeface="SimSun"/>
                        </a:rPr>
                        <a:t>VHF, band III/MHz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174   To   230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174</a:t>
                      </a:r>
                      <a:r>
                        <a:rPr lang="fr-FR" sz="2000" b="1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   </a:t>
                      </a: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To   216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SimSun"/>
                        </a:rPr>
                        <a:t>UHF, band IV/V/MHz</a:t>
                      </a:r>
                      <a:endParaRPr lang="fr-FR" sz="2000" b="1"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470    To   853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470    To   890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Times New Roman"/>
                          <a:ea typeface="SimSun"/>
                        </a:rPr>
                        <a:t>Vision/Sound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Times New Roman"/>
                          <a:ea typeface="SimSun"/>
                        </a:rPr>
                        <a:t>Carrier spacing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5.5  MHz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    4.5  MHz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Times New Roman"/>
                          <a:ea typeface="SimSun"/>
                        </a:rPr>
                        <a:t>Chanel width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AutoNum type="arabicPlain" startAt="7"/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MHz    B</a:t>
                      </a:r>
                    </a:p>
                    <a:p>
                      <a:pPr marL="228600" indent="-2286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AutoNum type="arabicPlain" startAt="7"/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MHz     G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    6  MHz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Times New Roman"/>
                          <a:ea typeface="SimSun"/>
                        </a:rPr>
                        <a:t>Sound modulation,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Times New Roman"/>
                          <a:ea typeface="SimSun"/>
                        </a:rPr>
                        <a:t>FM deviation </a:t>
                      </a: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Times New Roman"/>
                          <a:ea typeface="SimSun"/>
                        </a:rPr>
                        <a:t> </a:t>
                      </a:r>
                      <a:r>
                        <a:rPr lang="fr-FR" sz="2000" b="1" dirty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</a:t>
                      </a: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FM   50KHz</a:t>
                      </a:r>
                      <a:endParaRPr lang="fr-FR" sz="2000" b="1" dirty="0">
                        <a:latin typeface="Times New Roman"/>
                        <a:ea typeface="SimSun"/>
                      </a:endParaRPr>
                    </a:p>
                  </a:txBody>
                  <a:tcPr marL="68580" marR="68580" marT="114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SimSun"/>
                        </a:rPr>
                        <a:t>    FM   25KHz</a:t>
                      </a:r>
                      <a:endParaRPr lang="fr-FR" sz="2000" b="1" dirty="0">
                        <a:solidFill>
                          <a:srgbClr val="000000"/>
                        </a:solidFill>
                        <a:latin typeface="Times New Roman"/>
                        <a:ea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1344960" y="157352"/>
            <a:ext cx="87849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3200" b="1" dirty="0">
                <a:latin typeface="+mj-lt"/>
                <a:ea typeface="SimSun" pitchFamily="2" charset="-122"/>
                <a:cs typeface="Times New Roman" pitchFamily="18" charset="0"/>
              </a:rPr>
              <a:t>Résumé des standards d’images  et Fréquences</a:t>
            </a:r>
            <a:endParaRPr lang="fr-FR" altLang="zh-CN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15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1524001" y="-461665"/>
            <a:ext cx="18473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>
                <a:latin typeface="Arial" pitchFamily="34" charset="0"/>
                <a:cs typeface="Arial" pitchFamily="34" charset="0"/>
              </a:rPr>
              <a:t/>
            </a:r>
            <a:br>
              <a:rPr lang="fr-FR">
                <a:latin typeface="Arial" pitchFamily="34" charset="0"/>
                <a:cs typeface="Arial" pitchFamily="34" charset="0"/>
              </a:rPr>
            </a:br>
            <a:r>
              <a:rPr lang="fr-FR">
                <a:latin typeface="Arial" pitchFamily="34" charset="0"/>
                <a:cs typeface="Arial" pitchFamily="34" charset="0"/>
              </a:rPr>
              <a:t/>
            </a:r>
            <a:br>
              <a:rPr lang="fr-FR">
                <a:latin typeface="Arial" pitchFamily="34" charset="0"/>
                <a:cs typeface="Arial" pitchFamily="34" charset="0"/>
              </a:rPr>
            </a:br>
            <a:endParaRPr lang="fr-FR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730634" y="230832"/>
            <a:ext cx="5805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Norme et standard de télévision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23474" y="1110383"/>
            <a:ext cx="1643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Times New Roman" pitchFamily="18" charset="0"/>
                <a:cs typeface="Times New Roman" pitchFamily="18" charset="0"/>
              </a:rPr>
              <a:t>Balayage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23474" y="3782484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Times New Roman" pitchFamily="18" charset="0"/>
                <a:cs typeface="Times New Roman" pitchFamily="18" charset="0"/>
              </a:rPr>
              <a:t>Fréquences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8973" y="4013316"/>
            <a:ext cx="8643998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18973" y="1310438"/>
            <a:ext cx="8715436" cy="236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16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7812" y="162856"/>
            <a:ext cx="86130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Paramètres des systèmes TV analogique couleur </a:t>
            </a:r>
          </a:p>
        </p:txBody>
      </p:sp>
      <p:pic>
        <p:nvPicPr>
          <p:cNvPr id="3" name="Imag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9416" y="1340768"/>
            <a:ext cx="8856984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600" b="1" smtClean="0">
                <a:solidFill>
                  <a:schemeClr val="tx1"/>
                </a:solidFill>
              </a:rPr>
              <a:pPr/>
              <a:t>17</a:t>
            </a:fld>
            <a:endParaRPr lang="fr-BE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635</Words>
  <Application>Microsoft Office PowerPoint</Application>
  <PresentationFormat>Widescreen</PresentationFormat>
  <Paragraphs>170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ＭＳ Ｐゴシック</vt:lpstr>
      <vt:lpstr>SimSun</vt:lpstr>
      <vt:lpstr>SimSun</vt:lpstr>
      <vt:lpstr>Arial</vt:lpstr>
      <vt:lpstr>Calibri</vt:lpstr>
      <vt:lpstr>MS Mincho</vt:lpstr>
      <vt:lpstr>Times New Roman</vt:lpstr>
      <vt:lpstr>Wingdings</vt:lpstr>
      <vt:lpstr>Thème Office</vt:lpstr>
      <vt:lpstr>Equation</vt:lpstr>
      <vt:lpstr>Équation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Principe de formation  des images</dc:title>
  <dc:creator>ABDERRAHMANE</dc:creator>
  <cp:lastModifiedBy>USER</cp:lastModifiedBy>
  <cp:revision>186</cp:revision>
  <dcterms:created xsi:type="dcterms:W3CDTF">2019-10-21T15:42:17Z</dcterms:created>
  <dcterms:modified xsi:type="dcterms:W3CDTF">2025-09-28T19:26:45Z</dcterms:modified>
</cp:coreProperties>
</file>