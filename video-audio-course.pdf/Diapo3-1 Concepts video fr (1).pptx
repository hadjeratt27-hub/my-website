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29" r:id="rId2"/>
    <p:sldId id="330" r:id="rId3"/>
    <p:sldId id="331" r:id="rId4"/>
    <p:sldId id="335" r:id="rId5"/>
    <p:sldId id="337" r:id="rId6"/>
    <p:sldId id="332" r:id="rId7"/>
    <p:sldId id="284" r:id="rId8"/>
    <p:sldId id="325" r:id="rId9"/>
    <p:sldId id="326" r:id="rId10"/>
    <p:sldId id="266" r:id="rId11"/>
    <p:sldId id="297" r:id="rId12"/>
    <p:sldId id="320" r:id="rId13"/>
    <p:sldId id="321" r:id="rId14"/>
    <p:sldId id="322" r:id="rId15"/>
    <p:sldId id="323" r:id="rId16"/>
    <p:sldId id="319" r:id="rId17"/>
    <p:sldId id="305" r:id="rId18"/>
    <p:sldId id="278" r:id="rId19"/>
    <p:sldId id="304" r:id="rId20"/>
    <p:sldId id="328" r:id="rId21"/>
    <p:sldId id="333" r:id="rId22"/>
    <p:sldId id="324" r:id="rId23"/>
    <p:sldId id="327" r:id="rId24"/>
    <p:sldId id="334" r:id="rId25"/>
    <p:sldId id="310" r:id="rId26"/>
    <p:sldId id="312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2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12F4"/>
    <a:srgbClr val="1455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86345" autoAdjust="0"/>
  </p:normalViewPr>
  <p:slideViewPr>
    <p:cSldViewPr>
      <p:cViewPr>
        <p:scale>
          <a:sx n="62" d="100"/>
          <a:sy n="62" d="100"/>
        </p:scale>
        <p:origin x="284" y="-220"/>
      </p:cViewPr>
      <p:guideLst>
        <p:guide orient="horz" pos="3929"/>
        <p:guide pos="3840"/>
      </p:guideLst>
    </p:cSldViewPr>
  </p:slideViewPr>
  <p:outlineViewPr>
    <p:cViewPr>
      <p:scale>
        <a:sx n="33" d="100"/>
        <a:sy n="33" d="100"/>
      </p:scale>
      <p:origin x="246" y="7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297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F659B-360C-4CCA-8FA0-5BBC4F244462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8BDD2-4F65-4B79-8B8E-9FE12C5CF40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4497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6DC23-7474-4DC7-98A9-E54664E76549}" type="datetimeFigureOut">
              <a:rPr lang="fr-FR" smtClean="0"/>
              <a:pPr/>
              <a:t>26/10/2025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1C1C7-12CF-4C56-AF83-A11C91197268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945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173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416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236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9795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835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810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115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486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38F3-2DDC-4FDA-8396-0A5881A7FA3A}" type="datetime1">
              <a:rPr lang="fr-FR" smtClean="0"/>
              <a:t>26/10/2025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BD3E-E888-4981-8D58-77AE47DE91D2}" type="datetime1">
              <a:rPr lang="fr-FR" smtClean="0"/>
              <a:t>26/10/2025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0668F-CB4B-45BC-905F-80683AF4F7EE}" type="datetime1">
              <a:rPr lang="fr-FR" smtClean="0"/>
              <a:t>26/10/2025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5094-55D3-474D-AEDB-EDF4B7428C54}" type="datetime1">
              <a:rPr lang="fr-FR" smtClean="0"/>
              <a:t>26/10/2025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58A-1B25-4358-9A0D-35DB3CCAF104}" type="datetime1">
              <a:rPr lang="fr-FR" smtClean="0"/>
              <a:t>26/10/2025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00E-A147-4BD9-BE03-FE3711579D2C}" type="datetime1">
              <a:rPr lang="fr-FR" smtClean="0"/>
              <a:t>26/10/2025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3E25D-0BD1-45A9-95EC-061DA244F9A5}" type="datetime1">
              <a:rPr lang="fr-FR" smtClean="0"/>
              <a:t>26/10/2025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E30F-1F6F-47B6-8B3E-64221809C9A4}" type="datetime1">
              <a:rPr lang="fr-FR" smtClean="0"/>
              <a:t>26/10/2025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6236C-E168-4EE0-A428-991228438458}" type="datetime1">
              <a:rPr lang="fr-FR" smtClean="0"/>
              <a:t>26/10/2025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D32-F759-479A-8EE4-8C6600023CAC}" type="datetime1">
              <a:rPr lang="fr-FR" smtClean="0"/>
              <a:t>26/10/2025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602B-F2A2-44A4-B2A0-385629911022}" type="datetime1">
              <a:rPr lang="fr-FR" smtClean="0"/>
              <a:t>26/10/2025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764A6-A83F-4B0A-B2D6-11D91B41B2F0}" type="datetime1">
              <a:rPr lang="fr-FR" smtClean="0"/>
              <a:t>26/10/2025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2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0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25.bin"/><Relationship Id="rId3" Type="http://schemas.openxmlformats.org/officeDocument/2006/relationships/image" Target="../media/image34.png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33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23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8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3657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L’image numérique 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5948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Processus de conversion en numérique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127448" y="1576073"/>
            <a:ext cx="8357595" cy="1576393"/>
            <a:chOff x="251520" y="836712"/>
            <a:chExt cx="8357595" cy="1576393"/>
          </a:xfrm>
        </p:grpSpPr>
        <p:grpSp>
          <p:nvGrpSpPr>
            <p:cNvPr id="12" name="Group 11"/>
            <p:cNvGrpSpPr>
              <a:grpSpLocks/>
            </p:cNvGrpSpPr>
            <p:nvPr/>
          </p:nvGrpSpPr>
          <p:grpSpPr bwMode="auto">
            <a:xfrm>
              <a:off x="251520" y="836712"/>
              <a:ext cx="8357595" cy="1576393"/>
              <a:chOff x="1112" y="3357"/>
              <a:chExt cx="8927" cy="1244"/>
            </a:xfrm>
          </p:grpSpPr>
          <p:grpSp>
            <p:nvGrpSpPr>
              <p:cNvPr id="17" name="Group 16"/>
              <p:cNvGrpSpPr>
                <a:grpSpLocks/>
              </p:cNvGrpSpPr>
              <p:nvPr/>
            </p:nvGrpSpPr>
            <p:grpSpPr bwMode="auto">
              <a:xfrm>
                <a:off x="1766" y="3510"/>
                <a:ext cx="8045" cy="817"/>
                <a:chOff x="1766" y="3510"/>
                <a:chExt cx="8045" cy="817"/>
              </a:xfrm>
            </p:grpSpPr>
            <p:grpSp>
              <p:nvGrpSpPr>
                <p:cNvPr id="28" name="Group 27"/>
                <p:cNvGrpSpPr>
                  <a:grpSpLocks/>
                </p:cNvGrpSpPr>
                <p:nvPr/>
              </p:nvGrpSpPr>
              <p:grpSpPr bwMode="auto">
                <a:xfrm>
                  <a:off x="2846" y="3510"/>
                  <a:ext cx="5597" cy="817"/>
                  <a:chOff x="2846" y="3510"/>
                  <a:chExt cx="5597" cy="817"/>
                </a:xfrm>
              </p:grpSpPr>
              <p:sp>
                <p:nvSpPr>
                  <p:cNvPr id="33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2846" y="3510"/>
                    <a:ext cx="1888" cy="817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ts val="1000"/>
                      </a:spcAft>
                    </a:pPr>
                    <a:r>
                      <a:rPr lang="fr-FR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Echantillonnage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ts val="1000"/>
                      </a:spcAft>
                    </a:pPr>
                    <a:r>
                      <a:rPr lang="fr-FR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2D</a:t>
                    </a:r>
                    <a:endParaRPr lang="fr-FR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4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6555" y="3510"/>
                    <a:ext cx="1888" cy="817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fontAlgn="base">
                      <a:spcBef>
                        <a:spcPct val="0"/>
                      </a:spcBef>
                    </a:pPr>
                    <a:endParaRPr lang="fr-FR" dirty="0">
                      <a:latin typeface="Calibri" pitchFamily="34" charset="0"/>
                      <a:ea typeface="Arial" pitchFamily="34" charset="0"/>
                      <a:cs typeface="Arial" pitchFamily="34" charset="0"/>
                    </a:endParaRPr>
                  </a:p>
                  <a:p>
                    <a:pPr algn="ctr" fontAlgn="base">
                      <a:spcBef>
                        <a:spcPct val="0"/>
                      </a:spcBef>
                    </a:pPr>
                    <a:r>
                      <a:rPr lang="fr-FR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Quantification </a:t>
                    </a:r>
                    <a:endParaRPr lang="fr-FR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9" name="Group 7"/>
                <p:cNvGrpSpPr>
                  <a:grpSpLocks/>
                </p:cNvGrpSpPr>
                <p:nvPr/>
              </p:nvGrpSpPr>
              <p:grpSpPr bwMode="auto">
                <a:xfrm>
                  <a:off x="1766" y="3912"/>
                  <a:ext cx="8045" cy="7"/>
                  <a:chOff x="1766" y="3912"/>
                  <a:chExt cx="8045" cy="7"/>
                </a:xfrm>
              </p:grpSpPr>
              <p:cxnSp>
                <p:nvCxnSpPr>
                  <p:cNvPr id="30" name="AutoShape 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766" y="3912"/>
                    <a:ext cx="1080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cxnSp>
                <p:nvCxnSpPr>
                  <p:cNvPr id="31" name="AutoShape 9"/>
                  <p:cNvCxnSpPr>
                    <a:cxnSpLocks noChangeShapeType="1"/>
                    <a:endCxn id="34" idx="1"/>
                  </p:cNvCxnSpPr>
                  <p:nvPr/>
                </p:nvCxnSpPr>
                <p:spPr bwMode="auto">
                  <a:xfrm>
                    <a:off x="4730" y="3912"/>
                    <a:ext cx="1825" cy="7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cxnSp>
                <p:nvCxnSpPr>
                  <p:cNvPr id="32" name="AutoShape 1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479" y="3913"/>
                    <a:ext cx="1332" cy="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</p:grpSp>
          </p:grpSp>
          <p:grpSp>
            <p:nvGrpSpPr>
              <p:cNvPr id="18" name="Group 11"/>
              <p:cNvGrpSpPr>
                <a:grpSpLocks/>
              </p:cNvGrpSpPr>
              <p:nvPr/>
            </p:nvGrpSpPr>
            <p:grpSpPr bwMode="auto">
              <a:xfrm>
                <a:off x="1112" y="3357"/>
                <a:ext cx="8927" cy="1244"/>
                <a:chOff x="1112" y="3357"/>
                <a:chExt cx="8927" cy="1244"/>
              </a:xfrm>
            </p:grpSpPr>
            <p:grpSp>
              <p:nvGrpSpPr>
                <p:cNvPr id="19" name="Group 12"/>
                <p:cNvGrpSpPr>
                  <a:grpSpLocks/>
                </p:cNvGrpSpPr>
                <p:nvPr/>
              </p:nvGrpSpPr>
              <p:grpSpPr bwMode="auto">
                <a:xfrm>
                  <a:off x="1112" y="3369"/>
                  <a:ext cx="1576" cy="1053"/>
                  <a:chOff x="1112" y="3514"/>
                  <a:chExt cx="1576" cy="1053"/>
                </a:xfrm>
              </p:grpSpPr>
              <p:sp>
                <p:nvSpPr>
                  <p:cNvPr id="26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27" y="3514"/>
                    <a:ext cx="197" cy="29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non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fr-FR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7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12" y="4132"/>
                    <a:ext cx="1576" cy="435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ts val="1000"/>
                      </a:spcAft>
                    </a:pPr>
                    <a:r>
                      <a:rPr lang="fr-FR" sz="1600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Image d’entrée </a:t>
                    </a:r>
                    <a:endParaRPr lang="fr-FR" sz="1600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" name="Group 15"/>
                <p:cNvGrpSpPr>
                  <a:grpSpLocks/>
                </p:cNvGrpSpPr>
                <p:nvPr/>
              </p:nvGrpSpPr>
              <p:grpSpPr bwMode="auto">
                <a:xfrm>
                  <a:off x="4824" y="3357"/>
                  <a:ext cx="1627" cy="1244"/>
                  <a:chOff x="4824" y="3357"/>
                  <a:chExt cx="1627" cy="1244"/>
                </a:xfrm>
              </p:grpSpPr>
              <p:sp>
                <p:nvSpPr>
                  <p:cNvPr id="24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19" y="3357"/>
                    <a:ext cx="197" cy="29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non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fr-FR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5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24" y="3975"/>
                    <a:ext cx="1627" cy="62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ts val="1000"/>
                      </a:spcAft>
                    </a:pPr>
                    <a:r>
                      <a:rPr lang="fr-FR" sz="1600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Image échantillonnée  </a:t>
                    </a:r>
                    <a:endParaRPr lang="fr-FR" sz="1600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1" name="Group 18"/>
                <p:cNvGrpSpPr>
                  <a:grpSpLocks/>
                </p:cNvGrpSpPr>
                <p:nvPr/>
              </p:nvGrpSpPr>
              <p:grpSpPr bwMode="auto">
                <a:xfrm>
                  <a:off x="8622" y="3372"/>
                  <a:ext cx="1417" cy="1056"/>
                  <a:chOff x="8622" y="3386"/>
                  <a:chExt cx="1417" cy="1056"/>
                </a:xfrm>
              </p:grpSpPr>
              <p:sp>
                <p:nvSpPr>
                  <p:cNvPr id="22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85" y="3386"/>
                    <a:ext cx="197" cy="29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non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fr-FR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3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22" y="4018"/>
                    <a:ext cx="1417" cy="424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</a:pPr>
                    <a:r>
                      <a:rPr lang="fr-FR" sz="1600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Image </a:t>
                    </a:r>
                  </a:p>
                  <a:p>
                    <a:pPr fontAlgn="base">
                      <a:spcBef>
                        <a:spcPct val="0"/>
                      </a:spcBef>
                    </a:pPr>
                    <a:r>
                      <a:rPr lang="fr-FR" sz="1600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numérique </a:t>
                    </a:r>
                    <a:endParaRPr lang="fr-FR" sz="1600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</p:grpSp>
        <p:grpSp>
          <p:nvGrpSpPr>
            <p:cNvPr id="13" name="Group 12"/>
            <p:cNvGrpSpPr/>
            <p:nvPr/>
          </p:nvGrpSpPr>
          <p:grpSpPr>
            <a:xfrm>
              <a:off x="827584" y="1071546"/>
              <a:ext cx="7427323" cy="442914"/>
              <a:chOff x="827584" y="1071546"/>
              <a:chExt cx="7427323" cy="442914"/>
            </a:xfrm>
          </p:grpSpPr>
          <p:graphicFrame>
            <p:nvGraphicFramePr>
              <p:cNvPr id="14" name="Object 21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827584" y="1093802"/>
              <a:ext cx="875892" cy="411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2689" name="Équation" r:id="rId3" imgW="469696" imgH="215806" progId="Equation.3">
                      <p:embed/>
                    </p:oleObj>
                  </mc:Choice>
                  <mc:Fallback>
                    <p:oleObj name="Équation" r:id="rId3" imgW="469696" imgH="215806" progId="Equation.3">
                      <p:embed/>
                      <p:pic>
                        <p:nvPicPr>
                          <p:cNvPr id="14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7584" y="1093802"/>
                            <a:ext cx="875892" cy="4111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23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211960" y="1071546"/>
              <a:ext cx="978102" cy="4429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2690" name="Équation" r:id="rId5" imgW="508000" imgH="228600" progId="Equation.3">
                      <p:embed/>
                    </p:oleObj>
                  </mc:Choice>
                  <mc:Fallback>
                    <p:oleObj name="Équation" r:id="rId5" imgW="508000" imgH="228600" progId="Equation.3">
                      <p:embed/>
                      <p:pic>
                        <p:nvPicPr>
                          <p:cNvPr id="15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11960" y="1071546"/>
                            <a:ext cx="978102" cy="4429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2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7452320" y="1071546"/>
              <a:ext cx="802587" cy="3619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2691" name="Equation" r:id="rId7" imgW="482400" imgH="215640" progId="Equation.3">
                      <p:embed/>
                    </p:oleObj>
                  </mc:Choice>
                  <mc:Fallback>
                    <p:oleObj name="Equation" r:id="rId7" imgW="482400" imgH="215640" progId="Equation.3">
                      <p:embed/>
                      <p:pic>
                        <p:nvPicPr>
                          <p:cNvPr id="16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52320" y="1071546"/>
                            <a:ext cx="802587" cy="3619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5" name="Text Box 14"/>
          <p:cNvSpPr txBox="1">
            <a:spLocks noChangeArrowheads="1"/>
          </p:cNvSpPr>
          <p:nvPr/>
        </p:nvSpPr>
        <p:spPr bwMode="auto">
          <a:xfrm>
            <a:off x="231479" y="3252639"/>
            <a:ext cx="11593288" cy="74093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fr-FR" sz="2200" dirty="0" smtClean="0">
                <a:ea typeface="Arial" pitchFamily="34" charset="0"/>
                <a:cs typeface="Arial" pitchFamily="34" charset="0"/>
              </a:rPr>
              <a:t>Une Image numérique est obtenue comme résultat  d’un </a:t>
            </a:r>
            <a:r>
              <a:rPr lang="fr-FR" sz="2200" b="1" dirty="0" smtClean="0">
                <a:solidFill>
                  <a:srgbClr val="FF0000"/>
                </a:solidFill>
                <a:ea typeface="Arial" pitchFamily="34" charset="0"/>
                <a:cs typeface="Arial" pitchFamily="34" charset="0"/>
              </a:rPr>
              <a:t>échantillonnage </a:t>
            </a:r>
            <a:r>
              <a:rPr lang="fr-FR" sz="2200" dirty="0" smtClean="0">
                <a:ea typeface="Arial" pitchFamily="34" charset="0"/>
                <a:cs typeface="Arial" pitchFamily="34" charset="0"/>
              </a:rPr>
              <a:t>et </a:t>
            </a:r>
            <a:r>
              <a:rPr lang="fr-FR" sz="2200" b="1" dirty="0" smtClean="0">
                <a:solidFill>
                  <a:srgbClr val="FF0000"/>
                </a:solidFill>
                <a:ea typeface="Arial" pitchFamily="34" charset="0"/>
                <a:cs typeface="Arial" pitchFamily="34" charset="0"/>
              </a:rPr>
              <a:t>quantification</a:t>
            </a:r>
            <a:r>
              <a:rPr lang="fr-FR" sz="2200" dirty="0" smtClean="0">
                <a:ea typeface="Arial" pitchFamily="34" charset="0"/>
                <a:cs typeface="Arial" pitchFamily="34" charset="0"/>
              </a:rPr>
              <a:t> d’une image analogique.</a:t>
            </a:r>
            <a:endParaRPr lang="fr-FR" sz="2200" dirty="0"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3023" y="4073972"/>
            <a:ext cx="1088785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dirty="0">
                <a:ea typeface="Arial" pitchFamily="34" charset="0"/>
                <a:cs typeface="Arial" pitchFamily="34" charset="0"/>
              </a:rPr>
              <a:t>Une Image </a:t>
            </a:r>
            <a:r>
              <a:rPr lang="fr-FR" sz="2200" dirty="0" smtClean="0">
                <a:ea typeface="Arial" pitchFamily="34" charset="0"/>
                <a:cs typeface="Arial" pitchFamily="34" charset="0"/>
              </a:rPr>
              <a:t>numérique peut être modélisé par </a:t>
            </a:r>
            <a:r>
              <a:rPr lang="fr-FR" sz="2200" b="1" dirty="0" smtClean="0">
                <a:solidFill>
                  <a:srgbClr val="3812F4"/>
                </a:solidFill>
                <a:ea typeface="Arial" pitchFamily="34" charset="0"/>
                <a:cs typeface="Arial" pitchFamily="34" charset="0"/>
              </a:rPr>
              <a:t>une matrice à 2 dimensions </a:t>
            </a:r>
            <a:r>
              <a:rPr lang="fr-FR" sz="2200" dirty="0" smtClean="0">
                <a:ea typeface="Arial" pitchFamily="34" charset="0"/>
                <a:cs typeface="Arial" pitchFamily="34" charset="0"/>
              </a:rPr>
              <a:t>de </a:t>
            </a:r>
            <a:r>
              <a:rPr lang="fr-FR" sz="2200" b="1" dirty="0" smtClean="0">
                <a:solidFill>
                  <a:srgbClr val="3812F4"/>
                </a:solidFill>
                <a:ea typeface="Arial" pitchFamily="34" charset="0"/>
                <a:cs typeface="Arial" pitchFamily="34" charset="0"/>
              </a:rPr>
              <a:t>nombres réels</a:t>
            </a:r>
            <a:r>
              <a:rPr lang="fr-FR" sz="2200" dirty="0" smtClean="0">
                <a:ea typeface="Arial" pitchFamily="34" charset="0"/>
                <a:cs typeface="Arial" pitchFamily="34" charset="0"/>
              </a:rPr>
              <a:t>.  </a:t>
            </a:r>
            <a:endParaRPr lang="en-GB" sz="22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4033" y="4735021"/>
            <a:ext cx="5166063" cy="179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14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35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3592" y="116632"/>
            <a:ext cx="36188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L’image numérique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</a:t>
            </a:fld>
            <a:endParaRPr lang="fr-BE" sz="1800" b="1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2276861"/>
            <a:ext cx="4651201" cy="3312368"/>
          </a:xfrm>
          <a:prstGeom prst="rect">
            <a:avLst/>
          </a:prstGeom>
        </p:spPr>
      </p:pic>
      <p:sp>
        <p:nvSpPr>
          <p:cNvPr id="45" name="Rectangle 1"/>
          <p:cNvSpPr>
            <a:spLocks noChangeArrowheads="1"/>
          </p:cNvSpPr>
          <p:nvPr/>
        </p:nvSpPr>
        <p:spPr bwMode="auto">
          <a:xfrm>
            <a:off x="6042468" y="3907214"/>
            <a:ext cx="4710832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22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l’information image  est numérisé 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fr-FR" altLang="zh-CN" sz="2200" b="1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 </a:t>
            </a:r>
            <a:r>
              <a:rPr lang="fr-FR" altLang="zh-CN" sz="2200" b="1" dirty="0" smtClean="0">
                <a:solidFill>
                  <a:srgbClr val="3812F4"/>
                </a:solidFill>
                <a:ea typeface="SimSun" pitchFamily="2" charset="-122"/>
                <a:cs typeface="Times New Roman" pitchFamily="18" charset="0"/>
              </a:rPr>
              <a:t>Spatialement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fr-FR" altLang="zh-CN" sz="2200" b="1" dirty="0" smtClean="0">
                <a:solidFill>
                  <a:srgbClr val="3812F4"/>
                </a:solidFill>
                <a:ea typeface="SimSun" pitchFamily="2" charset="-122"/>
                <a:cs typeface="Times New Roman" pitchFamily="18" charset="0"/>
              </a:rPr>
              <a:t>  Le pixel résultant est quantifié.</a:t>
            </a:r>
            <a:endParaRPr lang="fr-FR" altLang="zh-CN" sz="2200" b="1" dirty="0">
              <a:solidFill>
                <a:srgbClr val="3812F4"/>
              </a:solidFill>
              <a:cs typeface="Arial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520481" y="2002941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200" dirty="0"/>
              <a:t>Une image numérique est une prise de vue créée, traitée et stockée sous forme binaire.</a:t>
            </a:r>
            <a:endParaRPr lang="en-GB" sz="2200" dirty="0"/>
          </a:p>
        </p:txBody>
      </p:sp>
      <p:sp>
        <p:nvSpPr>
          <p:cNvPr id="8" name="Rectangle 7"/>
          <p:cNvSpPr/>
          <p:nvPr/>
        </p:nvSpPr>
        <p:spPr>
          <a:xfrm>
            <a:off x="3121628" y="899743"/>
            <a:ext cx="162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Structure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1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5" grpId="0"/>
      <p:bldP spid="19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3592" y="116632"/>
            <a:ext cx="36188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L’image numérique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3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5360" y="1939361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200" dirty="0" smtClean="0"/>
              <a:t>Le </a:t>
            </a:r>
            <a:r>
              <a:rPr lang="fr-FR" sz="2200" dirty="0"/>
              <a:t>pixel désigne l’élément de base d’une image ou d’un écran qui est généralement un </a:t>
            </a:r>
            <a:r>
              <a:rPr lang="fr-FR" sz="2200" dirty="0" smtClean="0"/>
              <a:t>point.</a:t>
            </a:r>
            <a:endParaRPr lang="en-GB" sz="2200" dirty="0"/>
          </a:p>
        </p:txBody>
      </p:sp>
      <p:sp>
        <p:nvSpPr>
          <p:cNvPr id="8" name="Rectangle 7"/>
          <p:cNvSpPr/>
          <p:nvPr/>
        </p:nvSpPr>
        <p:spPr>
          <a:xfrm>
            <a:off x="3121628" y="899743"/>
            <a:ext cx="23937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Notion de pixel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92541" y="2179333"/>
            <a:ext cx="26248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3812F4"/>
                </a:solidFill>
              </a:rPr>
              <a:t> pixel </a:t>
            </a:r>
            <a:r>
              <a:rPr lang="fr-FR" sz="2400" b="1" dirty="0" smtClean="0">
                <a:solidFill>
                  <a:srgbClr val="3812F4"/>
                </a:solidFill>
              </a:rPr>
              <a:t> = </a:t>
            </a:r>
            <a:r>
              <a:rPr lang="fr-FR" sz="2400" b="1" dirty="0" err="1" smtClean="0">
                <a:solidFill>
                  <a:srgbClr val="3812F4"/>
                </a:solidFill>
              </a:rPr>
              <a:t>picture</a:t>
            </a:r>
            <a:r>
              <a:rPr lang="fr-FR" sz="2400" b="1" dirty="0" smtClean="0">
                <a:solidFill>
                  <a:srgbClr val="3812F4"/>
                </a:solidFill>
              </a:rPr>
              <a:t> </a:t>
            </a:r>
            <a:r>
              <a:rPr lang="fr-FR" sz="2400" b="1" dirty="0" err="1" smtClean="0">
                <a:solidFill>
                  <a:srgbClr val="3812F4"/>
                </a:solidFill>
              </a:rPr>
              <a:t>cell</a:t>
            </a:r>
            <a:endParaRPr lang="en-GB" sz="2400" b="1" dirty="0">
              <a:solidFill>
                <a:srgbClr val="3812F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160" y="3020761"/>
            <a:ext cx="3600400" cy="345759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09675" y="3481080"/>
            <a:ext cx="59046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Image numérique  monochrome de 6x6 pixel  </a:t>
            </a:r>
          </a:p>
          <a:p>
            <a:r>
              <a:rPr lang="fr-FR" sz="2200" dirty="0" smtClean="0"/>
              <a:t> et niveau de gris  quantifié sur 8 bits </a:t>
            </a:r>
            <a:endParaRPr lang="en-GB" sz="2200" dirty="0"/>
          </a:p>
        </p:txBody>
      </p:sp>
      <p:sp>
        <p:nvSpPr>
          <p:cNvPr id="13" name="Rectangle 12"/>
          <p:cNvSpPr/>
          <p:nvPr/>
        </p:nvSpPr>
        <p:spPr>
          <a:xfrm>
            <a:off x="6009675" y="4581128"/>
            <a:ext cx="404676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 smtClean="0">
                <a:solidFill>
                  <a:srgbClr val="3812F4"/>
                </a:solidFill>
              </a:rPr>
              <a:t>Nombre de niveaux de gris  </a:t>
            </a:r>
            <a:endParaRPr lang="en-GB" sz="2200" b="1" dirty="0">
              <a:solidFill>
                <a:srgbClr val="3812F4"/>
              </a:solidFill>
            </a:endParaRPr>
          </a:p>
        </p:txBody>
      </p:sp>
      <p:graphicFrame>
        <p:nvGraphicFramePr>
          <p:cNvPr id="14" name="Object 9"/>
          <p:cNvGraphicFramePr>
            <a:graphicFrameLocks noChangeAspect="1"/>
          </p:cNvGraphicFramePr>
          <p:nvPr>
            <p:extLst/>
          </p:nvPr>
        </p:nvGraphicFramePr>
        <p:xfrm>
          <a:off x="6855122" y="5091094"/>
          <a:ext cx="18748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9" name="Equation" r:id="rId4" imgW="939600" imgH="203040" progId="Equation.3">
                  <p:embed/>
                </p:oleObj>
              </mc:Choice>
              <mc:Fallback>
                <p:oleObj name="Equation" r:id="rId4" imgW="939600" imgH="203040" progId="Equation.3">
                  <p:embed/>
                  <p:pic>
                    <p:nvPicPr>
                      <p:cNvPr id="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5122" y="5091094"/>
                        <a:ext cx="1874838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823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8" grpId="0"/>
      <p:bldP spid="3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2505" y="889556"/>
            <a:ext cx="74899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+mj-lt"/>
                <a:cs typeface="Times New Roman" pitchFamily="18" charset="0"/>
              </a:rPr>
              <a:t>Caracteristiques d’un fichier  image avec </a:t>
            </a:r>
            <a:r>
              <a:rPr lang="fr-FR" sz="2800" dirty="0" err="1">
                <a:latin typeface="+mj-lt"/>
                <a:cs typeface="Times New Roman" pitchFamily="18" charset="0"/>
              </a:rPr>
              <a:t>Matlab</a:t>
            </a:r>
            <a:r>
              <a:rPr lang="fr-FR" sz="2800" dirty="0">
                <a:latin typeface="+mj-lt"/>
                <a:cs typeface="Times New Roman" pitchFamily="18" charset="0"/>
              </a:rPr>
              <a:t> 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3432" y="1359932"/>
            <a:ext cx="896509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infoparrots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imfinfo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('parrots.jpg')</a:t>
            </a:r>
          </a:p>
          <a:p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infoparrots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=</a:t>
            </a:r>
          </a:p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          File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'F:\TP \parrots.jpg'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          File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Date: '11-Nov-2013 18:35:58'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                 </a:t>
            </a:r>
          </a:p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File Size:                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30102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Format:                   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fr-F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jpg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Format Version: ''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fr-FR" b="1" dirty="0" err="1">
                <a:latin typeface="Times New Roman" pitchFamily="18" charset="0"/>
                <a:cs typeface="Times New Roman" pitchFamily="18" charset="0"/>
              </a:rPr>
              <a:t>Width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:                     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384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fr-FR" b="1" dirty="0" err="1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:                   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256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Bit </a:t>
            </a:r>
            <a:r>
              <a:rPr lang="fr-FR" b="1" dirty="0" err="1"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:                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24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fr-FR" b="1" dirty="0" err="1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 Type:            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fr-F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truecolor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Format Signature: ''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fr-FR" b="1" dirty="0" err="1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fr-FR" b="1" dirty="0" err="1">
                <a:latin typeface="Times New Roman" pitchFamily="18" charset="0"/>
                <a:cs typeface="Times New Roman" pitchFamily="18" charset="0"/>
              </a:rPr>
              <a:t>Samples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:   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Coding Method:     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'Huffman'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Coding </a:t>
            </a:r>
            <a:r>
              <a:rPr lang="fr-FR" b="1" dirty="0" err="1">
                <a:latin typeface="Times New Roman" pitchFamily="18" charset="0"/>
                <a:cs typeface="Times New Roman" pitchFamily="18" charset="0"/>
              </a:rPr>
              <a:t>Process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:     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fr-F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Sequential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                  Comment: </a:t>
            </a:r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fr-FR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fr-F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AppleMark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4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23592" y="116632"/>
            <a:ext cx="36188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L’image numérique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78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0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3592" y="121301"/>
            <a:ext cx="35259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L’image numérique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0154" y="1712904"/>
            <a:ext cx="659793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900" dirty="0">
                <a:latin typeface="Times New Roman" pitchFamily="18" charset="0"/>
                <a:cs typeface="Times New Roman" pitchFamily="18" charset="0"/>
              </a:rPr>
              <a:t>Le format géométrique de </a:t>
            </a:r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l’image (image aspect) </a:t>
            </a:r>
            <a:r>
              <a:rPr lang="fr-FR" sz="1900" dirty="0">
                <a:latin typeface="Times New Roman" pitchFamily="18" charset="0"/>
                <a:cs typeface="Times New Roman" pitchFamily="18" charset="0"/>
              </a:rPr>
              <a:t>étant de </a:t>
            </a:r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16/9</a:t>
            </a:r>
            <a:endParaRPr lang="fr-FR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3352" y="2430183"/>
            <a:ext cx="560441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900" dirty="0">
                <a:latin typeface="Times New Roman" pitchFamily="18" charset="0"/>
                <a:cs typeface="Times New Roman" pitchFamily="18" charset="0"/>
              </a:rPr>
              <a:t>Le nombre de pixels par  ligne = résolution horizontale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5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42505" y="889556"/>
            <a:ext cx="58449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Normalisation du format géométrique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5424" y="3143951"/>
            <a:ext cx="3182281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900" dirty="0">
                <a:latin typeface="Times New Roman" pitchFamily="18" charset="0"/>
                <a:cs typeface="Times New Roman" pitchFamily="18" charset="0"/>
              </a:rPr>
              <a:t>Le </a:t>
            </a:r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 pixel étant de forme carré </a:t>
            </a:r>
            <a:endParaRPr lang="fr-FR" sz="19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762894"/>
              </p:ext>
            </p:extLst>
          </p:nvPr>
        </p:nvGraphicFramePr>
        <p:xfrm>
          <a:off x="206375" y="4386294"/>
          <a:ext cx="4017417" cy="658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56" name="Equation" r:id="rId3" imgW="2222280" imgH="393480" progId="Equation.3">
                  <p:embed/>
                </p:oleObj>
              </mc:Choice>
              <mc:Fallback>
                <p:oleObj name="Equation" r:id="rId3" imgW="2222280" imgH="393480" progId="Equation.3">
                  <p:embed/>
                  <p:pic>
                    <p:nvPicPr>
                      <p:cNvPr id="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4386294"/>
                        <a:ext cx="4017417" cy="65878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467826"/>
              </p:ext>
            </p:extLst>
          </p:nvPr>
        </p:nvGraphicFramePr>
        <p:xfrm>
          <a:off x="6113851" y="4385714"/>
          <a:ext cx="309403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57" name="Equation" r:id="rId5" imgW="1777680" imgH="393480" progId="Equation.3">
                  <p:embed/>
                </p:oleObj>
              </mc:Choice>
              <mc:Fallback>
                <p:oleObj name="Equation" r:id="rId5" imgW="1777680" imgH="393480" progId="Equation.3">
                  <p:embed/>
                  <p:pic>
                    <p:nvPicPr>
                      <p:cNvPr id="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3851" y="4385714"/>
                        <a:ext cx="3094038" cy="6334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285424" y="3856224"/>
            <a:ext cx="3727302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Pour une image HD  de 1080 lignes </a:t>
            </a:r>
            <a:endParaRPr lang="fr-FR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3352" y="5282265"/>
            <a:ext cx="5929828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900" dirty="0" smtClean="0">
                <a:latin typeface="Times New Roman" pitchFamily="18" charset="0"/>
                <a:cs typeface="Times New Roman" pitchFamily="18" charset="0"/>
              </a:rPr>
              <a:t>Donc une  image HD  possède une résolution  1920x1080 </a:t>
            </a:r>
            <a:endParaRPr lang="fr-FR" sz="19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01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1" grpId="0"/>
      <p:bldP spid="10" grpId="0"/>
      <p:bldP spid="12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8160" y="116632"/>
            <a:ext cx="36188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L’image numérique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08187" y="3089030"/>
            <a:ext cx="40588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3812F4"/>
                </a:solidFill>
              </a:rPr>
              <a:t> </a:t>
            </a:r>
            <a:r>
              <a:rPr lang="en-US" sz="2000" b="1" dirty="0">
                <a:solidFill>
                  <a:srgbClr val="3812F4"/>
                </a:solidFill>
                <a:latin typeface="Times New Roman" pitchFamily="18" charset="0"/>
                <a:cs typeface="Times New Roman" pitchFamily="18" charset="0"/>
              </a:rPr>
              <a:t>Nombre de pixel :  Mpixel</a:t>
            </a:r>
            <a:endParaRPr lang="fr-FR" sz="2400" b="1" dirty="0">
              <a:solidFill>
                <a:srgbClr val="3812F4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6419" y="4768535"/>
            <a:ext cx="30718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Profondeur (</a:t>
            </a:r>
            <a:r>
              <a:rPr lang="fr-FR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fr-FR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fr-FR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513" y="2650292"/>
            <a:ext cx="2986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Resolution (pixel area) </a:t>
            </a:r>
            <a:endParaRPr lang="fr-FR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0513" y="3185555"/>
            <a:ext cx="54304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3812F4"/>
                </a:solidFill>
                <a:latin typeface="Times New Roman" pitchFamily="18" charset="0"/>
                <a:cs typeface="Times New Roman" pitchFamily="18" charset="0"/>
              </a:rPr>
              <a:t>Resolution horizontale x Nombre de lignes </a:t>
            </a:r>
            <a:endParaRPr lang="fr-FR" sz="2000" b="1" dirty="0">
              <a:solidFill>
                <a:srgbClr val="3812F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604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066339"/>
              </p:ext>
            </p:extLst>
          </p:nvPr>
        </p:nvGraphicFramePr>
        <p:xfrm>
          <a:off x="8544272" y="1903420"/>
          <a:ext cx="906773" cy="40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64" name="Équation" r:id="rId3" imgW="482181" imgH="215713" progId="Equation.3">
                  <p:embed/>
                </p:oleObj>
              </mc:Choice>
              <mc:Fallback>
                <p:oleObj name="Équation" r:id="rId3" imgW="482181" imgH="215713" progId="Equation.3">
                  <p:embed/>
                  <p:pic>
                    <p:nvPicPr>
                      <p:cNvPr id="8604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1903420"/>
                        <a:ext cx="906773" cy="4089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5"/>
          <p:cNvSpPr/>
          <p:nvPr/>
        </p:nvSpPr>
        <p:spPr>
          <a:xfrm>
            <a:off x="381127" y="5560624"/>
            <a:ext cx="4192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Taille de l’</a:t>
            </a:r>
            <a:r>
              <a:rPr lang="fr-FR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échantillion</a:t>
            </a:r>
            <a:r>
              <a:rPr lang="fr-FR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(bit </a:t>
            </a:r>
            <a:r>
              <a:rPr lang="fr-FR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fr-FR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7905" y="4753468"/>
            <a:ext cx="41103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3812F4"/>
                </a:solidFill>
                <a:latin typeface="Times New Roman" pitchFamily="18" charset="0"/>
                <a:cs typeface="Times New Roman" pitchFamily="18" charset="0"/>
              </a:rPr>
              <a:t>Image monochrome(1 composante) </a:t>
            </a:r>
            <a:endParaRPr lang="fr-FR" sz="2000" b="1" dirty="0">
              <a:solidFill>
                <a:srgbClr val="3812F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317860" y="4736305"/>
            <a:ext cx="36827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3812F4"/>
                </a:solidFill>
                <a:latin typeface="Times New Roman" pitchFamily="18" charset="0"/>
                <a:cs typeface="Times New Roman" pitchFamily="18" charset="0"/>
              </a:rPr>
              <a:t>Image couleur (3 composantes ) </a:t>
            </a:r>
            <a:endParaRPr lang="fr-FR" sz="2000" b="1" dirty="0">
              <a:solidFill>
                <a:srgbClr val="3812F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330349" y="5546328"/>
            <a:ext cx="15868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err="1">
                <a:solidFill>
                  <a:srgbClr val="3812F4"/>
                </a:solidFill>
                <a:latin typeface="Times New Roman" pitchFamily="18" charset="0"/>
                <a:cs typeface="Times New Roman" pitchFamily="18" charset="0"/>
              </a:rPr>
              <a:t>uint</a:t>
            </a:r>
            <a:r>
              <a:rPr lang="fr-FR" sz="2000" b="1" dirty="0">
                <a:solidFill>
                  <a:srgbClr val="3812F4"/>
                </a:solidFill>
                <a:latin typeface="Times New Roman" pitchFamily="18" charset="0"/>
                <a:cs typeface="Times New Roman" pitchFamily="18" charset="0"/>
              </a:rPr>
              <a:t> (8 bits)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717" y="4038371"/>
            <a:ext cx="39872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Aspect de </a:t>
            </a:r>
            <a:r>
              <a:rPr lang="en-US" sz="20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l’image (image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aspect) </a:t>
            </a:r>
            <a:endParaRPr lang="fr-FR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297750" y="4050078"/>
            <a:ext cx="13743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381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968208" y="4006146"/>
            <a:ext cx="13743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rgbClr val="381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16/9</a:t>
            </a:r>
            <a:endParaRPr lang="fr-FR" sz="2000" b="1" dirty="0">
              <a:solidFill>
                <a:srgbClr val="3812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223320" y="5546328"/>
            <a:ext cx="18331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3812F4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fr-FR" sz="2000" b="1" dirty="0" smtClean="0">
                <a:solidFill>
                  <a:srgbClr val="3812F4"/>
                </a:solidFill>
                <a:latin typeface="Times New Roman" pitchFamily="18" charset="0"/>
                <a:cs typeface="Times New Roman" pitchFamily="18" charset="0"/>
              </a:rPr>
              <a:t>ouble(16 bits)</a:t>
            </a:r>
            <a:endParaRPr lang="fr-FR" sz="2000" b="1" dirty="0">
              <a:solidFill>
                <a:srgbClr val="3812F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6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261829" y="1864272"/>
            <a:ext cx="7274331" cy="33476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</a:pPr>
            <a:r>
              <a:rPr lang="fr-FR" sz="2200" dirty="0" smtClean="0">
                <a:ea typeface="Arial" pitchFamily="34" charset="0"/>
                <a:cs typeface="Arial" pitchFamily="34" charset="0"/>
              </a:rPr>
              <a:t>Une Image numérique est donc  une fonction à 2  variables  </a:t>
            </a:r>
            <a:endParaRPr lang="fr-FR" sz="2200" dirty="0">
              <a:cs typeface="Arial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121628" y="899743"/>
            <a:ext cx="26893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Caractéristiques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89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9" grpId="0"/>
      <p:bldP spid="10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 animBg="1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23592" y="104898"/>
            <a:ext cx="4464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NZ" sz="3200" dirty="0" smtClean="0">
                <a:latin typeface="+mj-lt"/>
              </a:rPr>
              <a:t>Les  </a:t>
            </a:r>
            <a:r>
              <a:rPr lang="fr-FR" sz="3200" dirty="0" smtClean="0">
                <a:latin typeface="+mj-lt"/>
              </a:rPr>
              <a:t>formats</a:t>
            </a:r>
            <a:r>
              <a:rPr lang="en-NZ" sz="3200" dirty="0" smtClean="0">
                <a:latin typeface="+mj-lt"/>
              </a:rPr>
              <a:t> videos </a:t>
            </a:r>
            <a:endParaRPr lang="en-NZ" sz="3200" dirty="0">
              <a:latin typeface="+mj-lt"/>
              <a:cs typeface="Times New Roman" pitchFamily="18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7</a:t>
            </a:fld>
            <a:endParaRPr lang="fr-BE"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3352" y="1700808"/>
            <a:ext cx="813690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Une scène naturelle  est continue spatialement et temporellement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52" y="2422844"/>
            <a:ext cx="115932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>
                <a:solidFill>
                  <a:srgbClr val="000000"/>
                </a:solidFill>
              </a:rPr>
              <a:t>La représentation d’une scène visuelle sous format digital implique un échantillonnage  </a:t>
            </a:r>
            <a:r>
              <a:rPr lang="fr-FR" sz="2200" b="1" dirty="0" smtClean="0">
                <a:solidFill>
                  <a:srgbClr val="FF0000"/>
                </a:solidFill>
              </a:rPr>
              <a:t>spatial</a:t>
            </a:r>
            <a:r>
              <a:rPr lang="fr-FR" sz="2200" dirty="0" smtClean="0">
                <a:solidFill>
                  <a:srgbClr val="000000"/>
                </a:solidFill>
              </a:rPr>
              <a:t> de la scène réelle 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3352" y="3282401"/>
            <a:ext cx="1129037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>
                <a:solidFill>
                  <a:srgbClr val="000000"/>
                </a:solidFill>
              </a:rPr>
              <a:t>Usuellement  sur une grille  rectangulaire sur le plan de l’image de la vidéo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929" y="3793650"/>
            <a:ext cx="114643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 smtClean="0">
                <a:solidFill>
                  <a:srgbClr val="FF0000"/>
                </a:solidFill>
              </a:rPr>
              <a:t>Temporellement ,</a:t>
            </a:r>
            <a:r>
              <a:rPr lang="fr-FR" sz="2200" dirty="0" smtClean="0"/>
              <a:t>comme</a:t>
            </a:r>
            <a:r>
              <a:rPr lang="fr-FR" sz="2200" b="1" dirty="0" smtClean="0">
                <a:solidFill>
                  <a:srgbClr val="FF0000"/>
                </a:solidFill>
              </a:rPr>
              <a:t>  </a:t>
            </a:r>
            <a:r>
              <a:rPr lang="fr-FR" sz="2200" dirty="0" smtClean="0"/>
              <a:t>une série d’images ou composantes échantillonnés à </a:t>
            </a:r>
            <a:r>
              <a:rPr lang="fr-FR" sz="2200" b="1" dirty="0" smtClean="0">
                <a:solidFill>
                  <a:srgbClr val="3812F4"/>
                </a:solidFill>
              </a:rPr>
              <a:t>intervalle de temps réguliers</a:t>
            </a:r>
            <a:r>
              <a:rPr lang="fr-FR" sz="2200" dirty="0" smtClean="0"/>
              <a:t>.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91969" y="885761"/>
            <a:ext cx="21355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+mj-lt"/>
              </a:rPr>
              <a:t>Capture 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352" y="4563091"/>
            <a:ext cx="115932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>
                <a:solidFill>
                  <a:srgbClr val="000000"/>
                </a:solidFill>
              </a:rPr>
              <a:t>Une vidéo digital est une représentation  des échantillons d’une scène vidéo sous format numérique </a:t>
            </a:r>
          </a:p>
        </p:txBody>
      </p:sp>
      <p:sp>
        <p:nvSpPr>
          <p:cNvPr id="4" name="Rectangle 3"/>
          <p:cNvSpPr/>
          <p:nvPr/>
        </p:nvSpPr>
        <p:spPr>
          <a:xfrm>
            <a:off x="263352" y="5351999"/>
            <a:ext cx="115932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/>
              <a:t>Chaque échantillon spatio-temporel (élément d'image ou pixel) est représenté par un nombre ou un ensemble de nombres qui décrit la </a:t>
            </a:r>
            <a:r>
              <a:rPr lang="fr-FR" sz="2200" b="1" dirty="0">
                <a:solidFill>
                  <a:srgbClr val="FF0000"/>
                </a:solidFill>
              </a:rPr>
              <a:t>luminosité</a:t>
            </a:r>
            <a:r>
              <a:rPr lang="fr-FR" sz="2200" dirty="0"/>
              <a:t> (luminance) et la </a:t>
            </a:r>
            <a:r>
              <a:rPr lang="fr-FR" sz="2200" b="1" dirty="0">
                <a:solidFill>
                  <a:srgbClr val="FF0000"/>
                </a:solidFill>
              </a:rPr>
              <a:t>couleur</a:t>
            </a:r>
            <a:r>
              <a:rPr lang="fr-FR" sz="2200" dirty="0"/>
              <a:t> de</a:t>
            </a:r>
            <a:r>
              <a:rPr lang="fr-FR" sz="2200" b="1" dirty="0">
                <a:solidFill>
                  <a:srgbClr val="3812F4"/>
                </a:solidFill>
              </a:rPr>
              <a:t> l'échantillon</a:t>
            </a:r>
            <a:r>
              <a:rPr lang="fr-FR" sz="2200"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17" grpId="0"/>
      <p:bldP spid="19" grpId="0"/>
      <p:bldP spid="20" grpId="0"/>
      <p:bldP spid="21" grpId="0"/>
      <p:bldP spid="9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Les </a:t>
            </a:r>
            <a:r>
              <a:rPr lang="fr-FR" sz="3200" dirty="0">
                <a:latin typeface="+mj-lt"/>
              </a:rPr>
              <a:t>f</a:t>
            </a:r>
            <a:r>
              <a:rPr lang="fr-FR" sz="3200" dirty="0" smtClean="0">
                <a:latin typeface="+mj-lt"/>
              </a:rPr>
              <a:t>ormats vidéo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8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71664" y="885761"/>
            <a:ext cx="36241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+mj-lt"/>
              </a:rPr>
              <a:t>Échantillonnage spatial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202" y="4941168"/>
            <a:ext cx="113052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/>
              <a:t>Augmenter le nombre de points d'échantillonnage augmente légèrement la résolution de l'image échantillonnée.</a:t>
            </a:r>
            <a:endParaRPr lang="en-GB" sz="2200" dirty="0"/>
          </a:p>
        </p:txBody>
      </p:sp>
      <p:sp>
        <p:nvSpPr>
          <p:cNvPr id="2" name="Rectangle 1"/>
          <p:cNvSpPr/>
          <p:nvPr/>
        </p:nvSpPr>
        <p:spPr>
          <a:xfrm>
            <a:off x="252202" y="1708259"/>
            <a:ext cx="118282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L’aspect  </a:t>
            </a:r>
            <a:r>
              <a:rPr lang="fr-FR" sz="2200" dirty="0"/>
              <a:t>le plus courant pour une image échantillonnée est </a:t>
            </a:r>
            <a:r>
              <a:rPr lang="fr-FR" sz="2200" b="1" dirty="0">
                <a:solidFill>
                  <a:srgbClr val="3812F4"/>
                </a:solidFill>
              </a:rPr>
              <a:t>un rectangle </a:t>
            </a:r>
            <a:r>
              <a:rPr lang="fr-FR" sz="2200" b="1" dirty="0" smtClean="0">
                <a:solidFill>
                  <a:srgbClr val="3812F4"/>
                </a:solidFill>
              </a:rPr>
              <a:t> </a:t>
            </a:r>
            <a:r>
              <a:rPr lang="fr-FR" sz="2200" dirty="0" smtClean="0"/>
              <a:t>avec </a:t>
            </a:r>
            <a:r>
              <a:rPr lang="fr-FR" sz="2200" dirty="0"/>
              <a:t>les points d'échantillonnage positionnés sur une grille carrée ou rectangulaire.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202" y="2826063"/>
            <a:ext cx="1168210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/>
              <a:t>L'échantillonnage a lieu à chacun des points d'intersection de la grille et l'image échantillonnée peut être reconstruite en représentant chaque échantillon comme un </a:t>
            </a:r>
            <a:r>
              <a:rPr lang="fr-FR" sz="2200" b="1" dirty="0">
                <a:solidFill>
                  <a:srgbClr val="FF0000"/>
                </a:solidFill>
              </a:rPr>
              <a:t>élément d'image en forme de carré </a:t>
            </a:r>
            <a:r>
              <a:rPr lang="fr-FR" sz="2200" b="1" dirty="0">
                <a:solidFill>
                  <a:srgbClr val="3C51B4"/>
                </a:solidFill>
              </a:rPr>
              <a:t>(pixel).</a:t>
            </a:r>
            <a:endParaRPr lang="fr-FR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228279" y="4066978"/>
            <a:ext cx="115269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/>
              <a:t>La qualité visuelle de l'image est influencée par le nombre de points d'échantillonnage.</a:t>
            </a:r>
          </a:p>
        </p:txBody>
      </p:sp>
    </p:spTree>
    <p:extLst>
      <p:ext uri="{BB962C8B-B14F-4D97-AF65-F5344CB8AC3E}">
        <p14:creationId xmlns:p14="http://schemas.microsoft.com/office/powerpoint/2010/main" val="42663711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9" grpId="0"/>
      <p:bldP spid="2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vidéo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9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119961" y="885761"/>
            <a:ext cx="44882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+mj-lt"/>
              </a:rPr>
              <a:t>Échantillonnage temporal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5387" y="1705998"/>
            <a:ext cx="116652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Une image vidéo en mouvement est capturée en prenant un 'instantané' </a:t>
            </a:r>
            <a:r>
              <a:rPr lang="fr-FR" sz="2000" b="1" dirty="0">
                <a:solidFill>
                  <a:srgbClr val="FF0000"/>
                </a:solidFill>
              </a:rPr>
              <a:t>rectangulaire</a:t>
            </a:r>
            <a:r>
              <a:rPr lang="fr-FR" sz="2000" b="1" dirty="0"/>
              <a:t> </a:t>
            </a:r>
            <a:r>
              <a:rPr lang="fr-FR" sz="2000" dirty="0"/>
              <a:t>du signal à </a:t>
            </a:r>
            <a:r>
              <a:rPr lang="fr-FR" sz="2000" b="1" dirty="0">
                <a:solidFill>
                  <a:srgbClr val="FF0000"/>
                </a:solidFill>
              </a:rPr>
              <a:t>des intervalles de temps périodiques</a:t>
            </a:r>
            <a:r>
              <a:rPr lang="fr-FR" sz="2000" b="1" dirty="0"/>
              <a:t>.</a:t>
            </a:r>
            <a:endParaRPr lang="fr-FR" sz="2000" dirty="0"/>
          </a:p>
        </p:txBody>
      </p:sp>
      <p:sp>
        <p:nvSpPr>
          <p:cNvPr id="5" name="Rectangle 4"/>
          <p:cNvSpPr/>
          <p:nvPr/>
        </p:nvSpPr>
        <p:spPr>
          <a:xfrm>
            <a:off x="265387" y="3167773"/>
            <a:ext cx="86646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Lire (</a:t>
            </a:r>
            <a:r>
              <a:rPr lang="fr-FR" sz="2000" dirty="0" err="1" smtClean="0"/>
              <a:t>playing</a:t>
            </a:r>
            <a:r>
              <a:rPr lang="fr-FR" sz="2000" dirty="0" smtClean="0"/>
              <a:t> back), </a:t>
            </a:r>
            <a:r>
              <a:rPr lang="fr-FR" sz="2000" dirty="0"/>
              <a:t>la série d'images donne l'apparence </a:t>
            </a:r>
            <a:r>
              <a:rPr lang="fr-FR" sz="2000" dirty="0" smtClean="0"/>
              <a:t>d’un </a:t>
            </a:r>
            <a:r>
              <a:rPr lang="fr-FR" sz="2000" dirty="0"/>
              <a:t>mouvement.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387" y="4590883"/>
            <a:ext cx="116652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25 </a:t>
            </a:r>
            <a:r>
              <a:rPr lang="fr-FR" sz="2000" dirty="0"/>
              <a:t>ou </a:t>
            </a:r>
            <a:r>
              <a:rPr lang="fr-FR" sz="2000" dirty="0" smtClean="0"/>
              <a:t>30 </a:t>
            </a:r>
            <a:r>
              <a:rPr lang="fr-FR" sz="2000" dirty="0"/>
              <a:t>images par seconde produisent un mouvement apparent fluide (au détriment d'un très haut débit de données).</a:t>
            </a:r>
          </a:p>
        </p:txBody>
      </p:sp>
    </p:spTree>
    <p:extLst>
      <p:ext uri="{BB962C8B-B14F-4D97-AF65-F5344CB8AC3E}">
        <p14:creationId xmlns:p14="http://schemas.microsoft.com/office/powerpoint/2010/main" val="33411367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4" grpId="0"/>
      <p:bldP spid="5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10</a:t>
            </a:fld>
            <a:endParaRPr lang="fr-BE" sz="1800" b="1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343" y="1526419"/>
            <a:ext cx="5445249" cy="3421878"/>
          </a:xfrm>
          <a:prstGeom prst="rect">
            <a:avLst/>
          </a:prstGeom>
        </p:spPr>
      </p:pic>
      <p:sp>
        <p:nvSpPr>
          <p:cNvPr id="105" name="Rectangle 104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vidéos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3191969" y="885761"/>
            <a:ext cx="28320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Séquence vidéos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0415" y="5301208"/>
            <a:ext cx="114384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Chaque échantillon spatio-temporel, un élément d'image ou pixel, est représenté par un ou plusieurs nombres qui décrivent la</a:t>
            </a:r>
            <a:r>
              <a:rPr lang="fr-FR" sz="2000" b="1" dirty="0">
                <a:solidFill>
                  <a:srgbClr val="FF0000"/>
                </a:solidFill>
              </a:rPr>
              <a:t> luminosité </a:t>
            </a:r>
            <a:r>
              <a:rPr lang="fr-FR" sz="2000" dirty="0"/>
              <a:t>ou la </a:t>
            </a:r>
            <a:r>
              <a:rPr lang="fr-FR" sz="2000" b="1" dirty="0">
                <a:solidFill>
                  <a:srgbClr val="FF0000"/>
                </a:solidFill>
              </a:rPr>
              <a:t>luminance</a:t>
            </a:r>
            <a:r>
              <a:rPr lang="fr-FR" sz="2000" dirty="0"/>
              <a:t> et la </a:t>
            </a:r>
            <a:r>
              <a:rPr lang="fr-FR" sz="2000" b="1" dirty="0">
                <a:solidFill>
                  <a:srgbClr val="FF0000"/>
                </a:solidFill>
              </a:rPr>
              <a:t>couleur</a:t>
            </a:r>
            <a:r>
              <a:rPr lang="fr-FR" sz="2000" dirty="0"/>
              <a:t> de l'échantillon.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6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11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vidéo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52392" y="916482"/>
            <a:ext cx="28320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Images et trames </a:t>
            </a:r>
            <a:endParaRPr lang="en-NZ" sz="2800" dirty="0">
              <a:latin typeface="+mj-lt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67726" y="1734332"/>
            <a:ext cx="8267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Un signal vidéo peut être échantillonné comme une série d’images complète 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498" y="1707809"/>
            <a:ext cx="3183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000000"/>
                </a:solidFill>
              </a:rPr>
              <a:t>Echantillonnage Progressive</a:t>
            </a:r>
            <a:endParaRPr lang="fr-FR" sz="2000" dirty="0"/>
          </a:p>
        </p:txBody>
      </p:sp>
      <p:sp>
        <p:nvSpPr>
          <p:cNvPr id="5" name="Right Arrow 4"/>
          <p:cNvSpPr/>
          <p:nvPr/>
        </p:nvSpPr>
        <p:spPr>
          <a:xfrm>
            <a:off x="3369381" y="1849609"/>
            <a:ext cx="660624" cy="18538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000"/>
          </a:p>
        </p:txBody>
      </p:sp>
      <p:sp>
        <p:nvSpPr>
          <p:cNvPr id="24" name="Rectangle 23"/>
          <p:cNvSpPr/>
          <p:nvPr/>
        </p:nvSpPr>
        <p:spPr>
          <a:xfrm>
            <a:off x="4209138" y="2429072"/>
            <a:ext cx="35505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Une</a:t>
            </a:r>
            <a:r>
              <a:rPr lang="en-GB" sz="2000" dirty="0" smtClean="0"/>
              <a:t> sequence video </a:t>
            </a:r>
            <a:r>
              <a:rPr lang="fr-FR" sz="2000" dirty="0" smtClean="0"/>
              <a:t>entrelacé </a:t>
            </a:r>
            <a:endParaRPr lang="fr-FR" sz="2000" dirty="0">
              <a:solidFill>
                <a:srgbClr val="00206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278" y="2393731"/>
            <a:ext cx="33025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/>
              <a:t>Echantillonnage entrelacé </a:t>
            </a:r>
            <a:endParaRPr lang="fr-FR" sz="2000" dirty="0"/>
          </a:p>
        </p:txBody>
      </p:sp>
      <p:sp>
        <p:nvSpPr>
          <p:cNvPr id="26" name="Right Arrow 25"/>
          <p:cNvSpPr/>
          <p:nvPr/>
        </p:nvSpPr>
        <p:spPr>
          <a:xfrm>
            <a:off x="3400138" y="2557286"/>
            <a:ext cx="629867" cy="199899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000"/>
          </a:p>
        </p:txBody>
      </p:sp>
      <p:sp>
        <p:nvSpPr>
          <p:cNvPr id="6" name="Rectangle 5"/>
          <p:cNvSpPr/>
          <p:nvPr/>
        </p:nvSpPr>
        <p:spPr>
          <a:xfrm>
            <a:off x="8832304" y="2443556"/>
            <a:ext cx="3048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000000"/>
                </a:solidFill>
              </a:rPr>
              <a:t>Une trame ou demi image ,</a:t>
            </a:r>
            <a:endParaRPr lang="fr-FR" sz="2000" dirty="0"/>
          </a:p>
        </p:txBody>
      </p:sp>
      <p:sp>
        <p:nvSpPr>
          <p:cNvPr id="28" name="Right Arrow 27"/>
          <p:cNvSpPr/>
          <p:nvPr/>
        </p:nvSpPr>
        <p:spPr>
          <a:xfrm>
            <a:off x="7863123" y="2557940"/>
            <a:ext cx="629867" cy="20005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000"/>
          </a:p>
        </p:txBody>
      </p:sp>
      <p:sp>
        <p:nvSpPr>
          <p:cNvPr id="8" name="Rectangle 7"/>
          <p:cNvSpPr/>
          <p:nvPr/>
        </p:nvSpPr>
        <p:spPr>
          <a:xfrm>
            <a:off x="268686" y="3848415"/>
            <a:ext cx="106124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Une  </a:t>
            </a:r>
            <a:r>
              <a:rPr lang="fr-FR" sz="2000" b="1" dirty="0" smtClean="0">
                <a:solidFill>
                  <a:srgbClr val="002060"/>
                </a:solidFill>
              </a:rPr>
              <a:t>trame </a:t>
            </a:r>
            <a:r>
              <a:rPr lang="fr-FR" sz="2000" dirty="0" smtClean="0"/>
              <a:t> consiste   en une alternance de demi image de lignes de </a:t>
            </a:r>
            <a:r>
              <a:rPr lang="fr-FR" sz="2000" b="1" dirty="0" smtClean="0">
                <a:solidFill>
                  <a:srgbClr val="FF0000"/>
                </a:solidFill>
              </a:rPr>
              <a:t>numéro  paires</a:t>
            </a:r>
            <a:r>
              <a:rPr lang="fr-FR" sz="2000" dirty="0" smtClean="0"/>
              <a:t> et de lignes de</a:t>
            </a:r>
            <a:r>
              <a:rPr lang="fr-FR" sz="2000" b="1" dirty="0" smtClean="0">
                <a:solidFill>
                  <a:srgbClr val="FF0000"/>
                </a:solidFill>
              </a:rPr>
              <a:t> numéro  impairs</a:t>
            </a:r>
            <a:endParaRPr lang="fr-F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" grpId="0"/>
      <p:bldP spid="4" grpId="0"/>
      <p:bldP spid="5" grpId="0" animBg="1"/>
      <p:bldP spid="24" grpId="0"/>
      <p:bldP spid="25" grpId="0"/>
      <p:bldP spid="26" grpId="0" animBg="1"/>
      <p:bldP spid="6" grpId="0"/>
      <p:bldP spid="28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12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vidéo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93333" y="889642"/>
            <a:ext cx="3634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Espace de couleurs 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1943" y="1695959"/>
            <a:ext cx="29313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000000"/>
                </a:solidFill>
              </a:rPr>
              <a:t>Espace de couleur  </a:t>
            </a:r>
            <a:r>
              <a:rPr lang="fr-FR" sz="2000" b="1" dirty="0" smtClean="0">
                <a:solidFill>
                  <a:srgbClr val="FF0000"/>
                </a:solidFill>
              </a:rPr>
              <a:t>RGB</a:t>
            </a:r>
            <a:endParaRPr lang="fr-FR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176810" y="2232545"/>
            <a:ext cx="118266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Une  image couleur est représenté par trois nombres ,indiquant les proportions relatives du </a:t>
            </a:r>
            <a:r>
              <a:rPr lang="fr-FR" sz="2000" b="1" dirty="0" smtClean="0">
                <a:solidFill>
                  <a:srgbClr val="FF0000"/>
                </a:solidFill>
              </a:rPr>
              <a:t>Rouge</a:t>
            </a:r>
            <a:r>
              <a:rPr lang="fr-FR" sz="2000" dirty="0" smtClean="0"/>
              <a:t> ,</a:t>
            </a:r>
            <a:r>
              <a:rPr lang="fr-FR" sz="2000" b="1" dirty="0" smtClean="0">
                <a:solidFill>
                  <a:srgbClr val="00B050"/>
                </a:solidFill>
              </a:rPr>
              <a:t>Vert </a:t>
            </a:r>
            <a:r>
              <a:rPr lang="fr-FR" sz="2000" dirty="0" smtClean="0"/>
              <a:t>et </a:t>
            </a:r>
            <a:r>
              <a:rPr lang="fr-FR" sz="2000" b="1" dirty="0" smtClean="0">
                <a:solidFill>
                  <a:srgbClr val="0070C0"/>
                </a:solidFill>
              </a:rPr>
              <a:t>Bleu</a:t>
            </a:r>
            <a:r>
              <a:rPr lang="fr-FR" sz="2000" dirty="0" smtClean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784" y="3465781"/>
            <a:ext cx="117716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Le système visuelle humain </a:t>
            </a:r>
            <a:r>
              <a:rPr lang="fr-FR" sz="2000" b="1" dirty="0" smtClean="0"/>
              <a:t>(HVS)</a:t>
            </a:r>
            <a:r>
              <a:rPr lang="fr-FR" sz="2000" dirty="0" smtClean="0"/>
              <a:t> est moins sensible aux couleurs qu’à la luminance </a:t>
            </a:r>
            <a:endParaRPr lang="fr-FR" sz="2000" dirty="0"/>
          </a:p>
        </p:txBody>
      </p:sp>
      <p:sp>
        <p:nvSpPr>
          <p:cNvPr id="12" name="Rectangle 11"/>
          <p:cNvSpPr/>
          <p:nvPr/>
        </p:nvSpPr>
        <p:spPr>
          <a:xfrm>
            <a:off x="252250" y="2826618"/>
            <a:ext cx="116207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Dans le système RGB  les trois composantes de couleurs sont  rangés (en memoire) avec la même résolution.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297" y="4135546"/>
            <a:ext cx="116207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Il est possible de représenter une image couleur  plus efficacement en </a:t>
            </a:r>
            <a:r>
              <a:rPr lang="fr-FR" sz="2000" b="1" dirty="0" smtClean="0">
                <a:solidFill>
                  <a:srgbClr val="3812F4"/>
                </a:solidFill>
              </a:rPr>
              <a:t>séparant  l'information  luminance de l’information  couleur</a:t>
            </a:r>
            <a:r>
              <a:rPr lang="fr-FR" sz="2000" b="1" dirty="0" smtClean="0">
                <a:solidFill>
                  <a:srgbClr val="0070C0"/>
                </a:solidFill>
              </a:rPr>
              <a:t>  </a:t>
            </a:r>
            <a:r>
              <a:rPr lang="fr-FR" sz="2000" dirty="0" smtClean="0"/>
              <a:t>et en représentant la luminance avec une résolution plus importante que la couleur.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323" y="5232305"/>
            <a:ext cx="116677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000000"/>
                </a:solidFill>
              </a:rPr>
              <a:t>Le système de couleurs  </a:t>
            </a:r>
            <a:r>
              <a:rPr lang="fr-FR" sz="2000" b="1" dirty="0" smtClean="0">
                <a:solidFill>
                  <a:srgbClr val="FF0000"/>
                </a:solidFill>
              </a:rPr>
              <a:t>Y:Cr:Cb</a:t>
            </a:r>
            <a:r>
              <a:rPr lang="fr-FR" sz="2000" b="1" dirty="0" smtClean="0">
                <a:solidFill>
                  <a:srgbClr val="000000"/>
                </a:solidFill>
              </a:rPr>
              <a:t> </a:t>
            </a:r>
            <a:r>
              <a:rPr lang="fr-FR" sz="2000" dirty="0" smtClean="0">
                <a:solidFill>
                  <a:srgbClr val="000000"/>
                </a:solidFill>
              </a:rPr>
              <a:t> est une façon plus simple pour représenter efficacement  l’image couleurs.</a:t>
            </a:r>
            <a:endParaRPr lang="fr-FR" sz="2000" dirty="0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659681"/>
              </p:ext>
            </p:extLst>
          </p:nvPr>
        </p:nvGraphicFramePr>
        <p:xfrm>
          <a:off x="1206876" y="6021288"/>
          <a:ext cx="2708608" cy="445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63" name="Equation" r:id="rId4" imgW="1511280" imgH="241200" progId="Equation.3">
                  <p:embed/>
                </p:oleObj>
              </mc:Choice>
              <mc:Fallback>
                <p:oleObj name="Equation" r:id="rId4" imgW="1511280" imgH="24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876" y="6021288"/>
                        <a:ext cx="2708608" cy="445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/>
        </p:nvSpPr>
        <p:spPr>
          <a:xfrm>
            <a:off x="5243905" y="6007595"/>
            <a:ext cx="35283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000000"/>
                </a:solidFill>
              </a:rPr>
              <a:t>Ou </a:t>
            </a:r>
            <a:r>
              <a:rPr lang="fr-FR" sz="2000" i="1" dirty="0" smtClean="0">
                <a:solidFill>
                  <a:srgbClr val="000000"/>
                </a:solidFill>
              </a:rPr>
              <a:t>k est un facteur de poids.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95839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9" grpId="0"/>
      <p:bldP spid="10" grpId="0"/>
      <p:bldP spid="11" grpId="0"/>
      <p:bldP spid="12" grpId="0"/>
      <p:bldP spid="13" grpId="0"/>
      <p:bldP spid="14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13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NZ" sz="3200" dirty="0">
                <a:latin typeface="+mj-lt"/>
              </a:rPr>
              <a:t>F</a:t>
            </a:r>
            <a:r>
              <a:rPr lang="en-NZ" sz="3200" dirty="0" smtClean="0">
                <a:latin typeface="+mj-lt"/>
              </a:rPr>
              <a:t>ormats </a:t>
            </a:r>
            <a:r>
              <a:rPr lang="fr-FR" sz="3200" dirty="0" smtClean="0">
                <a:latin typeface="+mj-lt"/>
              </a:rPr>
              <a:t>vidéo</a:t>
            </a:r>
            <a:r>
              <a:rPr lang="en-NZ" sz="3200" dirty="0" smtClean="0">
                <a:latin typeface="+mj-lt"/>
              </a:rPr>
              <a:t> </a:t>
            </a:r>
            <a:endParaRPr lang="en-NZ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22466" y="911299"/>
            <a:ext cx="30156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Espace de couleurs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8856" y="3172588"/>
            <a:ext cx="114492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000000"/>
                </a:solidFill>
              </a:rPr>
              <a:t>L’information couleur peut être représenté  comme des composantes  différence de couleurs  (chrominance ou chroma)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547937"/>
              </p:ext>
            </p:extLst>
          </p:nvPr>
        </p:nvGraphicFramePr>
        <p:xfrm>
          <a:off x="2442865" y="3894633"/>
          <a:ext cx="12287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814" name="Equation" r:id="rId4" imgW="685800" imgH="215640" progId="Equation.3">
                  <p:embed/>
                </p:oleObj>
              </mc:Choice>
              <mc:Fallback>
                <p:oleObj name="Equation" r:id="rId4" imgW="685800" imgH="21564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865" y="3894633"/>
                        <a:ext cx="1228725" cy="398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642802"/>
              </p:ext>
            </p:extLst>
          </p:nvPr>
        </p:nvGraphicFramePr>
        <p:xfrm>
          <a:off x="2443386" y="4581128"/>
          <a:ext cx="12287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815" name="Equation" r:id="rId6" imgW="685800" imgH="228600" progId="Equation.3">
                  <p:embed/>
                </p:oleObj>
              </mc:Choice>
              <mc:Fallback>
                <p:oleObj name="Equation" r:id="rId6" imgW="685800" imgH="228600" progId="Equation.3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386" y="4581128"/>
                        <a:ext cx="1228725" cy="420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467231"/>
              </p:ext>
            </p:extLst>
          </p:nvPr>
        </p:nvGraphicFramePr>
        <p:xfrm>
          <a:off x="2442865" y="5280690"/>
          <a:ext cx="12731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816" name="Equation" r:id="rId8" imgW="711000" imgH="241200" progId="Equation.3">
                  <p:embed/>
                </p:oleObj>
              </mc:Choice>
              <mc:Fallback>
                <p:oleObj name="Equation" r:id="rId8" imgW="711000" imgH="241200" progId="Equation.3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865" y="5280690"/>
                        <a:ext cx="1273175" cy="444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262126" y="1700808"/>
            <a:ext cx="116677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000000"/>
                </a:solidFill>
              </a:rPr>
              <a:t>Le système de couleurs  </a:t>
            </a:r>
            <a:r>
              <a:rPr lang="fr-FR" sz="2000" b="1" dirty="0" smtClean="0">
                <a:solidFill>
                  <a:srgbClr val="FF0000"/>
                </a:solidFill>
              </a:rPr>
              <a:t>Y:Cr:Cb</a:t>
            </a:r>
            <a:r>
              <a:rPr lang="fr-FR" sz="2000" b="1" dirty="0" smtClean="0">
                <a:solidFill>
                  <a:srgbClr val="000000"/>
                </a:solidFill>
              </a:rPr>
              <a:t> </a:t>
            </a:r>
            <a:r>
              <a:rPr lang="fr-FR" sz="2000" dirty="0" smtClean="0">
                <a:solidFill>
                  <a:srgbClr val="000000"/>
                </a:solidFill>
              </a:rPr>
              <a:t> est une façon plus simple pour représenter efficacement  l’image couleurs.</a:t>
            </a:r>
            <a:endParaRPr lang="fr-FR" sz="2000" dirty="0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87777"/>
              </p:ext>
            </p:extLst>
          </p:nvPr>
        </p:nvGraphicFramePr>
        <p:xfrm>
          <a:off x="1088561" y="2469353"/>
          <a:ext cx="2708608" cy="445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817" name="Equation" r:id="rId10" imgW="1511280" imgH="241200" progId="Equation.3">
                  <p:embed/>
                </p:oleObj>
              </mc:Choice>
              <mc:Fallback>
                <p:oleObj name="Equation" r:id="rId10" imgW="1511280" imgH="24120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8561" y="2469353"/>
                        <a:ext cx="2708608" cy="445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/>
          <p:nvPr/>
        </p:nvSpPr>
        <p:spPr>
          <a:xfrm>
            <a:off x="5447928" y="2456033"/>
            <a:ext cx="35283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000000"/>
                </a:solidFill>
              </a:rPr>
              <a:t>Ou </a:t>
            </a:r>
            <a:r>
              <a:rPr lang="fr-FR" sz="2000" i="1" dirty="0" smtClean="0">
                <a:solidFill>
                  <a:srgbClr val="000000"/>
                </a:solidFill>
              </a:rPr>
              <a:t>k est un facteur de poids.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21684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" grpId="0"/>
      <p:bldP spid="13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14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NZ" sz="3200" dirty="0" smtClean="0">
                <a:latin typeface="+mj-lt"/>
              </a:rPr>
              <a:t>Formats video  </a:t>
            </a:r>
            <a:endParaRPr lang="en-NZ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89869" y="895300"/>
            <a:ext cx="35821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/>
              <a:t>E</a:t>
            </a:r>
            <a:r>
              <a:rPr lang="fr-FR" sz="2800" dirty="0" smtClean="0"/>
              <a:t>space de couleurs 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1344" y="1514753"/>
            <a:ext cx="113910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Une image  RGB peut être convertit au format  </a:t>
            </a:r>
          </a:p>
          <a:p>
            <a:r>
              <a:rPr lang="fr-FR" sz="2000" dirty="0" smtClean="0"/>
              <a:t>   </a:t>
            </a:r>
            <a:r>
              <a:rPr lang="fr-FR" sz="2000" b="1" dirty="0" smtClean="0">
                <a:solidFill>
                  <a:srgbClr val="0070C0"/>
                </a:solidFill>
              </a:rPr>
              <a:t> Y:Cr:Cb  </a:t>
            </a:r>
            <a:r>
              <a:rPr lang="fr-FR" sz="2000" dirty="0" smtClean="0"/>
              <a:t>après capture pour réduire l’espace de stockage ou bien les exigences de transmission .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730674"/>
              </p:ext>
            </p:extLst>
          </p:nvPr>
        </p:nvGraphicFramePr>
        <p:xfrm>
          <a:off x="1046261" y="3157114"/>
          <a:ext cx="38242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96" name="Equation" r:id="rId4" imgW="2133360" imgH="177480" progId="Equation.3">
                  <p:embed/>
                </p:oleObj>
              </mc:Choice>
              <mc:Fallback>
                <p:oleObj name="Equation" r:id="rId4" imgW="2133360" imgH="17748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61" y="3157114"/>
                        <a:ext cx="3824287" cy="327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159556"/>
              </p:ext>
            </p:extLst>
          </p:nvPr>
        </p:nvGraphicFramePr>
        <p:xfrm>
          <a:off x="1096782" y="4579029"/>
          <a:ext cx="2116137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97" name="Equation" r:id="rId6" imgW="1180800" imgH="215640" progId="Equation.3">
                  <p:embed/>
                </p:oleObj>
              </mc:Choice>
              <mc:Fallback>
                <p:oleObj name="Equation" r:id="rId6" imgW="1180800" imgH="215640" progId="Equation.3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782" y="4579029"/>
                        <a:ext cx="2116137" cy="398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18275"/>
              </p:ext>
            </p:extLst>
          </p:nvPr>
        </p:nvGraphicFramePr>
        <p:xfrm>
          <a:off x="1072969" y="3849278"/>
          <a:ext cx="21399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98" name="Equation" r:id="rId8" imgW="1193760" imgH="228600" progId="Equation.3">
                  <p:embed/>
                </p:oleObj>
              </mc:Choice>
              <mc:Fallback>
                <p:oleObj name="Equation" r:id="rId8" imgW="1193760" imgH="228600" progId="Equation.3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969" y="3849278"/>
                        <a:ext cx="2139950" cy="420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096569"/>
              </p:ext>
            </p:extLst>
          </p:nvPr>
        </p:nvGraphicFramePr>
        <p:xfrm>
          <a:off x="7295834" y="3135416"/>
          <a:ext cx="1935163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99" name="Equation" r:id="rId10" imgW="1079280" imgH="215640" progId="Equation.3">
                  <p:embed/>
                </p:oleObj>
              </mc:Choice>
              <mc:Fallback>
                <p:oleObj name="Equation" r:id="rId10" imgW="1079280" imgH="21564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5834" y="3135416"/>
                        <a:ext cx="1935163" cy="398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54365"/>
              </p:ext>
            </p:extLst>
          </p:nvPr>
        </p:nvGraphicFramePr>
        <p:xfrm>
          <a:off x="7295834" y="3889027"/>
          <a:ext cx="32337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0" name="Equation" r:id="rId12" imgW="1803240" imgH="228600" progId="Equation.3">
                  <p:embed/>
                </p:oleObj>
              </mc:Choice>
              <mc:Fallback>
                <p:oleObj name="Equation" r:id="rId12" imgW="1803240" imgH="22860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5834" y="3889027"/>
                        <a:ext cx="3233737" cy="422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509537"/>
              </p:ext>
            </p:extLst>
          </p:nvPr>
        </p:nvGraphicFramePr>
        <p:xfrm>
          <a:off x="7392144" y="4666451"/>
          <a:ext cx="193516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1" name="Equation" r:id="rId14" imgW="1079280" imgH="228600" progId="Equation.3">
                  <p:embed/>
                </p:oleObj>
              </mc:Choice>
              <mc:Fallback>
                <p:oleObj name="Equation" r:id="rId14" imgW="1079280" imgH="22860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4666451"/>
                        <a:ext cx="1935162" cy="4206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6096000" y="2564904"/>
            <a:ext cx="0" cy="396044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2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15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vidéo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43672" y="903623"/>
            <a:ext cx="51845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i="1" dirty="0" smtClean="0">
                <a:latin typeface="+mj-lt"/>
              </a:rPr>
              <a:t>Format  d’ échantillonnage  </a:t>
            </a:r>
            <a:r>
              <a:rPr lang="fr-FR" sz="2800" i="1" dirty="0" err="1" smtClean="0">
                <a:latin typeface="+mj-lt"/>
              </a:rPr>
              <a:t>YCrCb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7004" y="2261633"/>
            <a:ext cx="117150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FF0000"/>
                </a:solidFill>
              </a:rPr>
              <a:t>Y:Cr:Cb</a:t>
            </a:r>
            <a:r>
              <a:rPr lang="fr-FR" sz="2000" dirty="0" smtClean="0"/>
              <a:t>  possède un avantage important par rapport à </a:t>
            </a:r>
            <a:r>
              <a:rPr lang="fr-FR" sz="2000" b="1" dirty="0" smtClean="0"/>
              <a:t>RGB  </a:t>
            </a:r>
            <a:r>
              <a:rPr lang="fr-FR" sz="2000" dirty="0" smtClean="0"/>
              <a:t>dans le sens ou les composantes  </a:t>
            </a:r>
            <a:r>
              <a:rPr lang="fr-FR" sz="2000" b="1" dirty="0" smtClean="0"/>
              <a:t>Cr</a:t>
            </a:r>
            <a:r>
              <a:rPr lang="fr-FR" sz="2000" dirty="0" smtClean="0"/>
              <a:t> et </a:t>
            </a:r>
            <a:r>
              <a:rPr lang="fr-FR" sz="2000" b="1" dirty="0" smtClean="0"/>
              <a:t>Cb</a:t>
            </a:r>
            <a:r>
              <a:rPr lang="fr-FR" sz="2000" dirty="0" smtClean="0"/>
              <a:t>  peuvent être représenté avec une  </a:t>
            </a:r>
            <a:r>
              <a:rPr lang="fr-FR" sz="2000" b="1" dirty="0" smtClean="0"/>
              <a:t>résolution plus faible  </a:t>
            </a:r>
            <a:r>
              <a:rPr lang="fr-FR" sz="2000" dirty="0" smtClean="0"/>
              <a:t>que   la composante luminance parce que le système visuel humain (</a:t>
            </a:r>
            <a:r>
              <a:rPr lang="fr-FR" sz="2000" b="1" dirty="0" smtClean="0"/>
              <a:t>HVS) </a:t>
            </a:r>
            <a:r>
              <a:rPr lang="fr-FR" sz="2000" dirty="0" smtClean="0"/>
              <a:t>est moins sensible aux couleurs que la luminance</a:t>
            </a:r>
            <a:r>
              <a:rPr lang="fr-FR" sz="2000" b="1" dirty="0" smtClean="0"/>
              <a:t>.</a:t>
            </a:r>
            <a:endParaRPr lang="fr-FR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230619" y="3593359"/>
            <a:ext cx="117150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Ceci permet de réduire  la quantité de donnés requise pour représenter  la composante chrominance sans avoir d’effet évident sur la qualité visuel.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7004" y="1713622"/>
            <a:ext cx="115828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cs typeface="Times New Roman" pitchFamily="18" charset="0"/>
              </a:rPr>
              <a:t>Le signal vidéo est divisé en trois composante </a:t>
            </a:r>
            <a:r>
              <a:rPr lang="fr-FR" sz="2000" b="1" dirty="0" smtClean="0">
                <a:ea typeface="SimSun"/>
              </a:rPr>
              <a:t>Y:Cb:Cr</a:t>
            </a:r>
            <a:r>
              <a:rPr lang="fr-FR" sz="2000" b="1" dirty="0" smtClean="0">
                <a:cs typeface="Times New Roman" pitchFamily="18" charset="0"/>
              </a:rPr>
              <a:t> </a:t>
            </a:r>
            <a:r>
              <a:rPr lang="fr-FR" sz="2000" dirty="0" smtClean="0">
                <a:cs typeface="Times New Roman" pitchFamily="18" charset="0"/>
              </a:rPr>
              <a:t>(une pour la luminance et deux pour la chrominance)</a:t>
            </a:r>
            <a:endParaRPr lang="fr-FR" sz="2000" dirty="0"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8851" y="4617308"/>
            <a:ext cx="115113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cs typeface="Times New Roman" pitchFamily="18" charset="0"/>
              </a:rPr>
              <a:t>Après cela  les composantes de chrominances sont    </a:t>
            </a:r>
            <a:r>
              <a:rPr lang="fr-FR" sz="2000" b="1" u="sng" dirty="0" smtClean="0">
                <a:cs typeface="Times New Roman" pitchFamily="18" charset="0"/>
              </a:rPr>
              <a:t>sous échantillonnées  </a:t>
            </a:r>
            <a:r>
              <a:rPr lang="fr-FR" sz="2000" dirty="0" smtClean="0">
                <a:cs typeface="Times New Roman" pitchFamily="18" charset="0"/>
              </a:rPr>
              <a:t>relativement à la composante de luminance avec un rapport </a:t>
            </a:r>
            <a:r>
              <a:rPr lang="fr-FR" sz="2000" b="1" dirty="0" smtClean="0">
                <a:solidFill>
                  <a:srgbClr val="FF0000"/>
                </a:solidFill>
                <a:cs typeface="Times New Roman" pitchFamily="18" charset="0"/>
              </a:rPr>
              <a:t>YUV </a:t>
            </a:r>
            <a:endParaRPr lang="fr-F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70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" grpId="0"/>
      <p:bldP spid="4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43672" y="854351"/>
            <a:ext cx="2411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>
                <a:latin typeface="+mj-lt"/>
                <a:cs typeface="Times New Roman" pitchFamily="18" charset="0"/>
              </a:rPr>
              <a:t>Notation </a:t>
            </a:r>
            <a:r>
              <a:rPr lang="en-GB" sz="2800" dirty="0" err="1" smtClean="0">
                <a:latin typeface="+mj-lt"/>
                <a:cs typeface="Times New Roman" pitchFamily="18" charset="0"/>
              </a:rPr>
              <a:t>YCrCb</a:t>
            </a:r>
            <a:endParaRPr lang="en-GB" sz="2800" dirty="0">
              <a:latin typeface="+mj-lt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96792" y="1700808"/>
            <a:ext cx="4115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Taux d’ échantillonnage luminance</a:t>
            </a:r>
            <a:endParaRPr lang="fr-FR" sz="2000" dirty="0"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12791" y="2460059"/>
            <a:ext cx="78488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Ce  nombre indique le taux d’</a:t>
            </a:r>
            <a:r>
              <a:rPr lang="fr-FR" sz="2000" dirty="0"/>
              <a:t>é</a:t>
            </a:r>
            <a:r>
              <a:rPr lang="fr-FR" sz="2000" dirty="0" smtClean="0"/>
              <a:t>chantillonnage relative de chaque composante dans la direction  </a:t>
            </a:r>
            <a:r>
              <a:rPr lang="fr-FR" sz="2000" b="1" dirty="0" smtClean="0">
                <a:solidFill>
                  <a:srgbClr val="FF0000"/>
                </a:solidFill>
              </a:rPr>
              <a:t>horizontal.</a:t>
            </a:r>
            <a:endParaRPr lang="fr-FR" sz="2000" dirty="0"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96792" y="3573444"/>
            <a:ext cx="77186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cs typeface="Times New Roman" pitchFamily="18" charset="0"/>
              </a:rPr>
              <a:t> </a:t>
            </a:r>
            <a:r>
              <a:rPr lang="fr-FR" sz="2000" dirty="0" smtClean="0"/>
              <a:t>Ce  nombre indique le taux d’</a:t>
            </a:r>
            <a:r>
              <a:rPr lang="fr-FR" sz="2000" dirty="0"/>
              <a:t>é</a:t>
            </a:r>
            <a:r>
              <a:rPr lang="fr-FR" sz="2000" dirty="0" smtClean="0"/>
              <a:t>chantillonnage relative de chaque composante dans la direction  </a:t>
            </a:r>
            <a:r>
              <a:rPr lang="fr-FR" sz="2000" b="1" dirty="0" smtClean="0">
                <a:solidFill>
                  <a:srgbClr val="FF0000"/>
                </a:solidFill>
              </a:rPr>
              <a:t>vertical.</a:t>
            </a:r>
            <a:endParaRPr lang="fr-FR" sz="2000" dirty="0" smtClean="0"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58704" y="5241974"/>
            <a:ext cx="17890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latin typeface="Times New Roman" pitchFamily="18" charset="0"/>
                <a:cs typeface="Times New Roman" pitchFamily="18" charset="0"/>
              </a:rPr>
              <a:t>4 :</a:t>
            </a:r>
            <a:r>
              <a:rPr lang="fr-FR" sz="4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4000" dirty="0" smtClean="0">
                <a:latin typeface="Times New Roman" pitchFamily="18" charset="0"/>
                <a:cs typeface="Times New Roman" pitchFamily="18" charset="0"/>
              </a:rPr>
              <a:t>: 2</a:t>
            </a:r>
            <a:endParaRPr lang="fr-FR" sz="4000" dirty="0"/>
          </a:p>
        </p:txBody>
      </p:sp>
      <p:grpSp>
        <p:nvGrpSpPr>
          <p:cNvPr id="8" name="Groupe 15"/>
          <p:cNvGrpSpPr/>
          <p:nvPr/>
        </p:nvGrpSpPr>
        <p:grpSpPr>
          <a:xfrm>
            <a:off x="2063552" y="1916832"/>
            <a:ext cx="1500992" cy="3312368"/>
            <a:chOff x="1570810" y="1928802"/>
            <a:chExt cx="1500992" cy="3072628"/>
          </a:xfrm>
        </p:grpSpPr>
        <p:cxnSp>
          <p:nvCxnSpPr>
            <p:cNvPr id="9" name="Connecteur droit avec flèche 8"/>
            <p:cNvCxnSpPr/>
            <p:nvPr/>
          </p:nvCxnSpPr>
          <p:spPr>
            <a:xfrm>
              <a:off x="1571604" y="1928802"/>
              <a:ext cx="1500198" cy="1588"/>
            </a:xfrm>
            <a:prstGeom prst="straightConnector1">
              <a:avLst/>
            </a:prstGeom>
            <a:ln w="12700">
              <a:solidFill>
                <a:srgbClr val="3812F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 rot="5400000">
              <a:off x="35687" y="3464719"/>
              <a:ext cx="3071834" cy="1588"/>
            </a:xfrm>
            <a:prstGeom prst="line">
              <a:avLst/>
            </a:prstGeom>
            <a:ln w="12700">
              <a:solidFill>
                <a:srgbClr val="3812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e 16"/>
          <p:cNvGrpSpPr/>
          <p:nvPr/>
        </p:nvGrpSpPr>
        <p:grpSpPr>
          <a:xfrm>
            <a:off x="2518018" y="2708128"/>
            <a:ext cx="1224764" cy="2520280"/>
            <a:chOff x="2142314" y="2786058"/>
            <a:chExt cx="1224764" cy="2215372"/>
          </a:xfrm>
        </p:grpSpPr>
        <p:cxnSp>
          <p:nvCxnSpPr>
            <p:cNvPr id="11" name="Connecteur droit avec flèche 10"/>
            <p:cNvCxnSpPr/>
            <p:nvPr/>
          </p:nvCxnSpPr>
          <p:spPr>
            <a:xfrm>
              <a:off x="2143108" y="2786058"/>
              <a:ext cx="1223970" cy="1588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rot="5400000">
              <a:off x="1035819" y="3893347"/>
              <a:ext cx="2214578" cy="158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e 17"/>
          <p:cNvGrpSpPr/>
          <p:nvPr/>
        </p:nvGrpSpPr>
        <p:grpSpPr>
          <a:xfrm>
            <a:off x="3148802" y="3789039"/>
            <a:ext cx="642942" cy="1439369"/>
            <a:chOff x="2714612" y="3929066"/>
            <a:chExt cx="642942" cy="1071569"/>
          </a:xfrm>
        </p:grpSpPr>
        <p:cxnSp>
          <p:nvCxnSpPr>
            <p:cNvPr id="12" name="Connecteur droit avec flèche 11"/>
            <p:cNvCxnSpPr/>
            <p:nvPr/>
          </p:nvCxnSpPr>
          <p:spPr>
            <a:xfrm>
              <a:off x="2714612" y="3929066"/>
              <a:ext cx="642942" cy="1588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rot="5400000">
              <a:off x="2178829" y="4464849"/>
              <a:ext cx="1071569" cy="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16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79576" y="118730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 Formats vidéos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43672" y="873252"/>
            <a:ext cx="2220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>
                <a:latin typeface="+mj-lt"/>
                <a:cs typeface="Times New Roman" pitchFamily="18" charset="0"/>
              </a:rPr>
              <a:t>Format</a:t>
            </a:r>
            <a:r>
              <a:rPr lang="fr-FR" sz="2800" dirty="0" smtClean="0">
                <a:latin typeface="+mj-lt"/>
                <a:cs typeface="Times New Roman" pitchFamily="18" charset="0"/>
              </a:rPr>
              <a:t> 4:4:4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79576" y="116553"/>
            <a:ext cx="40038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 Sous  échantillonnage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24740"/>
              </p:ext>
            </p:extLst>
          </p:nvPr>
        </p:nvGraphicFramePr>
        <p:xfrm>
          <a:off x="1775520" y="1587572"/>
          <a:ext cx="7200800" cy="3857652"/>
        </p:xfrm>
        <a:graphic>
          <a:graphicData uri="http://schemas.openxmlformats.org/drawingml/2006/table">
            <a:tbl>
              <a:tblPr/>
              <a:tblGrid>
                <a:gridCol w="3576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3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76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 err="1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YCbCr</a:t>
                      </a:r>
                      <a:r>
                        <a:rPr lang="fr-FR" sz="1800" dirty="0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   4:4:4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Y     720  x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Cb   720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02615" algn="l"/>
                        </a:tabLst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Cr    720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pPr>
                        <a:spcAft>
                          <a:spcPts val="0"/>
                        </a:spcAft>
                        <a:tabLst>
                          <a:tab pos="602615" algn="l"/>
                        </a:tabLst>
                      </a:pPr>
                      <a:r>
                        <a:rPr lang="fr-FR" sz="1100" dirty="0">
                          <a:latin typeface="Times New Roman"/>
                          <a:ea typeface="SimSun"/>
                        </a:rPr>
                        <a:t>	</a:t>
                      </a:r>
                      <a:endParaRPr lang="fr-FR" sz="12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5793199" y="3294362"/>
            <a:ext cx="2857520" cy="1367406"/>
            <a:chOff x="4572000" y="3429000"/>
            <a:chExt cx="2857520" cy="1367406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4572000" y="3448883"/>
              <a:ext cx="749824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   Y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5608126" y="3438799"/>
              <a:ext cx="749824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Cb</a:t>
              </a: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6679696" y="3429000"/>
              <a:ext cx="749824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Cr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728" y="2428997"/>
            <a:ext cx="2767480" cy="26561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274" y="1484784"/>
            <a:ext cx="1336346" cy="945628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17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1364" y="5802163"/>
            <a:ext cx="114492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Roboto"/>
              </a:rPr>
              <a:t>Pour chaque 4 échantillons de luminance, il y a 4 échantillons Cr et 4 échantillons Cb. </a:t>
            </a:r>
            <a:endParaRPr lang="fr-FR" dirty="0" smtClean="0">
              <a:latin typeface="Roboto"/>
            </a:endParaRPr>
          </a:p>
          <a:p>
            <a:r>
              <a:rPr lang="fr-FR" dirty="0" smtClean="0">
                <a:latin typeface="Roboto"/>
              </a:rPr>
              <a:t>L'échantillonnage </a:t>
            </a:r>
            <a:r>
              <a:rPr lang="fr-FR" dirty="0">
                <a:latin typeface="Roboto"/>
              </a:rPr>
              <a:t>4:4:4 préserve la fidélité totale des composants chrominance.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9990535" y="3294362"/>
            <a:ext cx="1664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fr-FR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3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8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ChangeArrowheads="1"/>
          </p:cNvSpPr>
          <p:nvPr/>
        </p:nvSpPr>
        <p:spPr bwMode="auto">
          <a:xfrm>
            <a:off x="2999656" y="884543"/>
            <a:ext cx="23042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2800" dirty="0">
                <a:solidFill>
                  <a:srgbClr val="000000"/>
                </a:solidFill>
                <a:latin typeface="+mj-lt"/>
                <a:ea typeface="SimSun" pitchFamily="2" charset="-122"/>
                <a:cs typeface="Times New Roman" pitchFamily="18" charset="0"/>
              </a:rPr>
              <a:t>Format 4:2:2 </a:t>
            </a:r>
            <a:endParaRPr lang="fr-FR" altLang="zh-CN" sz="2800" dirty="0">
              <a:latin typeface="+mj-lt"/>
              <a:cs typeface="Arial" pitchFamily="34" charset="0"/>
            </a:endParaRPr>
          </a:p>
        </p:txBody>
      </p:sp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948845"/>
              </p:ext>
            </p:extLst>
          </p:nvPr>
        </p:nvGraphicFramePr>
        <p:xfrm>
          <a:off x="1775520" y="1556792"/>
          <a:ext cx="7200800" cy="3858222"/>
        </p:xfrm>
        <a:graphic>
          <a:graphicData uri="http://schemas.openxmlformats.org/drawingml/2006/table">
            <a:tbl>
              <a:tblPr/>
              <a:tblGrid>
                <a:gridCol w="36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800" dirty="0" err="1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YCbCr</a:t>
                      </a:r>
                      <a:r>
                        <a:rPr lang="fr-FR" sz="1800" dirty="0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   </a:t>
                      </a:r>
                      <a:r>
                        <a:rPr lang="fr-FR" sz="1800" dirty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4:2:2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    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720  x 480</a:t>
                      </a: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Cb    360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x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02615" algn="l"/>
                        </a:tabLst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     360 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02615" algn="l"/>
                        </a:tabLst>
                        <a:defRPr/>
                      </a:pP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831462" y="3305883"/>
            <a:ext cx="2249949" cy="1367406"/>
            <a:chOff x="4474863" y="3429000"/>
            <a:chExt cx="2249949" cy="1367406"/>
          </a:xfrm>
        </p:grpSpPr>
        <p:sp>
          <p:nvSpPr>
            <p:cNvPr id="73737" name="Rectangle 9"/>
            <p:cNvSpPr>
              <a:spLocks noChangeArrowheads="1"/>
            </p:cNvSpPr>
            <p:nvPr/>
          </p:nvSpPr>
          <p:spPr bwMode="auto">
            <a:xfrm>
              <a:off x="4474863" y="3448883"/>
              <a:ext cx="892627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    Y</a:t>
              </a:r>
            </a:p>
          </p:txBody>
        </p:sp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6224746" y="3429000"/>
              <a:ext cx="500066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Cr</a:t>
              </a:r>
            </a:p>
          </p:txBody>
        </p:sp>
        <p:sp>
          <p:nvSpPr>
            <p:cNvPr id="28" name="Rectangle 5"/>
            <p:cNvSpPr>
              <a:spLocks noChangeArrowheads="1"/>
            </p:cNvSpPr>
            <p:nvPr/>
          </p:nvSpPr>
          <p:spPr bwMode="auto">
            <a:xfrm>
              <a:off x="5581592" y="3429000"/>
              <a:ext cx="500278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Cb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166" y="2512977"/>
            <a:ext cx="2736304" cy="25931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18</a:t>
            </a:fld>
            <a:endParaRPr lang="fr-BE" sz="1800" b="1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736" y="1751917"/>
            <a:ext cx="1336346" cy="88417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8272" y="5925125"/>
            <a:ext cx="11435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Roboto"/>
              </a:rPr>
              <a:t>Les numéros 4:2:2 signifient que pour chaque échantillon de luminance dans la direction horizontale, </a:t>
            </a:r>
            <a:endParaRPr lang="fr-FR" dirty="0" smtClean="0">
              <a:latin typeface="Roboto"/>
            </a:endParaRPr>
          </a:p>
          <a:p>
            <a:r>
              <a:rPr lang="fr-FR" dirty="0" smtClean="0">
                <a:latin typeface="Roboto"/>
              </a:rPr>
              <a:t>il </a:t>
            </a:r>
            <a:r>
              <a:rPr lang="fr-FR" dirty="0">
                <a:latin typeface="Roboto"/>
              </a:rPr>
              <a:t>y a 2 échantillons Cr et 2 échantillons Cb.</a:t>
            </a:r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2279576" y="106271"/>
            <a:ext cx="38179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Sous échantillonnage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57672" y="3166026"/>
            <a:ext cx="1664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fr-FR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2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7" grpId="0"/>
      <p:bldP spid="5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2927648" y="889556"/>
            <a:ext cx="23762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2800" dirty="0">
                <a:solidFill>
                  <a:srgbClr val="000000"/>
                </a:solidFill>
                <a:latin typeface="+mj-lt"/>
                <a:ea typeface="SimSun" pitchFamily="2" charset="-122"/>
                <a:cs typeface="Times New Roman" pitchFamily="18" charset="0"/>
              </a:rPr>
              <a:t>Format 4:2:0 </a:t>
            </a:r>
            <a:endParaRPr lang="fr-FR" altLang="zh-CN" sz="2800" dirty="0">
              <a:latin typeface="+mj-lt"/>
              <a:cs typeface="Arial" pitchFamily="34" charset="0"/>
            </a:endParaRPr>
          </a:p>
        </p:txBody>
      </p:sp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699981"/>
              </p:ext>
            </p:extLst>
          </p:nvPr>
        </p:nvGraphicFramePr>
        <p:xfrm>
          <a:off x="1775520" y="1412776"/>
          <a:ext cx="7992888" cy="4392489"/>
        </p:xfrm>
        <a:graphic>
          <a:graphicData uri="http://schemas.openxmlformats.org/drawingml/2006/table">
            <a:tbl>
              <a:tblPr/>
              <a:tblGrid>
                <a:gridCol w="481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2489">
                <a:tc>
                  <a:txBody>
                    <a:bodyPr/>
                    <a:lstStyle/>
                    <a:p>
                      <a:pPr indent="449580">
                        <a:spcAft>
                          <a:spcPts val="0"/>
                        </a:spcAft>
                      </a:pPr>
                      <a:r>
                        <a:rPr lang="fr-FR" sz="1800" dirty="0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              </a:t>
                      </a:r>
                      <a:r>
                        <a:rPr lang="fr-FR" sz="1800" dirty="0" err="1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YCbCr</a:t>
                      </a:r>
                      <a:r>
                        <a:rPr lang="fr-FR" sz="1800" dirty="0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    4:2:0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    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720  x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Cb   360 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240</a:t>
                      </a:r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02615" algn="l"/>
                        </a:tabLst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    360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240</a:t>
                      </a:r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fr-FR" sz="12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6859199" y="3436584"/>
            <a:ext cx="2348630" cy="1505970"/>
            <a:chOff x="5508104" y="3717032"/>
            <a:chExt cx="2348630" cy="1505970"/>
          </a:xfrm>
        </p:grpSpPr>
        <p:sp>
          <p:nvSpPr>
            <p:cNvPr id="80905" name="Rectangle 9"/>
            <p:cNvSpPr>
              <a:spLocks noChangeArrowheads="1"/>
            </p:cNvSpPr>
            <p:nvPr/>
          </p:nvSpPr>
          <p:spPr bwMode="auto">
            <a:xfrm>
              <a:off x="5508104" y="3717032"/>
              <a:ext cx="892921" cy="150597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     Y</a:t>
              </a:r>
            </a:p>
          </p:txBody>
        </p:sp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6579674" y="3717032"/>
              <a:ext cx="562680" cy="69596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fr-FR" dirty="0"/>
                <a:t> Cb</a:t>
              </a:r>
            </a:p>
          </p:txBody>
        </p:sp>
        <p:sp>
          <p:nvSpPr>
            <p:cNvPr id="27" name="Rectangle 5"/>
            <p:cNvSpPr>
              <a:spLocks noChangeArrowheads="1"/>
            </p:cNvSpPr>
            <p:nvPr/>
          </p:nvSpPr>
          <p:spPr bwMode="auto">
            <a:xfrm>
              <a:off x="7294054" y="3717032"/>
              <a:ext cx="562680" cy="69596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fr-FR" dirty="0"/>
                <a:t> Cr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169" y="1827289"/>
            <a:ext cx="4514982" cy="397797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19</a:t>
            </a:fld>
            <a:endParaRPr lang="fr-BE" sz="1800" b="1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690" y="1412777"/>
            <a:ext cx="1336346" cy="936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3352" y="5952453"/>
            <a:ext cx="116652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Roboto"/>
              </a:rPr>
              <a:t>Dans le format d'échantillonnage populaire 4:2:0 (‘YV12’), Cr et Cb ont chacun la moitié de la résolution horizontale et verticale de Y.</a:t>
            </a:r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2279576" y="108485"/>
            <a:ext cx="38179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Sous échantillonnage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160000" y="3296580"/>
            <a:ext cx="1838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fr-FR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1.5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/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0562" y="2978115"/>
            <a:ext cx="385762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32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0186"/>
              </p:ext>
            </p:extLst>
          </p:nvPr>
        </p:nvGraphicFramePr>
        <p:xfrm>
          <a:off x="3751973" y="2386049"/>
          <a:ext cx="67865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46" name="Equation" r:id="rId4" imgW="3619440" imgH="215640" progId="Equation.3">
                  <p:embed/>
                </p:oleObj>
              </mc:Choice>
              <mc:Fallback>
                <p:oleObj name="Equation" r:id="rId4" imgW="3619440" imgH="215640" progId="Equation.3">
                  <p:embed/>
                  <p:pic>
                    <p:nvPicPr>
                      <p:cNvPr id="532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973" y="2386049"/>
                        <a:ext cx="6786562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384067"/>
              </p:ext>
            </p:extLst>
          </p:nvPr>
        </p:nvGraphicFramePr>
        <p:xfrm>
          <a:off x="5777664" y="5068010"/>
          <a:ext cx="40719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47" name="Equation" r:id="rId6" imgW="2171520" imgH="215640" progId="Equation.3">
                  <p:embed/>
                </p:oleObj>
              </mc:Choice>
              <mc:Fallback>
                <p:oleObj name="Equation" r:id="rId6" imgW="2171520" imgH="215640" progId="Equation.3">
                  <p:embed/>
                  <p:pic>
                    <p:nvPicPr>
                      <p:cNvPr id="532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7664" y="5068010"/>
                        <a:ext cx="4071938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65"/>
          <p:cNvSpPr/>
          <p:nvPr/>
        </p:nvSpPr>
        <p:spPr>
          <a:xfrm>
            <a:off x="6877012" y="4460119"/>
            <a:ext cx="40898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 err="1">
                <a:latin typeface="Times New Roman" pitchFamily="18" charset="0"/>
                <a:cs typeface="Times New Roman" pitchFamily="18" charset="0"/>
              </a:rPr>
              <a:t>Frame_rate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= 30 Frames / second</a:t>
            </a:r>
          </a:p>
        </p:txBody>
      </p:sp>
      <p:graphicFrame>
        <p:nvGraphicFramePr>
          <p:cNvPr id="53256" name="Object 8"/>
          <p:cNvGraphicFramePr>
            <a:graphicFrameLocks noChangeAspect="1"/>
          </p:cNvGraphicFramePr>
          <p:nvPr>
            <p:extLst/>
          </p:nvPr>
        </p:nvGraphicFramePr>
        <p:xfrm>
          <a:off x="6045824" y="5552182"/>
          <a:ext cx="357187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48" name="Équation" r:id="rId8" imgW="1790640" imgH="177480" progId="Equation.3">
                  <p:embed/>
                </p:oleObj>
              </mc:Choice>
              <mc:Fallback>
                <p:oleObj name="Équation" r:id="rId8" imgW="1790640" imgH="177480" progId="Equation.3">
                  <p:embed/>
                  <p:pic>
                    <p:nvPicPr>
                      <p:cNvPr id="532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824" y="5552182"/>
                        <a:ext cx="3571875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9"/>
          <p:cNvGraphicFramePr>
            <a:graphicFrameLocks noChangeAspect="1"/>
          </p:cNvGraphicFramePr>
          <p:nvPr>
            <p:extLst/>
          </p:nvPr>
        </p:nvGraphicFramePr>
        <p:xfrm>
          <a:off x="6473664" y="6008676"/>
          <a:ext cx="29130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49" name="Equation" r:id="rId10" imgW="1460160" imgH="177480" progId="Equation.3">
                  <p:embed/>
                </p:oleObj>
              </mc:Choice>
              <mc:Fallback>
                <p:oleObj name="Equation" r:id="rId10" imgW="1460160" imgH="177480" progId="Equation.3">
                  <p:embed/>
                  <p:pic>
                    <p:nvPicPr>
                      <p:cNvPr id="532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3664" y="6008676"/>
                        <a:ext cx="29130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213942"/>
              </p:ext>
            </p:extLst>
          </p:nvPr>
        </p:nvGraphicFramePr>
        <p:xfrm>
          <a:off x="4288182" y="1885574"/>
          <a:ext cx="55483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50" name="Equation" r:id="rId12" imgW="2958840" imgH="215640" progId="Equation.3">
                  <p:embed/>
                </p:oleObj>
              </mc:Choice>
              <mc:Fallback>
                <p:oleObj name="Equation" r:id="rId12" imgW="2958840" imgH="215640" progId="Equation.3">
                  <p:embed/>
                  <p:pic>
                    <p:nvPicPr>
                      <p:cNvPr id="532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8182" y="1885574"/>
                        <a:ext cx="5548313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0858" y="1431288"/>
            <a:ext cx="35655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= Séquence d’image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0167" y="1443451"/>
            <a:ext cx="52911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 d’images par seconde = Frame Rate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753055" y="1700808"/>
            <a:ext cx="6238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376892" y="3842394"/>
            <a:ext cx="16777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err="1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 err="1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8316" y="4506066"/>
            <a:ext cx="219869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Système NTSC </a:t>
            </a:r>
          </a:p>
        </p:txBody>
      </p:sp>
      <p:graphicFrame>
        <p:nvGraphicFramePr>
          <p:cNvPr id="2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661905"/>
              </p:ext>
            </p:extLst>
          </p:nvPr>
        </p:nvGraphicFramePr>
        <p:xfrm>
          <a:off x="4826000" y="2887663"/>
          <a:ext cx="55483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51" name="Equation" r:id="rId14" imgW="2958840" imgH="215640" progId="Equation.3">
                  <p:embed/>
                </p:oleObj>
              </mc:Choice>
              <mc:Fallback>
                <p:oleObj name="Equation" r:id="rId14" imgW="2958840" imgH="215640" progId="Equation.3">
                  <p:embed/>
                  <p:pic>
                    <p:nvPicPr>
                      <p:cNvPr id="2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0" y="2887663"/>
                        <a:ext cx="5548313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889821"/>
              </p:ext>
            </p:extLst>
          </p:nvPr>
        </p:nvGraphicFramePr>
        <p:xfrm>
          <a:off x="7442473" y="3853247"/>
          <a:ext cx="22860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52" name="Equation" r:id="rId16" imgW="1218960" imgH="215640" progId="Equation.3">
                  <p:embed/>
                </p:oleObj>
              </mc:Choice>
              <mc:Fallback>
                <p:oleObj name="Equation" r:id="rId16" imgW="1218960" imgH="215640" progId="Equation.3">
                  <p:embed/>
                  <p:pic>
                    <p:nvPicPr>
                      <p:cNvPr id="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473" y="3853247"/>
                        <a:ext cx="22860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489216"/>
              </p:ext>
            </p:extLst>
          </p:nvPr>
        </p:nvGraphicFramePr>
        <p:xfrm>
          <a:off x="7427693" y="3435722"/>
          <a:ext cx="19288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53" name="Equation" r:id="rId18" imgW="1028520" imgH="215640" progId="Equation.3">
                  <p:embed/>
                </p:oleObj>
              </mc:Choice>
              <mc:Fallback>
                <p:oleObj name="Equation" r:id="rId18" imgW="1028520" imgH="215640" progId="Equation.3">
                  <p:embed/>
                  <p:pic>
                    <p:nvPicPr>
                      <p:cNvPr id="2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693" y="3435722"/>
                        <a:ext cx="1928812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20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79576" y="123427"/>
            <a:ext cx="1490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 Bitrate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2783632" y="864337"/>
            <a:ext cx="23762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2800" dirty="0" smtClean="0">
                <a:solidFill>
                  <a:srgbClr val="000000"/>
                </a:solidFill>
                <a:latin typeface="+mj-lt"/>
                <a:ea typeface="SimSun" pitchFamily="2" charset="-122"/>
                <a:cs typeface="Times New Roman" pitchFamily="18" charset="0"/>
              </a:rPr>
              <a:t>Vidéo RGB </a:t>
            </a:r>
            <a:endParaRPr lang="fr-FR" altLang="zh-CN" sz="2800" dirty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64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5" grpId="0"/>
      <p:bldP spid="18" grpId="0"/>
      <p:bldP spid="19" grpId="0"/>
      <p:bldP spid="20" grpId="0"/>
      <p:bldP spid="24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3592" y="156405"/>
            <a:ext cx="50902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>
                <a:latin typeface="+mj-lt"/>
                <a:cs typeface="Times New Roman" pitchFamily="18" charset="0"/>
              </a:rPr>
              <a:t>Signal audio  vs  signal vidéo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1584" y="3760558"/>
            <a:ext cx="64294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• </a:t>
            </a:r>
            <a:r>
              <a:rPr lang="en-US" sz="2400" dirty="0"/>
              <a:t>HDTV: about </a:t>
            </a:r>
            <a:r>
              <a:rPr lang="en-US" sz="2400" dirty="0" smtClean="0"/>
              <a:t>1Gbps</a:t>
            </a:r>
            <a:endParaRPr lang="fr-FR" sz="2400" dirty="0"/>
          </a:p>
        </p:txBody>
      </p:sp>
      <p:sp>
        <p:nvSpPr>
          <p:cNvPr id="16" name="ZoneTexte 15"/>
          <p:cNvSpPr txBox="1"/>
          <p:nvPr/>
        </p:nvSpPr>
        <p:spPr>
          <a:xfrm>
            <a:off x="3127196" y="911412"/>
            <a:ext cx="1888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+mj-lt"/>
              </a:rPr>
              <a:t>Bi</a:t>
            </a:r>
            <a:r>
              <a:rPr lang="en-US" sz="2800" dirty="0" smtClean="0">
                <a:latin typeface="+mj-lt"/>
              </a:rPr>
              <a:t>t</a:t>
            </a:r>
            <a:r>
              <a:rPr lang="fr-FR" sz="2800" dirty="0" smtClean="0">
                <a:latin typeface="+mj-lt"/>
              </a:rPr>
              <a:t>ra</a:t>
            </a:r>
            <a:r>
              <a:rPr lang="en-US" sz="2800" dirty="0">
                <a:latin typeface="+mj-lt"/>
              </a:rPr>
              <a:t>t</a:t>
            </a:r>
            <a:r>
              <a:rPr lang="fr-FR" sz="2800" dirty="0">
                <a:latin typeface="+mj-lt"/>
              </a:rPr>
              <a:t>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1584" y="2492896"/>
            <a:ext cx="6572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 CD   Quality digital audio:</a:t>
            </a:r>
            <a:br>
              <a:rPr lang="en-US" sz="2400" dirty="0"/>
            </a:br>
            <a:r>
              <a:rPr lang="en-US" sz="2400" dirty="0"/>
              <a:t>44.1KHz * 16bps *2 (stereo) = ~</a:t>
            </a:r>
            <a:r>
              <a:rPr lang="en-US" sz="2400" dirty="0" smtClean="0"/>
              <a:t>1.4Mbps</a:t>
            </a:r>
            <a:endParaRPr lang="fr-FR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21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51584" y="4654065"/>
            <a:ext cx="53849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One picture worth (almost) a 1000 words 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0309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6" grpId="0"/>
      <p:bldP spid="17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22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68623" y="125583"/>
            <a:ext cx="65356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 d’</a:t>
            </a:r>
            <a:r>
              <a:rPr lang="fr-FR" sz="3200" dirty="0">
                <a:latin typeface="+mj-lt"/>
              </a:rPr>
              <a:t>é</a:t>
            </a:r>
            <a:r>
              <a:rPr lang="fr-FR" sz="3200" dirty="0" smtClean="0">
                <a:latin typeface="+mj-lt"/>
              </a:rPr>
              <a:t>chantillonnage  </a:t>
            </a:r>
            <a:r>
              <a:rPr lang="fr-FR" sz="3200" dirty="0" err="1" smtClean="0">
                <a:latin typeface="+mj-lt"/>
              </a:rPr>
              <a:t>YCrCb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74751" y="893355"/>
            <a:ext cx="27067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i="1" dirty="0" smtClean="0">
                <a:latin typeface="+mj-lt"/>
              </a:rPr>
              <a:t>Taille image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7492" y="1640961"/>
            <a:ext cx="2039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i="1" dirty="0" smtClean="0">
                <a:solidFill>
                  <a:srgbClr val="000000"/>
                </a:solidFill>
              </a:rPr>
              <a:t>Exemple</a:t>
            </a: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307492" y="2420888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000" dirty="0" smtClean="0"/>
              <a:t>Résolution image : 720 × 576 pixels</a:t>
            </a:r>
            <a:endParaRPr lang="fr-FR" sz="2000" dirty="0"/>
          </a:p>
        </p:txBody>
      </p:sp>
      <p:sp>
        <p:nvSpPr>
          <p:cNvPr id="7" name="Rectangle 6"/>
          <p:cNvSpPr/>
          <p:nvPr/>
        </p:nvSpPr>
        <p:spPr>
          <a:xfrm>
            <a:off x="307492" y="2883426"/>
            <a:ext cx="79445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Résolution Y : 720 × 576 échantillon , chacun représenté sur 8 bits</a:t>
            </a:r>
            <a:endParaRPr lang="fr-FR" sz="2000" dirty="0"/>
          </a:p>
        </p:txBody>
      </p:sp>
      <p:sp>
        <p:nvSpPr>
          <p:cNvPr id="8" name="Rectangle 7"/>
          <p:cNvSpPr/>
          <p:nvPr/>
        </p:nvSpPr>
        <p:spPr>
          <a:xfrm>
            <a:off x="307493" y="3983977"/>
            <a:ext cx="85968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4:4:4    Résolution Cr, Cb : 720 × 576  échantillons ,  8 bits  chacun </a:t>
            </a:r>
            <a:br>
              <a:rPr lang="fr-FR" sz="2000" dirty="0" smtClean="0"/>
            </a:br>
            <a:r>
              <a:rPr lang="fr-FR" sz="2000" dirty="0" smtClean="0"/>
              <a:t>nombre total de  bits: (720 × 576 × 8) ×</a:t>
            </a:r>
            <a:r>
              <a:rPr lang="fr-FR" sz="2000" dirty="0" smtClean="0">
                <a:solidFill>
                  <a:srgbClr val="FF0000"/>
                </a:solidFill>
              </a:rPr>
              <a:t> </a:t>
            </a:r>
            <a:r>
              <a:rPr lang="fr-FR" sz="2000" b="1" dirty="0" smtClean="0">
                <a:solidFill>
                  <a:srgbClr val="FF0000"/>
                </a:solidFill>
              </a:rPr>
              <a:t>3</a:t>
            </a:r>
            <a:r>
              <a:rPr lang="fr-FR" sz="2000" dirty="0" smtClean="0">
                <a:solidFill>
                  <a:srgbClr val="FF0000"/>
                </a:solidFill>
              </a:rPr>
              <a:t> </a:t>
            </a:r>
            <a:r>
              <a:rPr lang="fr-FR" sz="2000" dirty="0" smtClean="0"/>
              <a:t>= 9953280 bits</a:t>
            </a:r>
            <a:endParaRPr lang="fr-FR" sz="2000" dirty="0"/>
          </a:p>
        </p:txBody>
      </p:sp>
      <p:sp>
        <p:nvSpPr>
          <p:cNvPr id="9" name="Rectangle 8"/>
          <p:cNvSpPr/>
          <p:nvPr/>
        </p:nvSpPr>
        <p:spPr>
          <a:xfrm>
            <a:off x="332990" y="4805204"/>
            <a:ext cx="81344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4:2:0   Résolution Cr, Cb : 360 × 288 échantillons ,  8 bits chacun </a:t>
            </a:r>
            <a:br>
              <a:rPr lang="fr-FR" sz="2000" dirty="0" smtClean="0"/>
            </a:br>
            <a:r>
              <a:rPr lang="fr-FR" sz="2000" dirty="0" smtClean="0"/>
              <a:t>nombre total de bits : (720 × 576 × 8</a:t>
            </a:r>
            <a:r>
              <a:rPr lang="fr-FR" sz="2000" dirty="0"/>
              <a:t>) × </a:t>
            </a:r>
            <a:r>
              <a:rPr lang="fr-FR" sz="2000" b="1" dirty="0" smtClean="0"/>
              <a:t>1</a:t>
            </a:r>
            <a:r>
              <a:rPr lang="fr-FR" sz="2000" dirty="0" smtClean="0"/>
              <a:t> + (360 × 288 × 8 )</a:t>
            </a:r>
            <a:r>
              <a:rPr lang="fr-FR" sz="2000" b="1" dirty="0" smtClean="0"/>
              <a:t>× 2</a:t>
            </a:r>
            <a:r>
              <a:rPr lang="fr-FR" sz="2000" b="1" dirty="0"/>
              <a:t> </a:t>
            </a:r>
            <a:r>
              <a:rPr lang="fr-FR" sz="2000" dirty="0" smtClean="0"/>
              <a:t>= 4976640 bits</a:t>
            </a:r>
          </a:p>
          <a:p>
            <a:r>
              <a:rPr lang="fr-FR" sz="2000" dirty="0"/>
              <a:t>nombre total de bits : (720 × 576 × 8</a:t>
            </a:r>
            <a:r>
              <a:rPr lang="fr-FR" sz="2000" dirty="0" smtClean="0"/>
              <a:t>)</a:t>
            </a:r>
            <a:r>
              <a:rPr lang="fr-FR" sz="2000" dirty="0"/>
              <a:t> </a:t>
            </a:r>
            <a:r>
              <a:rPr lang="fr-FR" sz="2000" dirty="0" smtClean="0"/>
              <a:t>× </a:t>
            </a:r>
            <a:r>
              <a:rPr lang="fr-FR" sz="2000" b="1" dirty="0" smtClean="0">
                <a:solidFill>
                  <a:srgbClr val="FF0000"/>
                </a:solidFill>
              </a:rPr>
              <a:t>1.5</a:t>
            </a:r>
            <a:r>
              <a:rPr lang="fr-FR" sz="2000" dirty="0" smtClean="0"/>
              <a:t> = </a:t>
            </a:r>
            <a:r>
              <a:rPr lang="fr-FR" sz="2000" dirty="0"/>
              <a:t>4976640 bits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149" y="5956241"/>
            <a:ext cx="80882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La version   4:2:0  exige la moitie des bits requit pour la version the 4:4:4 </a:t>
            </a:r>
            <a:endParaRPr lang="fr-FR" sz="2000" dirty="0"/>
          </a:p>
        </p:txBody>
      </p:sp>
      <p:sp>
        <p:nvSpPr>
          <p:cNvPr id="11" name="Rectangle 10"/>
          <p:cNvSpPr/>
          <p:nvPr/>
        </p:nvSpPr>
        <p:spPr>
          <a:xfrm>
            <a:off x="8837618" y="4322531"/>
            <a:ext cx="1664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fr-FR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3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8837619" y="5447429"/>
            <a:ext cx="17802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fr-FR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=1.5</a:t>
            </a:r>
            <a:endParaRPr lang="en-GB" dirty="0"/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964125"/>
              </p:ext>
            </p:extLst>
          </p:nvPr>
        </p:nvGraphicFramePr>
        <p:xfrm>
          <a:off x="1601788" y="3379788"/>
          <a:ext cx="70485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08" name="Equation" r:id="rId4" imgW="3759120" imgH="241200" progId="Equation.3">
                  <p:embed/>
                </p:oleObj>
              </mc:Choice>
              <mc:Fallback>
                <p:oleObj name="Equation" r:id="rId4" imgW="3759120" imgH="241200" progId="Equation.3">
                  <p:embed/>
                  <p:pic>
                    <p:nvPicPr>
                      <p:cNvPr id="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788" y="3379788"/>
                        <a:ext cx="7048500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595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23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364240" y="125261"/>
            <a:ext cx="7463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</a:t>
            </a:r>
            <a:r>
              <a:rPr lang="en-GB" sz="3200" i="1" dirty="0" smtClean="0">
                <a:latin typeface="+mj-lt"/>
              </a:rPr>
              <a:t> </a:t>
            </a:r>
            <a:r>
              <a:rPr lang="fr-FR" sz="3200" i="1" dirty="0" smtClean="0">
                <a:latin typeface="+mj-lt"/>
              </a:rPr>
              <a:t>d’ échantillonnage</a:t>
            </a:r>
            <a:r>
              <a:rPr lang="en-GB" sz="3200" i="1" dirty="0" smtClean="0">
                <a:latin typeface="+mj-lt"/>
              </a:rPr>
              <a:t> </a:t>
            </a:r>
            <a:r>
              <a:rPr lang="en-GB" sz="3200" i="1" dirty="0" err="1" smtClean="0">
                <a:latin typeface="+mj-lt"/>
              </a:rPr>
              <a:t>YCrCb</a:t>
            </a:r>
            <a:r>
              <a:rPr lang="en-GB" sz="3200" i="1" dirty="0" smtClean="0">
                <a:latin typeface="+mj-lt"/>
              </a:rPr>
              <a:t>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2178" y="3176660"/>
            <a:ext cx="75729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4:4:4   résolution Cr, Cb : 720 × 576 échantillons , 8 bits  chacun </a:t>
            </a:r>
            <a:br>
              <a:rPr lang="fr-FR" sz="2200" dirty="0" smtClean="0"/>
            </a:br>
            <a:r>
              <a:rPr lang="fr-FR" sz="2200" b="1" dirty="0" smtClean="0">
                <a:solidFill>
                  <a:srgbClr val="3812F4"/>
                </a:solidFill>
              </a:rPr>
              <a:t> bitrate </a:t>
            </a:r>
            <a:r>
              <a:rPr lang="fr-FR" sz="2200" dirty="0" smtClean="0"/>
              <a:t>=  [(720 × 576 × 8) × </a:t>
            </a:r>
            <a:r>
              <a:rPr lang="fr-FR" sz="2200" b="1" dirty="0" smtClean="0">
                <a:solidFill>
                  <a:srgbClr val="FF0000"/>
                </a:solidFill>
              </a:rPr>
              <a:t>3</a:t>
            </a:r>
            <a:r>
              <a:rPr lang="fr-FR" sz="2200" dirty="0" smtClean="0"/>
              <a:t>] × 25</a:t>
            </a:r>
            <a:endParaRPr lang="fr-FR" sz="2200" dirty="0"/>
          </a:p>
        </p:txBody>
      </p:sp>
      <p:sp>
        <p:nvSpPr>
          <p:cNvPr id="6" name="Rectangle 5"/>
          <p:cNvSpPr/>
          <p:nvPr/>
        </p:nvSpPr>
        <p:spPr>
          <a:xfrm>
            <a:off x="287841" y="1838092"/>
            <a:ext cx="463911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Résolution image : 720 × 576 pixels</a:t>
            </a:r>
            <a:endParaRPr lang="fr-FR" sz="2200" dirty="0"/>
          </a:p>
        </p:txBody>
      </p:sp>
      <p:sp>
        <p:nvSpPr>
          <p:cNvPr id="7" name="Rectangle 6"/>
          <p:cNvSpPr/>
          <p:nvPr/>
        </p:nvSpPr>
        <p:spPr>
          <a:xfrm>
            <a:off x="267957" y="2166951"/>
            <a:ext cx="837611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Résolution</a:t>
            </a:r>
            <a:r>
              <a:rPr lang="en-US" sz="2200" dirty="0" smtClean="0"/>
              <a:t> Y : </a:t>
            </a:r>
            <a:r>
              <a:rPr lang="en-US" sz="2200" dirty="0"/>
              <a:t>720 × 576 </a:t>
            </a:r>
            <a:r>
              <a:rPr lang="en-US" sz="2200" dirty="0" smtClean="0"/>
              <a:t> </a:t>
            </a:r>
            <a:r>
              <a:rPr lang="fr-FR" sz="2200" dirty="0" smtClean="0"/>
              <a:t>échantillon</a:t>
            </a:r>
            <a:r>
              <a:rPr lang="en-US" sz="2200" dirty="0" smtClean="0"/>
              <a:t> , </a:t>
            </a:r>
            <a:r>
              <a:rPr lang="fr-FR" sz="2200" dirty="0" smtClean="0"/>
              <a:t>chacun</a:t>
            </a:r>
            <a:r>
              <a:rPr lang="en-US" sz="2200" dirty="0" smtClean="0"/>
              <a:t> </a:t>
            </a:r>
            <a:r>
              <a:rPr lang="fr-FR" sz="2200" dirty="0" smtClean="0"/>
              <a:t>représenté</a:t>
            </a:r>
            <a:r>
              <a:rPr lang="en-US" sz="2200" dirty="0" smtClean="0"/>
              <a:t> sur  </a:t>
            </a:r>
            <a:r>
              <a:rPr lang="en-US" sz="2200" dirty="0"/>
              <a:t>8 </a:t>
            </a:r>
            <a:r>
              <a:rPr lang="en-US" sz="2200" dirty="0" smtClean="0"/>
              <a:t>bits</a:t>
            </a:r>
            <a:endParaRPr lang="en-GB" sz="2200" dirty="0"/>
          </a:p>
        </p:txBody>
      </p:sp>
      <p:sp>
        <p:nvSpPr>
          <p:cNvPr id="12" name="Rectangle 11"/>
          <p:cNvSpPr/>
          <p:nvPr/>
        </p:nvSpPr>
        <p:spPr>
          <a:xfrm>
            <a:off x="287840" y="4710432"/>
            <a:ext cx="758726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4:2:2  Résolution Cr, Cb : 360 × 576 échantillon ,  8 bits chacun </a:t>
            </a:r>
            <a:br>
              <a:rPr lang="fr-FR" sz="2200" dirty="0" smtClean="0"/>
            </a:br>
            <a:r>
              <a:rPr lang="fr-FR" sz="2200" b="1" dirty="0" smtClean="0">
                <a:solidFill>
                  <a:srgbClr val="3812F4"/>
                </a:solidFill>
              </a:rPr>
              <a:t>bitrate</a:t>
            </a:r>
            <a:r>
              <a:rPr lang="fr-FR" sz="2200" dirty="0" smtClean="0"/>
              <a:t> = [ (720 × 576 × 8) </a:t>
            </a:r>
            <a:r>
              <a:rPr lang="fr-FR" sz="2400" dirty="0"/>
              <a:t>× </a:t>
            </a:r>
            <a:r>
              <a:rPr lang="fr-FR" sz="2200" b="1" dirty="0"/>
              <a:t>1</a:t>
            </a:r>
            <a:r>
              <a:rPr lang="fr-FR" sz="2400" dirty="0"/>
              <a:t> </a:t>
            </a:r>
            <a:r>
              <a:rPr lang="fr-FR" sz="2200" dirty="0" smtClean="0"/>
              <a:t>+ (360 × 576 × 8 ) x</a:t>
            </a:r>
            <a:r>
              <a:rPr lang="fr-FR" sz="2200" b="1" dirty="0" smtClean="0"/>
              <a:t> 2</a:t>
            </a:r>
            <a:r>
              <a:rPr lang="fr-FR" sz="2200" dirty="0" smtClean="0"/>
              <a:t>] × 25 </a:t>
            </a:r>
          </a:p>
          <a:p>
            <a:r>
              <a:rPr lang="fr-FR" sz="2200" b="1" dirty="0">
                <a:solidFill>
                  <a:srgbClr val="3812F4"/>
                </a:solidFill>
              </a:rPr>
              <a:t>bitrate</a:t>
            </a:r>
            <a:r>
              <a:rPr lang="fr-FR" sz="2200" dirty="0"/>
              <a:t> = [ (720 × 576 × 8</a:t>
            </a:r>
            <a:r>
              <a:rPr lang="fr-FR" sz="2200" dirty="0" smtClean="0"/>
              <a:t>) </a:t>
            </a:r>
            <a:r>
              <a:rPr lang="fr-FR" sz="2200" dirty="0"/>
              <a:t>x </a:t>
            </a:r>
            <a:r>
              <a:rPr lang="fr-FR" sz="2200" b="1" dirty="0">
                <a:solidFill>
                  <a:srgbClr val="FF0000"/>
                </a:solidFill>
              </a:rPr>
              <a:t>2</a:t>
            </a:r>
            <a:r>
              <a:rPr lang="fr-FR" sz="2200" dirty="0"/>
              <a:t>] × 25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0045" y="2166950"/>
            <a:ext cx="11043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/>
              <a:t>fps = 25</a:t>
            </a:r>
            <a:endParaRPr lang="en-GB" sz="2200" dirty="0"/>
          </a:p>
        </p:txBody>
      </p:sp>
      <p:sp>
        <p:nvSpPr>
          <p:cNvPr id="2" name="Rectangle 1"/>
          <p:cNvSpPr/>
          <p:nvPr/>
        </p:nvSpPr>
        <p:spPr>
          <a:xfrm>
            <a:off x="8472960" y="3588568"/>
            <a:ext cx="320248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b="1" dirty="0" smtClean="0">
                <a:solidFill>
                  <a:srgbClr val="3812F4"/>
                </a:solidFill>
              </a:rPr>
              <a:t>bitrate = 248.832  Mbits/s</a:t>
            </a:r>
            <a:endParaRPr lang="fr-FR" sz="2200" b="1" dirty="0">
              <a:solidFill>
                <a:srgbClr val="3812F4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45469" y="5383540"/>
            <a:ext cx="320248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b="1" dirty="0" smtClean="0">
                <a:solidFill>
                  <a:srgbClr val="3812F4"/>
                </a:solidFill>
              </a:rPr>
              <a:t>bitrate = 165.888  Mbits/s</a:t>
            </a:r>
            <a:endParaRPr lang="fr-FR" sz="2200" b="1" dirty="0">
              <a:solidFill>
                <a:srgbClr val="3812F4"/>
              </a:solidFill>
            </a:endParaRP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464595"/>
              </p:ext>
            </p:extLst>
          </p:nvPr>
        </p:nvGraphicFramePr>
        <p:xfrm>
          <a:off x="960438" y="1416050"/>
          <a:ext cx="82867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19" name="Equation" r:id="rId4" imgW="4419360" imgH="241200" progId="Equation.3">
                  <p:embed/>
                </p:oleObj>
              </mc:Choice>
              <mc:Fallback>
                <p:oleObj name="Equation" r:id="rId4" imgW="4419360" imgH="241200" progId="Equation.3">
                  <p:embed/>
                  <p:pic>
                    <p:nvPicPr>
                      <p:cNvPr id="532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1416050"/>
                        <a:ext cx="828675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ZoneTexte 15"/>
          <p:cNvSpPr txBox="1"/>
          <p:nvPr/>
        </p:nvSpPr>
        <p:spPr>
          <a:xfrm>
            <a:off x="3127196" y="911412"/>
            <a:ext cx="1600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+mj-lt"/>
              </a:rPr>
              <a:t>Bi</a:t>
            </a:r>
            <a:r>
              <a:rPr lang="en-US" sz="2800" dirty="0" smtClean="0">
                <a:latin typeface="+mj-lt"/>
              </a:rPr>
              <a:t>t</a:t>
            </a:r>
            <a:r>
              <a:rPr lang="fr-FR" sz="2800" dirty="0" smtClean="0">
                <a:latin typeface="+mj-lt"/>
              </a:rPr>
              <a:t>ra</a:t>
            </a:r>
            <a:r>
              <a:rPr lang="en-US" sz="2800" dirty="0">
                <a:latin typeface="+mj-lt"/>
              </a:rPr>
              <a:t>t</a:t>
            </a:r>
            <a:r>
              <a:rPr lang="fr-FR" sz="2800" dirty="0">
                <a:latin typeface="+mj-lt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38279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8" grpId="0"/>
      <p:bldP spid="6" grpId="0"/>
      <p:bldP spid="7" grpId="0"/>
      <p:bldP spid="12" grpId="0"/>
      <p:bldP spid="13" grpId="0"/>
      <p:bldP spid="2" grpId="0"/>
      <p:bldP spid="15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24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364240" y="125261"/>
            <a:ext cx="7463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</a:t>
            </a:r>
            <a:r>
              <a:rPr lang="en-GB" sz="3200" i="1" dirty="0" smtClean="0">
                <a:latin typeface="+mj-lt"/>
              </a:rPr>
              <a:t> </a:t>
            </a:r>
            <a:r>
              <a:rPr lang="fr-FR" sz="3200" i="1" dirty="0" smtClean="0">
                <a:latin typeface="+mj-lt"/>
              </a:rPr>
              <a:t>d’ échantillonnage</a:t>
            </a:r>
            <a:r>
              <a:rPr lang="en-GB" sz="3200" i="1" dirty="0" smtClean="0">
                <a:latin typeface="+mj-lt"/>
              </a:rPr>
              <a:t> </a:t>
            </a:r>
            <a:r>
              <a:rPr lang="en-GB" sz="3200" i="1" dirty="0" err="1" smtClean="0">
                <a:latin typeface="+mj-lt"/>
              </a:rPr>
              <a:t>YCrCb</a:t>
            </a:r>
            <a:r>
              <a:rPr lang="en-GB" sz="3200" i="1" dirty="0" smtClean="0">
                <a:latin typeface="+mj-lt"/>
              </a:rPr>
              <a:t>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7841" y="1838092"/>
            <a:ext cx="463911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Résolution image : 720 × 576 pixels</a:t>
            </a:r>
            <a:endParaRPr lang="fr-FR" sz="2200" dirty="0"/>
          </a:p>
        </p:txBody>
      </p:sp>
      <p:sp>
        <p:nvSpPr>
          <p:cNvPr id="7" name="Rectangle 6"/>
          <p:cNvSpPr/>
          <p:nvPr/>
        </p:nvSpPr>
        <p:spPr>
          <a:xfrm>
            <a:off x="267957" y="2166951"/>
            <a:ext cx="837611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Résolution</a:t>
            </a:r>
            <a:r>
              <a:rPr lang="en-US" sz="2200" dirty="0" smtClean="0"/>
              <a:t> Y : </a:t>
            </a:r>
            <a:r>
              <a:rPr lang="en-US" sz="2200" dirty="0"/>
              <a:t>720 × 576 </a:t>
            </a:r>
            <a:r>
              <a:rPr lang="en-US" sz="2200" dirty="0" smtClean="0"/>
              <a:t> </a:t>
            </a:r>
            <a:r>
              <a:rPr lang="fr-FR" sz="2200" dirty="0" smtClean="0"/>
              <a:t>échantillon</a:t>
            </a:r>
            <a:r>
              <a:rPr lang="en-US" sz="2200" dirty="0" smtClean="0"/>
              <a:t> , </a:t>
            </a:r>
            <a:r>
              <a:rPr lang="fr-FR" sz="2200" dirty="0" smtClean="0"/>
              <a:t>chacun</a:t>
            </a:r>
            <a:r>
              <a:rPr lang="en-US" sz="2200" dirty="0" smtClean="0"/>
              <a:t> </a:t>
            </a:r>
            <a:r>
              <a:rPr lang="fr-FR" sz="2200" dirty="0" smtClean="0"/>
              <a:t>représenté</a:t>
            </a:r>
            <a:r>
              <a:rPr lang="en-US" sz="2200" dirty="0" smtClean="0"/>
              <a:t> sur  </a:t>
            </a:r>
            <a:r>
              <a:rPr lang="en-US" sz="2200" dirty="0"/>
              <a:t>8 </a:t>
            </a:r>
            <a:r>
              <a:rPr lang="en-US" sz="2200" dirty="0" smtClean="0"/>
              <a:t>bits</a:t>
            </a:r>
            <a:endParaRPr lang="en-GB" sz="2200" dirty="0"/>
          </a:p>
        </p:txBody>
      </p:sp>
      <p:sp>
        <p:nvSpPr>
          <p:cNvPr id="9" name="Rectangle 8"/>
          <p:cNvSpPr/>
          <p:nvPr/>
        </p:nvSpPr>
        <p:spPr>
          <a:xfrm>
            <a:off x="259593" y="4761509"/>
            <a:ext cx="8038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4:2:0  Résolution Cr, Cb : 360 × 288 </a:t>
            </a:r>
            <a:r>
              <a:rPr lang="fr-FR" sz="2200" dirty="0" err="1" smtClean="0"/>
              <a:t>echantillions</a:t>
            </a:r>
            <a:r>
              <a:rPr lang="fr-FR" sz="2200" dirty="0" smtClean="0"/>
              <a:t> ,8 bits chacun </a:t>
            </a:r>
            <a:br>
              <a:rPr lang="fr-FR" sz="2200" dirty="0" smtClean="0"/>
            </a:br>
            <a:r>
              <a:rPr lang="fr-FR" sz="2200" b="1" dirty="0" smtClean="0">
                <a:solidFill>
                  <a:srgbClr val="3812F4"/>
                </a:solidFill>
              </a:rPr>
              <a:t>bitrate </a:t>
            </a:r>
            <a:r>
              <a:rPr lang="fr-FR" sz="2200" dirty="0" smtClean="0"/>
              <a:t>= [(720 × 576 × 8)</a:t>
            </a:r>
            <a:r>
              <a:rPr lang="fr-FR" sz="2400" dirty="0"/>
              <a:t> </a:t>
            </a:r>
            <a:r>
              <a:rPr lang="fr-FR" sz="2200" dirty="0"/>
              <a:t>× </a:t>
            </a:r>
            <a:r>
              <a:rPr lang="fr-FR" sz="2200" b="1" dirty="0"/>
              <a:t>1</a:t>
            </a:r>
            <a:r>
              <a:rPr lang="fr-FR" sz="2200" dirty="0" smtClean="0"/>
              <a:t> + (360 × 288 × 8 × </a:t>
            </a:r>
            <a:r>
              <a:rPr lang="fr-FR" sz="2200" b="1" dirty="0" smtClean="0"/>
              <a:t>2</a:t>
            </a:r>
            <a:r>
              <a:rPr lang="fr-FR" sz="2200" dirty="0" smtClean="0"/>
              <a:t>)] × 25</a:t>
            </a:r>
          </a:p>
          <a:p>
            <a:r>
              <a:rPr lang="fr-FR" sz="2200" b="1" dirty="0">
                <a:solidFill>
                  <a:srgbClr val="3812F4"/>
                </a:solidFill>
              </a:rPr>
              <a:t>bitrate</a:t>
            </a:r>
            <a:r>
              <a:rPr lang="fr-FR" sz="2200" dirty="0"/>
              <a:t> = [(720 × 576 × 8) × </a:t>
            </a:r>
            <a:r>
              <a:rPr lang="fr-FR" sz="2200" b="1" dirty="0">
                <a:solidFill>
                  <a:srgbClr val="FF0000"/>
                </a:solidFill>
              </a:rPr>
              <a:t>1.5</a:t>
            </a:r>
            <a:r>
              <a:rPr lang="fr-FR" sz="2200" dirty="0"/>
              <a:t>] × 25 </a:t>
            </a:r>
            <a:r>
              <a:rPr lang="fr-FR" sz="2200" dirty="0" smtClean="0"/>
              <a:t> </a:t>
            </a:r>
            <a:endParaRPr lang="fr-FR" sz="2200" dirty="0"/>
          </a:p>
        </p:txBody>
      </p:sp>
      <p:sp>
        <p:nvSpPr>
          <p:cNvPr id="13" name="Rectangle 12"/>
          <p:cNvSpPr/>
          <p:nvPr/>
        </p:nvSpPr>
        <p:spPr>
          <a:xfrm>
            <a:off x="9055695" y="2166950"/>
            <a:ext cx="11043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/>
              <a:t>fps = 25</a:t>
            </a:r>
            <a:endParaRPr lang="en-GB" sz="2200" dirty="0"/>
          </a:p>
        </p:txBody>
      </p:sp>
      <p:sp>
        <p:nvSpPr>
          <p:cNvPr id="16" name="Rectangle 15"/>
          <p:cNvSpPr/>
          <p:nvPr/>
        </p:nvSpPr>
        <p:spPr>
          <a:xfrm>
            <a:off x="8438136" y="5446385"/>
            <a:ext cx="320248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3812F4"/>
                </a:solidFill>
              </a:rPr>
              <a:t>bitrate = </a:t>
            </a:r>
            <a:r>
              <a:rPr lang="en-US" sz="2200" b="1" dirty="0" smtClean="0">
                <a:solidFill>
                  <a:srgbClr val="3812F4"/>
                </a:solidFill>
              </a:rPr>
              <a:t>124.416  </a:t>
            </a:r>
            <a:r>
              <a:rPr lang="en-US" sz="2200" b="1" dirty="0" err="1" smtClean="0">
                <a:solidFill>
                  <a:srgbClr val="3812F4"/>
                </a:solidFill>
              </a:rPr>
              <a:t>Mbits</a:t>
            </a:r>
            <a:r>
              <a:rPr lang="en-US" sz="2200" b="1" dirty="0" smtClean="0">
                <a:solidFill>
                  <a:srgbClr val="3812F4"/>
                </a:solidFill>
              </a:rPr>
              <a:t>/s</a:t>
            </a:r>
            <a:endParaRPr lang="en-GB" sz="2200" b="1" dirty="0">
              <a:solidFill>
                <a:srgbClr val="3812F4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7931" y="2875368"/>
            <a:ext cx="73734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4:1:1 Résolution Cr, Cb : 180 × 576 échantillons ,  8 bits chacun </a:t>
            </a:r>
            <a:br>
              <a:rPr lang="fr-FR" sz="2200" dirty="0" smtClean="0"/>
            </a:br>
            <a:r>
              <a:rPr lang="fr-FR" sz="2200" b="1" dirty="0" smtClean="0">
                <a:solidFill>
                  <a:srgbClr val="3812F4"/>
                </a:solidFill>
              </a:rPr>
              <a:t>bitrate</a:t>
            </a:r>
            <a:r>
              <a:rPr lang="fr-FR" sz="2200" dirty="0" smtClean="0"/>
              <a:t> = [(720 × 576 × 8) </a:t>
            </a:r>
            <a:r>
              <a:rPr lang="fr-FR" sz="2200" dirty="0"/>
              <a:t>× </a:t>
            </a:r>
            <a:r>
              <a:rPr lang="fr-FR" sz="2200" b="1" dirty="0"/>
              <a:t>1</a:t>
            </a:r>
            <a:r>
              <a:rPr lang="fr-FR" sz="2200" dirty="0"/>
              <a:t> </a:t>
            </a:r>
            <a:r>
              <a:rPr lang="fr-FR" sz="2200" dirty="0" smtClean="0"/>
              <a:t>+ (180 × 576 × 8 × </a:t>
            </a:r>
            <a:r>
              <a:rPr lang="fr-FR" sz="2200" b="1" dirty="0" smtClean="0"/>
              <a:t>2</a:t>
            </a:r>
            <a:r>
              <a:rPr lang="fr-FR" sz="2200" dirty="0" smtClean="0"/>
              <a:t>)] × 25 </a:t>
            </a:r>
          </a:p>
          <a:p>
            <a:r>
              <a:rPr lang="fr-FR" sz="2200" b="1" dirty="0">
                <a:solidFill>
                  <a:srgbClr val="3812F4"/>
                </a:solidFill>
              </a:rPr>
              <a:t>bitrate</a:t>
            </a:r>
            <a:r>
              <a:rPr lang="fr-FR" sz="2200" dirty="0"/>
              <a:t> = [(720 × 576 × 8) </a:t>
            </a:r>
            <a:r>
              <a:rPr lang="fr-FR" sz="2200" dirty="0" smtClean="0"/>
              <a:t>× </a:t>
            </a:r>
            <a:r>
              <a:rPr lang="fr-FR" sz="2200" b="1" dirty="0" smtClean="0">
                <a:solidFill>
                  <a:srgbClr val="FF0000"/>
                </a:solidFill>
              </a:rPr>
              <a:t>1.5</a:t>
            </a:r>
            <a:r>
              <a:rPr lang="fr-FR" sz="2200" dirty="0" smtClean="0"/>
              <a:t>] </a:t>
            </a:r>
            <a:r>
              <a:rPr lang="fr-FR" sz="2200" dirty="0"/>
              <a:t>× 25 </a:t>
            </a:r>
          </a:p>
          <a:p>
            <a:endParaRPr lang="fr-FR" sz="2200" dirty="0"/>
          </a:p>
        </p:txBody>
      </p:sp>
      <p:sp>
        <p:nvSpPr>
          <p:cNvPr id="18" name="Rectangle 17"/>
          <p:cNvSpPr/>
          <p:nvPr/>
        </p:nvSpPr>
        <p:spPr>
          <a:xfrm>
            <a:off x="8510144" y="3646185"/>
            <a:ext cx="320248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3812F4"/>
                </a:solidFill>
              </a:rPr>
              <a:t>bitrate = </a:t>
            </a:r>
            <a:r>
              <a:rPr lang="en-US" sz="2200" b="1" dirty="0" smtClean="0">
                <a:solidFill>
                  <a:srgbClr val="3812F4"/>
                </a:solidFill>
              </a:rPr>
              <a:t>124.416  </a:t>
            </a:r>
            <a:r>
              <a:rPr lang="en-US" sz="2200" b="1" dirty="0" err="1" smtClean="0">
                <a:solidFill>
                  <a:srgbClr val="3812F4"/>
                </a:solidFill>
              </a:rPr>
              <a:t>Mbits</a:t>
            </a:r>
            <a:r>
              <a:rPr lang="en-US" sz="2200" b="1" dirty="0" smtClean="0">
                <a:solidFill>
                  <a:srgbClr val="3812F4"/>
                </a:solidFill>
              </a:rPr>
              <a:t>/s</a:t>
            </a:r>
            <a:endParaRPr lang="en-GB" sz="2200" b="1" dirty="0">
              <a:solidFill>
                <a:srgbClr val="3812F4"/>
              </a:solidFill>
            </a:endParaRP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849013"/>
              </p:ext>
            </p:extLst>
          </p:nvPr>
        </p:nvGraphicFramePr>
        <p:xfrm>
          <a:off x="911424" y="1408113"/>
          <a:ext cx="82867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98" name="Equation" r:id="rId4" imgW="4419360" imgH="241200" progId="Equation.3">
                  <p:embed/>
                </p:oleObj>
              </mc:Choice>
              <mc:Fallback>
                <p:oleObj name="Equation" r:id="rId4" imgW="4419360" imgH="241200" progId="Equation.3">
                  <p:embed/>
                  <p:pic>
                    <p:nvPicPr>
                      <p:cNvPr id="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1408113"/>
                        <a:ext cx="8286750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ZoneTexte 15"/>
          <p:cNvSpPr txBox="1"/>
          <p:nvPr/>
        </p:nvSpPr>
        <p:spPr>
          <a:xfrm>
            <a:off x="3127196" y="911412"/>
            <a:ext cx="1600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+mj-lt"/>
              </a:rPr>
              <a:t>Bi</a:t>
            </a:r>
            <a:r>
              <a:rPr lang="en-US" sz="2800" dirty="0" smtClean="0">
                <a:latin typeface="+mj-lt"/>
              </a:rPr>
              <a:t>t</a:t>
            </a:r>
            <a:r>
              <a:rPr lang="fr-FR" sz="2800" dirty="0" smtClean="0">
                <a:latin typeface="+mj-lt"/>
              </a:rPr>
              <a:t>ra</a:t>
            </a:r>
            <a:r>
              <a:rPr lang="en-US" sz="2800" dirty="0">
                <a:latin typeface="+mj-lt"/>
              </a:rPr>
              <a:t>t</a:t>
            </a:r>
            <a:r>
              <a:rPr lang="fr-FR" sz="2800" dirty="0">
                <a:latin typeface="+mj-lt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95587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/>
      <p:bldP spid="7" grpId="0"/>
      <p:bldP spid="9" grpId="0"/>
      <p:bldP spid="13" grpId="0"/>
      <p:bldP spid="16" grpId="0"/>
      <p:bldP spid="17" grpId="0"/>
      <p:bldP spid="18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23592" y="105934"/>
            <a:ext cx="5727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>
                <a:latin typeface="+mj-lt"/>
                <a:cs typeface="Times New Roman" pitchFamily="18" charset="0"/>
              </a:rPr>
              <a:t>Application de </a:t>
            </a:r>
            <a:r>
              <a:rPr lang="fr-FR" sz="3200" dirty="0" smtClean="0">
                <a:latin typeface="+mj-lt"/>
                <a:cs typeface="Times New Roman" pitchFamily="18" charset="0"/>
              </a:rPr>
              <a:t>l’ échantillonnage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71696" name="Rectangle 1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44" name="Tableau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340684"/>
              </p:ext>
            </p:extLst>
          </p:nvPr>
        </p:nvGraphicFramePr>
        <p:xfrm>
          <a:off x="839415" y="1196752"/>
          <a:ext cx="9307190" cy="4019066"/>
        </p:xfrm>
        <a:graphic>
          <a:graphicData uri="http://schemas.openxmlformats.org/drawingml/2006/table">
            <a:tbl>
              <a:tblPr/>
              <a:tblGrid>
                <a:gridCol w="309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8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08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0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5477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latin typeface="Times New Roman"/>
                          <a:ea typeface="SimSun"/>
                        </a:rPr>
                        <a:t>HDTV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i="1">
                          <a:latin typeface="Times New Roman"/>
                          <a:ea typeface="SimSun"/>
                        </a:rPr>
                        <a:t>CCIR 601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i="1">
                          <a:latin typeface="Times New Roman"/>
                          <a:ea typeface="SimSun"/>
                        </a:rPr>
                        <a:t>NTSC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latin typeface="Times New Roman"/>
                          <a:ea typeface="SimSun"/>
                        </a:rPr>
                        <a:t>CCIR 601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latin typeface="Times New Roman"/>
                          <a:ea typeface="SimSun"/>
                        </a:rPr>
                        <a:t>PAL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latin typeface="Times New Roman"/>
                          <a:ea typeface="SimSun"/>
                        </a:rPr>
                        <a:t>CIF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latin typeface="Times New Roman"/>
                          <a:ea typeface="SimSun"/>
                        </a:rPr>
                        <a:t>QCIF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5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Résolution luminance  </a:t>
                      </a:r>
                      <a:endParaRPr lang="fr-FR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1920x1080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720x486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720x576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352x288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176x144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5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Résolution chrominance</a:t>
                      </a:r>
                      <a:endParaRPr lang="fr-FR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960x540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360x486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360x576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176x144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88x72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3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Échantillonnage chrominance </a:t>
                      </a:r>
                      <a:endParaRPr lang="fr-FR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:2 :2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:2 :2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4 :2 :2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:2 :0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4 :2 :0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5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noProof="0" dirty="0" err="1" smtClean="0">
                          <a:latin typeface="Times New Roman"/>
                          <a:ea typeface="SimSun"/>
                        </a:rPr>
                        <a:t>fps</a:t>
                      </a: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 </a:t>
                      </a:r>
                      <a:endParaRPr lang="fr-FR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5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Aspect</a:t>
                      </a:r>
                      <a:r>
                        <a:rPr lang="fr-FR" sz="1800" b="1" baseline="0" noProof="0" dirty="0" smtClean="0">
                          <a:latin typeface="Times New Roman"/>
                          <a:ea typeface="SimSun"/>
                        </a:rPr>
                        <a:t> </a:t>
                      </a: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 image </a:t>
                      </a:r>
                      <a:endParaRPr lang="fr-FR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 smtClean="0">
                          <a:latin typeface="Times New Roman"/>
                          <a:ea typeface="SimSun"/>
                        </a:rPr>
                        <a:t>16 :9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4 :3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5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 smtClean="0">
                          <a:latin typeface="Times New Roman"/>
                          <a:ea typeface="SimSun"/>
                        </a:rPr>
                        <a:t>Entrelacé</a:t>
                      </a:r>
                      <a:r>
                        <a:rPr lang="fr-FR" sz="1800" b="1" baseline="0" dirty="0" smtClean="0">
                          <a:latin typeface="Times New Roman"/>
                          <a:ea typeface="SimSun"/>
                        </a:rPr>
                        <a:t> 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noProof="0" dirty="0" smtClean="0">
                          <a:latin typeface="Times New Roman"/>
                          <a:ea typeface="SimSun"/>
                        </a:rPr>
                        <a:t>yes</a:t>
                      </a:r>
                      <a:endParaRPr lang="en-GB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noProof="0" dirty="0" smtClean="0">
                          <a:latin typeface="Times New Roman"/>
                          <a:ea typeface="SimSun"/>
                        </a:rPr>
                        <a:t>yes</a:t>
                      </a:r>
                      <a:endParaRPr lang="en-GB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noProof="0" dirty="0" smtClean="0">
                          <a:latin typeface="Times New Roman"/>
                          <a:ea typeface="SimSun"/>
                        </a:rPr>
                        <a:t>no</a:t>
                      </a:r>
                      <a:endParaRPr lang="en-GB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noProof="0" dirty="0" smtClean="0">
                          <a:latin typeface="Times New Roman"/>
                          <a:ea typeface="SimSun"/>
                        </a:rPr>
                        <a:t>no</a:t>
                      </a:r>
                      <a:endParaRPr lang="en-GB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noProof="0" dirty="0" smtClean="0">
                          <a:latin typeface="Times New Roman"/>
                          <a:ea typeface="SimSun"/>
                        </a:rPr>
                        <a:t>no</a:t>
                      </a:r>
                      <a:endParaRPr lang="en-GB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25</a:t>
            </a:fld>
            <a:endParaRPr lang="fr-BE" sz="18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23592" y="149057"/>
            <a:ext cx="31726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Vidéo numérique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26</a:t>
            </a:fld>
            <a:endParaRPr lang="fr-BE" sz="1800" b="1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00" y="1500838"/>
            <a:ext cx="10817813" cy="251383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43672" y="855652"/>
            <a:ext cx="38884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rgbClr val="000000"/>
                </a:solidFill>
                <a:latin typeface="+mj-lt"/>
              </a:rPr>
              <a:t>Formats intermédiaire </a:t>
            </a:r>
            <a:endParaRPr lang="fr-FR" sz="28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360" y="4310525"/>
            <a:ext cx="11521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4CIF est approprié pour la télévision en définition standard et le DVD-vidéo.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937" y="4979495"/>
            <a:ext cx="11521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CIF et QCIF sont populaires pour les applications de vidéoconférence.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937" y="5648465"/>
            <a:ext cx="11521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QCIF ou SQCIF sont appropriés pour les applications multimédia mobiles où la résolution d'affichage et le débit binaire sont limités.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3675</TotalTime>
  <Words>1621</Words>
  <Application>Microsoft Office PowerPoint</Application>
  <PresentationFormat>Widescreen</PresentationFormat>
  <Paragraphs>309</Paragraphs>
  <Slides>26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宋体</vt:lpstr>
      <vt:lpstr>宋体</vt:lpstr>
      <vt:lpstr>Arial</vt:lpstr>
      <vt:lpstr>Calibri</vt:lpstr>
      <vt:lpstr>Roboto</vt:lpstr>
      <vt:lpstr>Times New Roman</vt:lpstr>
      <vt:lpstr>Thème Office</vt:lpstr>
      <vt:lpstr>Équation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Principe de formation  des images</dc:title>
  <dc:creator>ABDERRAHMANE</dc:creator>
  <cp:lastModifiedBy>USER</cp:lastModifiedBy>
  <cp:revision>690</cp:revision>
  <dcterms:created xsi:type="dcterms:W3CDTF">2019-10-21T15:42:17Z</dcterms:created>
  <dcterms:modified xsi:type="dcterms:W3CDTF">2025-10-26T19:49:35Z</dcterms:modified>
</cp:coreProperties>
</file>