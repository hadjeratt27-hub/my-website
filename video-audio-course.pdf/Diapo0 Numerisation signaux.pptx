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4" r:id="rId2"/>
    <p:sldId id="266" r:id="rId3"/>
    <p:sldId id="297" r:id="rId4"/>
    <p:sldId id="267" r:id="rId5"/>
    <p:sldId id="268" r:id="rId6"/>
    <p:sldId id="298" r:id="rId7"/>
    <p:sldId id="299" r:id="rId8"/>
    <p:sldId id="307" r:id="rId9"/>
    <p:sldId id="309" r:id="rId10"/>
    <p:sldId id="304" r:id="rId11"/>
    <p:sldId id="306" r:id="rId12"/>
    <p:sldId id="308" r:id="rId13"/>
    <p:sldId id="310" r:id="rId14"/>
    <p:sldId id="314" r:id="rId15"/>
    <p:sldId id="315" r:id="rId16"/>
    <p:sldId id="311" r:id="rId17"/>
    <p:sldId id="312" r:id="rId18"/>
    <p:sldId id="313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4" autoAdjust="0"/>
    <p:restoredTop sz="86345" autoAdjust="0"/>
  </p:normalViewPr>
  <p:slideViewPr>
    <p:cSldViewPr>
      <p:cViewPr varScale="1">
        <p:scale>
          <a:sx n="45" d="100"/>
          <a:sy n="45" d="100"/>
        </p:scale>
        <p:origin x="80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46" y="7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9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1" Type="http://schemas.openxmlformats.org/officeDocument/2006/relationships/image" Target="../media/image71.wmf"/><Relationship Id="rId5" Type="http://schemas.openxmlformats.org/officeDocument/2006/relationships/image" Target="../media/image6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6DC23-7474-4DC7-98A9-E54664E76549}" type="datetimeFigureOut">
              <a:rPr lang="fr-FR" smtClean="0"/>
              <a:pPr/>
              <a:t>28/09/2025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1C1C7-12CF-4C56-AF83-A11C91197268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42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11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32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94709-3F10-46E2-8975-52E0785E7905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6DAD-9438-4DB8-9BC9-28860D15DF76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5A05C-5BBE-42C3-A9E4-D2562674BDD4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42F1-0CBB-46DF-A020-965D8122BDB7}" type="datetime1">
              <a:rPr lang="fr-FR" smtClean="0"/>
              <a:t>28/09/2025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3436-E13F-4A99-863F-1AD2823737D5}" type="datetime1">
              <a:rPr lang="fr-FR" smtClean="0"/>
              <a:t>28/09/2025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610DC-3B34-401B-A2C5-A5FF69096E32}" type="datetime1">
              <a:rPr lang="fr-FR" smtClean="0"/>
              <a:t>28/09/2025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4132-456E-4FD7-8E33-17A2A9BF07FE}" type="datetime1">
              <a:rPr lang="fr-FR" smtClean="0"/>
              <a:t>28/09/2025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786F-0EB8-4D12-A9E4-958F20DFD47E}" type="datetime1">
              <a:rPr lang="fr-FR" smtClean="0"/>
              <a:t>28/09/2025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F9B8-B253-4178-9732-BF11438D8228}" type="datetime1">
              <a:rPr lang="fr-FR" smtClean="0"/>
              <a:t>28/09/2025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EA43C-35F9-4853-927E-6F1424C52470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B014C-AD03-46E0-ADD1-6D0D63299A2A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2817E-074E-4054-B553-6C1B885BB0CA}" type="datetime1">
              <a:rPr lang="fr-FR" smtClean="0"/>
              <a:t>28/09/2025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7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3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5.png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20.wmf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33.wmf"/><Relationship Id="rId3" Type="http://schemas.openxmlformats.org/officeDocument/2006/relationships/image" Target="../media/image29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1.wmf"/><Relationship Id="rId5" Type="http://schemas.openxmlformats.org/officeDocument/2006/relationships/image" Target="../media/image26.wmf"/><Relationship Id="rId15" Type="http://schemas.openxmlformats.org/officeDocument/2006/relationships/image" Target="../media/image35.wmf"/><Relationship Id="rId10" Type="http://schemas.openxmlformats.org/officeDocument/2006/relationships/image" Target="../media/image30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8.wmf"/><Relationship Id="rId14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40.wmf"/><Relationship Id="rId3" Type="http://schemas.openxmlformats.org/officeDocument/2006/relationships/image" Target="../media/image30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28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50.png"/><Relationship Id="rId21" Type="http://schemas.openxmlformats.org/officeDocument/2006/relationships/oleObject" Target="../embeddings/oleObject37.bin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48.wmf"/><Relationship Id="rId25" Type="http://schemas.openxmlformats.org/officeDocument/2006/relationships/image" Target="../media/image52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20" Type="http://schemas.openxmlformats.org/officeDocument/2006/relationships/image" Target="../media/image51.png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5.wmf"/><Relationship Id="rId24" Type="http://schemas.openxmlformats.org/officeDocument/2006/relationships/oleObject" Target="../embeddings/oleObject40.bin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23" Type="http://schemas.openxmlformats.org/officeDocument/2006/relationships/oleObject" Target="../embeddings/oleObject39.bin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3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8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56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69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67.wmf"/><Relationship Id="rId25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59.bin"/><Relationship Id="rId5" Type="http://schemas.openxmlformats.org/officeDocument/2006/relationships/image" Target="../media/image61.wmf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68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4379" y="214290"/>
            <a:ext cx="46660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Numérisation  des signaux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0084" y="979215"/>
            <a:ext cx="23937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Pourquoi numériser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00127" y="1682041"/>
            <a:ext cx="18117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Enregistrement 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2652" y="2357710"/>
            <a:ext cx="41504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Manipulation ( indexation et stockage)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2652" y="3130647"/>
            <a:ext cx="21918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Copies et diffusion 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360" y="3854887"/>
            <a:ext cx="80724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Pour la transmission la numérisation des signaux  se fait  pour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8882" y="4600541"/>
            <a:ext cx="1252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Cryptage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8156" y="5303367"/>
            <a:ext cx="16642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Compression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8280" y="6009545"/>
            <a:ext cx="26516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Correction des erreurs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</a:t>
            </a:fld>
            <a:endParaRPr lang="fr-BE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5367360" y="1000108"/>
            <a:ext cx="3800475" cy="1225550"/>
            <a:chOff x="2813" y="8261"/>
            <a:chExt cx="5984" cy="2043"/>
          </a:xfrm>
        </p:grpSpPr>
        <p:grpSp>
          <p:nvGrpSpPr>
            <p:cNvPr id="1027" name="Group 3"/>
            <p:cNvGrpSpPr>
              <a:grpSpLocks/>
            </p:cNvGrpSpPr>
            <p:nvPr/>
          </p:nvGrpSpPr>
          <p:grpSpPr bwMode="auto">
            <a:xfrm>
              <a:off x="2869" y="8382"/>
              <a:ext cx="5386" cy="1922"/>
              <a:chOff x="2869" y="8382"/>
              <a:chExt cx="5386" cy="1922"/>
            </a:xfrm>
          </p:grpSpPr>
          <p:grpSp>
            <p:nvGrpSpPr>
              <p:cNvPr id="1028" name="Group 4"/>
              <p:cNvGrpSpPr>
                <a:grpSpLocks/>
              </p:cNvGrpSpPr>
              <p:nvPr/>
            </p:nvGrpSpPr>
            <p:grpSpPr bwMode="auto">
              <a:xfrm>
                <a:off x="3667" y="8891"/>
                <a:ext cx="4148" cy="1015"/>
                <a:chOff x="2510" y="8048"/>
                <a:chExt cx="4148" cy="1124"/>
              </a:xfrm>
            </p:grpSpPr>
            <p:cxnSp>
              <p:nvCxnSpPr>
                <p:cNvPr id="1029" name="AutoShape 5"/>
                <p:cNvCxnSpPr>
                  <a:cxnSpLocks noChangeShapeType="1"/>
                </p:cNvCxnSpPr>
                <p:nvPr/>
              </p:nvCxnSpPr>
              <p:spPr bwMode="auto">
                <a:xfrm flipH="1">
                  <a:off x="2510" y="8048"/>
                  <a:ext cx="4129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cxnSp>
              <p:nvCxnSpPr>
                <p:cNvPr id="1030" name="AutoShape 6"/>
                <p:cNvCxnSpPr>
                  <a:cxnSpLocks noChangeShapeType="1"/>
                </p:cNvCxnSpPr>
                <p:nvPr/>
              </p:nvCxnSpPr>
              <p:spPr bwMode="auto">
                <a:xfrm flipH="1">
                  <a:off x="2529" y="9172"/>
                  <a:ext cx="4129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</p:grpSp>
          <p:grpSp>
            <p:nvGrpSpPr>
              <p:cNvPr id="1031" name="Group 7"/>
              <p:cNvGrpSpPr>
                <a:grpSpLocks/>
              </p:cNvGrpSpPr>
              <p:nvPr/>
            </p:nvGrpSpPr>
            <p:grpSpPr bwMode="auto">
              <a:xfrm>
                <a:off x="2869" y="8382"/>
                <a:ext cx="5386" cy="1922"/>
                <a:chOff x="2583" y="7254"/>
                <a:chExt cx="5386" cy="2609"/>
              </a:xfrm>
            </p:grpSpPr>
            <p:sp>
              <p:nvSpPr>
                <p:cNvPr id="1032" name="Freeform 8"/>
                <p:cNvSpPr>
                  <a:spLocks/>
                </p:cNvSpPr>
                <p:nvPr/>
              </p:nvSpPr>
              <p:spPr bwMode="auto">
                <a:xfrm>
                  <a:off x="3402" y="7905"/>
                  <a:ext cx="3638" cy="1410"/>
                </a:xfrm>
                <a:custGeom>
                  <a:avLst/>
                  <a:gdLst/>
                  <a:ahLst/>
                  <a:cxnLst>
                    <a:cxn ang="0">
                      <a:pos x="0" y="883"/>
                    </a:cxn>
                    <a:cxn ang="0">
                      <a:pos x="969" y="692"/>
                    </a:cxn>
                    <a:cxn ang="0">
                      <a:pos x="2065" y="42"/>
                    </a:cxn>
                    <a:cxn ang="0">
                      <a:pos x="3467" y="437"/>
                    </a:cxn>
                  </a:cxnLst>
                  <a:rect l="0" t="0" r="r" b="b"/>
                  <a:pathLst>
                    <a:path w="3467" h="883">
                      <a:moveTo>
                        <a:pt x="0" y="883"/>
                      </a:moveTo>
                      <a:cubicBezTo>
                        <a:pt x="312" y="857"/>
                        <a:pt x="625" y="832"/>
                        <a:pt x="969" y="692"/>
                      </a:cubicBezTo>
                      <a:cubicBezTo>
                        <a:pt x="1313" y="552"/>
                        <a:pt x="1649" y="84"/>
                        <a:pt x="2065" y="42"/>
                      </a:cubicBezTo>
                      <a:cubicBezTo>
                        <a:pt x="2481" y="0"/>
                        <a:pt x="2974" y="218"/>
                        <a:pt x="3467" y="437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grpSp>
              <p:nvGrpSpPr>
                <p:cNvPr id="1033" name="Group 9"/>
                <p:cNvGrpSpPr>
                  <a:grpSpLocks/>
                </p:cNvGrpSpPr>
                <p:nvPr/>
              </p:nvGrpSpPr>
              <p:grpSpPr bwMode="auto">
                <a:xfrm>
                  <a:off x="2583" y="7254"/>
                  <a:ext cx="5386" cy="2609"/>
                  <a:chOff x="2583" y="7254"/>
                  <a:chExt cx="5386" cy="2609"/>
                </a:xfrm>
              </p:grpSpPr>
              <p:cxnSp>
                <p:nvCxnSpPr>
                  <p:cNvPr id="1034" name="AutoShape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3402" y="7254"/>
                    <a:ext cx="1" cy="2609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1035" name="AutoShape 1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583" y="9527"/>
                    <a:ext cx="5386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</p:grpSp>
        </p:grpSp>
        <p:grpSp>
          <p:nvGrpSpPr>
            <p:cNvPr id="1036" name="Group 12"/>
            <p:cNvGrpSpPr>
              <a:grpSpLocks/>
            </p:cNvGrpSpPr>
            <p:nvPr/>
          </p:nvGrpSpPr>
          <p:grpSpPr bwMode="auto">
            <a:xfrm>
              <a:off x="3144" y="8746"/>
              <a:ext cx="447" cy="1245"/>
              <a:chOff x="3144" y="8746"/>
              <a:chExt cx="447" cy="1245"/>
            </a:xfrm>
          </p:grpSpPr>
          <p:sp>
            <p:nvSpPr>
              <p:cNvPr id="1037" name="Rectangle 13"/>
              <p:cNvSpPr>
                <a:spLocks noChangeArrowheads="1"/>
              </p:cNvSpPr>
              <p:nvPr/>
            </p:nvSpPr>
            <p:spPr bwMode="auto">
              <a:xfrm>
                <a:off x="3157" y="8746"/>
                <a:ext cx="434" cy="31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80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B</a:t>
                </a: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/>
            </p:nvSpPr>
            <p:spPr bwMode="auto">
              <a:xfrm>
                <a:off x="3144" y="9675"/>
                <a:ext cx="434" cy="31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80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39" name="Group 15"/>
            <p:cNvGrpSpPr>
              <a:grpSpLocks/>
            </p:cNvGrpSpPr>
            <p:nvPr/>
          </p:nvGrpSpPr>
          <p:grpSpPr bwMode="auto">
            <a:xfrm>
              <a:off x="2813" y="8261"/>
              <a:ext cx="5984" cy="1819"/>
              <a:chOff x="2813" y="8261"/>
              <a:chExt cx="5984" cy="1819"/>
            </a:xfrm>
          </p:grpSpPr>
          <p:sp>
            <p:nvSpPr>
              <p:cNvPr id="1040" name="Rectangle 16"/>
              <p:cNvSpPr>
                <a:spLocks noChangeArrowheads="1"/>
              </p:cNvSpPr>
              <p:nvPr/>
            </p:nvSpPr>
            <p:spPr bwMode="auto">
              <a:xfrm>
                <a:off x="2813" y="8261"/>
                <a:ext cx="759" cy="51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1" name="Rectangle 17"/>
              <p:cNvSpPr>
                <a:spLocks noChangeArrowheads="1"/>
              </p:cNvSpPr>
              <p:nvPr/>
            </p:nvSpPr>
            <p:spPr bwMode="auto">
              <a:xfrm>
                <a:off x="8331" y="9743"/>
                <a:ext cx="466" cy="33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042" name="Group 18"/>
          <p:cNvGrpSpPr>
            <a:grpSpLocks/>
          </p:cNvGrpSpPr>
          <p:nvPr/>
        </p:nvGrpSpPr>
        <p:grpSpPr bwMode="auto">
          <a:xfrm>
            <a:off x="5456260" y="2428869"/>
            <a:ext cx="3783013" cy="1684337"/>
            <a:chOff x="2475" y="8979"/>
            <a:chExt cx="5957" cy="2536"/>
          </a:xfrm>
        </p:grpSpPr>
        <p:grpSp>
          <p:nvGrpSpPr>
            <p:cNvPr id="1043" name="Group 19"/>
            <p:cNvGrpSpPr>
              <a:grpSpLocks/>
            </p:cNvGrpSpPr>
            <p:nvPr/>
          </p:nvGrpSpPr>
          <p:grpSpPr bwMode="auto">
            <a:xfrm>
              <a:off x="2475" y="9196"/>
              <a:ext cx="5386" cy="2319"/>
              <a:chOff x="2758" y="12307"/>
              <a:chExt cx="5386" cy="2603"/>
            </a:xfrm>
          </p:grpSpPr>
          <p:grpSp>
            <p:nvGrpSpPr>
              <p:cNvPr id="1044" name="Group 20"/>
              <p:cNvGrpSpPr>
                <a:grpSpLocks/>
              </p:cNvGrpSpPr>
              <p:nvPr/>
            </p:nvGrpSpPr>
            <p:grpSpPr bwMode="auto">
              <a:xfrm>
                <a:off x="3025" y="12856"/>
                <a:ext cx="507" cy="1547"/>
                <a:chOff x="3025" y="12442"/>
                <a:chExt cx="507" cy="1547"/>
              </a:xfrm>
            </p:grpSpPr>
            <p:sp>
              <p:nvSpPr>
                <p:cNvPr id="1045" name="Rectangle 21"/>
                <p:cNvSpPr>
                  <a:spLocks noChangeArrowheads="1"/>
                </p:cNvSpPr>
                <p:nvPr/>
              </p:nvSpPr>
              <p:spPr bwMode="auto">
                <a:xfrm>
                  <a:off x="3071" y="13632"/>
                  <a:ext cx="461" cy="35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ts val="1000"/>
                    </a:spcAft>
                  </a:pPr>
                  <a:r>
                    <a:rPr lang="fr-FR" sz="8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A</a:t>
                  </a:r>
                  <a:r>
                    <a:rPr lang="fr-FR" sz="800" baseline="-250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1</a:t>
                  </a: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6" name="Rectangle 22"/>
                <p:cNvSpPr>
                  <a:spLocks noChangeArrowheads="1"/>
                </p:cNvSpPr>
                <p:nvPr/>
              </p:nvSpPr>
              <p:spPr bwMode="auto">
                <a:xfrm>
                  <a:off x="3064" y="13196"/>
                  <a:ext cx="461" cy="35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ts val="1000"/>
                    </a:spcAft>
                  </a:pPr>
                  <a:r>
                    <a:rPr lang="fr-FR" sz="8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A</a:t>
                  </a:r>
                  <a:r>
                    <a:rPr lang="fr-FR" sz="800" baseline="-250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2</a:t>
                  </a: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7" name="Rectangle 23"/>
                <p:cNvSpPr>
                  <a:spLocks noChangeArrowheads="1"/>
                </p:cNvSpPr>
                <p:nvPr/>
              </p:nvSpPr>
              <p:spPr bwMode="auto">
                <a:xfrm>
                  <a:off x="3038" y="12793"/>
                  <a:ext cx="461" cy="35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ts val="1000"/>
                    </a:spcAft>
                  </a:pPr>
                  <a:r>
                    <a:rPr lang="fr-FR" sz="8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A</a:t>
                  </a:r>
                  <a:r>
                    <a:rPr lang="fr-FR" sz="800" baseline="-250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3</a:t>
                  </a: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8" name="Rectangle 24"/>
                <p:cNvSpPr>
                  <a:spLocks noChangeArrowheads="1"/>
                </p:cNvSpPr>
                <p:nvPr/>
              </p:nvSpPr>
              <p:spPr bwMode="auto">
                <a:xfrm>
                  <a:off x="3025" y="12442"/>
                  <a:ext cx="461" cy="35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ts val="1000"/>
                    </a:spcAft>
                  </a:pPr>
                  <a:r>
                    <a:rPr lang="fr-FR" sz="8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A</a:t>
                  </a:r>
                  <a:r>
                    <a:rPr lang="fr-FR" sz="800" baseline="-25000">
                      <a:latin typeface="Times New Roman" pitchFamily="18" charset="0"/>
                      <a:ea typeface="Arial" pitchFamily="34" charset="0"/>
                      <a:cs typeface="Arial" pitchFamily="34" charset="0"/>
                    </a:rPr>
                    <a:t>4</a:t>
                  </a: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049" name="Group 25"/>
              <p:cNvGrpSpPr>
                <a:grpSpLocks/>
              </p:cNvGrpSpPr>
              <p:nvPr/>
            </p:nvGrpSpPr>
            <p:grpSpPr bwMode="auto">
              <a:xfrm>
                <a:off x="2758" y="12307"/>
                <a:ext cx="5386" cy="2603"/>
                <a:chOff x="2758" y="12294"/>
                <a:chExt cx="5386" cy="2603"/>
              </a:xfrm>
            </p:grpSpPr>
            <p:grpSp>
              <p:nvGrpSpPr>
                <p:cNvPr id="1050" name="Group 26"/>
                <p:cNvGrpSpPr>
                  <a:grpSpLocks/>
                </p:cNvGrpSpPr>
                <p:nvPr/>
              </p:nvGrpSpPr>
              <p:grpSpPr bwMode="auto">
                <a:xfrm>
                  <a:off x="3577" y="13037"/>
                  <a:ext cx="3114" cy="1150"/>
                  <a:chOff x="3642" y="12545"/>
                  <a:chExt cx="3114" cy="1150"/>
                </a:xfrm>
              </p:grpSpPr>
              <p:cxnSp>
                <p:nvCxnSpPr>
                  <p:cNvPr id="1051" name="AutoShape 2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642" y="13694"/>
                    <a:ext cx="624" cy="1"/>
                  </a:xfrm>
                  <a:prstGeom prst="straightConnector1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grpSp>
                <p:nvGrpSpPr>
                  <p:cNvPr id="1052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4266" y="12925"/>
                    <a:ext cx="1248" cy="7"/>
                    <a:chOff x="4266" y="12925"/>
                    <a:chExt cx="1248" cy="7"/>
                  </a:xfrm>
                </p:grpSpPr>
                <p:cxnSp>
                  <p:nvCxnSpPr>
                    <p:cNvPr id="1053" name="AutoShape 29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266" y="12931"/>
                      <a:ext cx="624" cy="1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54" name="AutoShape 3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890" y="12925"/>
                      <a:ext cx="624" cy="1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</p:grpSp>
              <p:cxnSp>
                <p:nvCxnSpPr>
                  <p:cNvPr id="1055" name="AutoShape 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528" y="13309"/>
                    <a:ext cx="624" cy="1"/>
                  </a:xfrm>
                  <a:prstGeom prst="straightConnector1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056" name="AutoShape 3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132" y="12545"/>
                    <a:ext cx="624" cy="1"/>
                  </a:xfrm>
                  <a:prstGeom prst="straightConnector1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</p:grpSp>
            <p:grpSp>
              <p:nvGrpSpPr>
                <p:cNvPr id="1057" name="Group 33"/>
                <p:cNvGrpSpPr>
                  <a:grpSpLocks/>
                </p:cNvGrpSpPr>
                <p:nvPr/>
              </p:nvGrpSpPr>
              <p:grpSpPr bwMode="auto">
                <a:xfrm>
                  <a:off x="2758" y="12294"/>
                  <a:ext cx="5386" cy="2603"/>
                  <a:chOff x="2758" y="12294"/>
                  <a:chExt cx="5386" cy="2603"/>
                </a:xfrm>
              </p:grpSpPr>
              <p:grpSp>
                <p:nvGrpSpPr>
                  <p:cNvPr id="1058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4199" y="13038"/>
                    <a:ext cx="1865" cy="1148"/>
                    <a:chOff x="4264" y="12624"/>
                    <a:chExt cx="1865" cy="1148"/>
                  </a:xfrm>
                </p:grpSpPr>
                <p:cxnSp>
                  <p:nvCxnSpPr>
                    <p:cNvPr id="1059" name="AutoShape 3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129" y="12624"/>
                      <a:ext cx="0" cy="763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60" name="AutoShape 36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4264" y="13003"/>
                      <a:ext cx="2" cy="769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61" name="AutoShape 37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5511" y="13010"/>
                      <a:ext cx="3" cy="377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</p:grpSp>
              <p:grpSp>
                <p:nvGrpSpPr>
                  <p:cNvPr id="1062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2758" y="12294"/>
                    <a:ext cx="5386" cy="2603"/>
                    <a:chOff x="2758" y="12294"/>
                    <a:chExt cx="5386" cy="2603"/>
                  </a:xfrm>
                </p:grpSpPr>
                <p:grpSp>
                  <p:nvGrpSpPr>
                    <p:cNvPr id="1063" name="Group 3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56" y="12420"/>
                      <a:ext cx="4148" cy="2147"/>
                      <a:chOff x="3621" y="11928"/>
                      <a:chExt cx="4148" cy="2147"/>
                    </a:xfrm>
                  </p:grpSpPr>
                  <p:grpSp>
                    <p:nvGrpSpPr>
                      <p:cNvPr id="1064" name="Group 4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21" y="12541"/>
                        <a:ext cx="4148" cy="1153"/>
                        <a:chOff x="3621" y="12541"/>
                        <a:chExt cx="4148" cy="1153"/>
                      </a:xfrm>
                    </p:grpSpPr>
                    <p:cxnSp>
                      <p:nvCxnSpPr>
                        <p:cNvPr id="1065" name="AutoShape 41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H="1">
                          <a:off x="3621" y="13315"/>
                          <a:ext cx="4129" cy="0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66" name="AutoShape 42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H="1">
                          <a:off x="3640" y="13694"/>
                          <a:ext cx="4129" cy="0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67" name="AutoShape 43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H="1">
                          <a:off x="3627" y="12931"/>
                          <a:ext cx="4129" cy="0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68" name="AutoShape 44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H="1">
                          <a:off x="3627" y="12541"/>
                          <a:ext cx="4129" cy="0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</p:grpSp>
                  <p:grpSp>
                    <p:nvGrpSpPr>
                      <p:cNvPr id="1069" name="Group 4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63" y="11928"/>
                        <a:ext cx="2490" cy="2147"/>
                        <a:chOff x="4266" y="11928"/>
                        <a:chExt cx="2490" cy="2147"/>
                      </a:xfrm>
                    </p:grpSpPr>
                    <p:cxnSp>
                      <p:nvCxnSpPr>
                        <p:cNvPr id="1070" name="AutoShape 46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V="1">
                          <a:off x="4266" y="11928"/>
                          <a:ext cx="0" cy="2147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71" name="AutoShape 47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V="1">
                          <a:off x="4890" y="11928"/>
                          <a:ext cx="0" cy="2147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72" name="AutoShape 48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V="1">
                          <a:off x="5514" y="11928"/>
                          <a:ext cx="0" cy="2147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73" name="AutoShape 49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V="1">
                          <a:off x="6132" y="11928"/>
                          <a:ext cx="0" cy="2147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  <p:cxnSp>
                      <p:nvCxnSpPr>
                        <p:cNvPr id="1074" name="AutoShape 50"/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flipV="1">
                          <a:off x="6756" y="11928"/>
                          <a:ext cx="0" cy="2147"/>
                        </a:xfrm>
                        <a:prstGeom prst="straightConnector1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</p:cxnSp>
                  </p:grpSp>
                </p:grpSp>
                <p:grpSp>
                  <p:nvGrpSpPr>
                    <p:cNvPr id="1075" name="Group 5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758" y="12294"/>
                      <a:ext cx="5386" cy="2603"/>
                      <a:chOff x="2758" y="12294"/>
                      <a:chExt cx="5386" cy="2603"/>
                    </a:xfrm>
                  </p:grpSpPr>
                  <p:cxnSp>
                    <p:nvCxnSpPr>
                      <p:cNvPr id="1076" name="AutoShape 52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3578" y="12294"/>
                        <a:ext cx="0" cy="2603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</p:cxnSp>
                  <p:cxnSp>
                    <p:nvCxnSpPr>
                      <p:cNvPr id="1077" name="AutoShape 53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2758" y="14567"/>
                        <a:ext cx="5386" cy="0"/>
                      </a:xfrm>
                      <a:prstGeom prst="straightConnector1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</p:cxnSp>
                </p:grpSp>
              </p:grpSp>
            </p:grpSp>
          </p:grpSp>
        </p:grpSp>
        <p:grpSp>
          <p:nvGrpSpPr>
            <p:cNvPr id="1078" name="Group 54"/>
            <p:cNvGrpSpPr>
              <a:grpSpLocks/>
            </p:cNvGrpSpPr>
            <p:nvPr/>
          </p:nvGrpSpPr>
          <p:grpSpPr bwMode="auto">
            <a:xfrm>
              <a:off x="2544" y="8979"/>
              <a:ext cx="5888" cy="2095"/>
              <a:chOff x="2544" y="8979"/>
              <a:chExt cx="5888" cy="2095"/>
            </a:xfrm>
          </p:grpSpPr>
          <p:sp>
            <p:nvSpPr>
              <p:cNvPr id="1079" name="Rectangle 55"/>
              <p:cNvSpPr>
                <a:spLocks noChangeArrowheads="1"/>
              </p:cNvSpPr>
              <p:nvPr/>
            </p:nvSpPr>
            <p:spPr bwMode="auto">
              <a:xfrm>
                <a:off x="2544" y="8979"/>
                <a:ext cx="759" cy="43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80" name="Rectangle 56"/>
              <p:cNvSpPr>
                <a:spLocks noChangeArrowheads="1"/>
              </p:cNvSpPr>
              <p:nvPr/>
            </p:nvSpPr>
            <p:spPr bwMode="auto">
              <a:xfrm>
                <a:off x="7966" y="10730"/>
                <a:ext cx="466" cy="34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57" name="Rectangle 56"/>
          <p:cNvSpPr/>
          <p:nvPr/>
        </p:nvSpPr>
        <p:spPr>
          <a:xfrm>
            <a:off x="1584170" y="1397868"/>
            <a:ext cx="23711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Signal analogique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23896" y="3112267"/>
            <a:ext cx="3106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Signal numérique (V=4)</a:t>
            </a:r>
          </a:p>
        </p:txBody>
      </p:sp>
      <p:grpSp>
        <p:nvGrpSpPr>
          <p:cNvPr id="1081" name="Group 57"/>
          <p:cNvGrpSpPr>
            <a:grpSpLocks/>
          </p:cNvGrpSpPr>
          <p:nvPr/>
        </p:nvGrpSpPr>
        <p:grpSpPr bwMode="auto">
          <a:xfrm>
            <a:off x="5389582" y="4500570"/>
            <a:ext cx="3421063" cy="1460500"/>
            <a:chOff x="1906" y="2788"/>
            <a:chExt cx="5386" cy="2603"/>
          </a:xfrm>
        </p:grpSpPr>
        <p:grpSp>
          <p:nvGrpSpPr>
            <p:cNvPr id="1082" name="Group 58"/>
            <p:cNvGrpSpPr>
              <a:grpSpLocks/>
            </p:cNvGrpSpPr>
            <p:nvPr/>
          </p:nvGrpSpPr>
          <p:grpSpPr bwMode="auto">
            <a:xfrm>
              <a:off x="1906" y="2788"/>
              <a:ext cx="5386" cy="2603"/>
              <a:chOff x="1906" y="2808"/>
              <a:chExt cx="5386" cy="2603"/>
            </a:xfrm>
          </p:grpSpPr>
          <p:grpSp>
            <p:nvGrpSpPr>
              <p:cNvPr id="1083" name="Group 59"/>
              <p:cNvGrpSpPr>
                <a:grpSpLocks/>
              </p:cNvGrpSpPr>
              <p:nvPr/>
            </p:nvGrpSpPr>
            <p:grpSpPr bwMode="auto">
              <a:xfrm>
                <a:off x="1906" y="2808"/>
                <a:ext cx="5386" cy="2603"/>
                <a:chOff x="1906" y="2808"/>
                <a:chExt cx="5386" cy="2603"/>
              </a:xfrm>
            </p:grpSpPr>
            <p:cxnSp>
              <p:nvCxnSpPr>
                <p:cNvPr id="1084" name="AutoShape 60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71" y="2808"/>
                  <a:ext cx="0" cy="260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1085" name="AutoShape 61"/>
                <p:cNvCxnSpPr>
                  <a:cxnSpLocks noChangeShapeType="1"/>
                </p:cNvCxnSpPr>
                <p:nvPr/>
              </p:nvCxnSpPr>
              <p:spPr bwMode="auto">
                <a:xfrm>
                  <a:off x="1906" y="4241"/>
                  <a:ext cx="5386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</p:grpSp>
          <p:grpSp>
            <p:nvGrpSpPr>
              <p:cNvPr id="1086" name="Group 62"/>
              <p:cNvGrpSpPr>
                <a:grpSpLocks/>
              </p:cNvGrpSpPr>
              <p:nvPr/>
            </p:nvGrpSpPr>
            <p:grpSpPr bwMode="auto">
              <a:xfrm>
                <a:off x="2020" y="2834"/>
                <a:ext cx="5146" cy="2483"/>
                <a:chOff x="2020" y="2824"/>
                <a:chExt cx="5146" cy="2483"/>
              </a:xfrm>
            </p:grpSpPr>
            <p:grpSp>
              <p:nvGrpSpPr>
                <p:cNvPr id="1087" name="Group 63"/>
                <p:cNvGrpSpPr>
                  <a:grpSpLocks/>
                </p:cNvGrpSpPr>
                <p:nvPr/>
              </p:nvGrpSpPr>
              <p:grpSpPr bwMode="auto">
                <a:xfrm>
                  <a:off x="2855" y="3160"/>
                  <a:ext cx="4145" cy="2147"/>
                  <a:chOff x="2855" y="3160"/>
                  <a:chExt cx="4145" cy="2147"/>
                </a:xfrm>
              </p:grpSpPr>
              <p:grpSp>
                <p:nvGrpSpPr>
                  <p:cNvPr id="1088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3491" y="3160"/>
                    <a:ext cx="2490" cy="2147"/>
                    <a:chOff x="4266" y="11928"/>
                    <a:chExt cx="2490" cy="2147"/>
                  </a:xfrm>
                </p:grpSpPr>
                <p:cxnSp>
                  <p:nvCxnSpPr>
                    <p:cNvPr id="1089" name="AutoShape 65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4266" y="11928"/>
                      <a:ext cx="0" cy="2147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90" name="AutoShape 66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4890" y="11928"/>
                      <a:ext cx="0" cy="2147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91" name="AutoShape 67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5514" y="11928"/>
                      <a:ext cx="0" cy="2147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92" name="AutoShape 68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6132" y="11928"/>
                      <a:ext cx="0" cy="2147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93" name="AutoShape 69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6756" y="11928"/>
                      <a:ext cx="0" cy="2147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</p:grpSp>
              <p:grpSp>
                <p:nvGrpSpPr>
                  <p:cNvPr id="1094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2855" y="3439"/>
                    <a:ext cx="4145" cy="1567"/>
                    <a:chOff x="2855" y="3889"/>
                    <a:chExt cx="4145" cy="1567"/>
                  </a:xfrm>
                </p:grpSpPr>
                <p:cxnSp>
                  <p:nvCxnSpPr>
                    <p:cNvPr id="1095" name="AutoShape 71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2868" y="5456"/>
                      <a:ext cx="4129" cy="0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96" name="AutoShape 72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2855" y="4693"/>
                      <a:ext cx="4129" cy="0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097" name="AutoShape 73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2871" y="3889"/>
                      <a:ext cx="4129" cy="0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</p:spPr>
                </p:cxnSp>
              </p:grpSp>
            </p:grpSp>
            <p:grpSp>
              <p:nvGrpSpPr>
                <p:cNvPr id="1098" name="Group 74"/>
                <p:cNvGrpSpPr>
                  <a:grpSpLocks/>
                </p:cNvGrpSpPr>
                <p:nvPr/>
              </p:nvGrpSpPr>
              <p:grpSpPr bwMode="auto">
                <a:xfrm>
                  <a:off x="2895" y="3437"/>
                  <a:ext cx="3710" cy="1569"/>
                  <a:chOff x="2895" y="3437"/>
                  <a:chExt cx="3710" cy="1569"/>
                </a:xfrm>
              </p:grpSpPr>
              <p:grpSp>
                <p:nvGrpSpPr>
                  <p:cNvPr id="1099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2895" y="3437"/>
                    <a:ext cx="3710" cy="1569"/>
                    <a:chOff x="2895" y="3437"/>
                    <a:chExt cx="3710" cy="1569"/>
                  </a:xfrm>
                </p:grpSpPr>
                <p:grpSp>
                  <p:nvGrpSpPr>
                    <p:cNvPr id="1100" name="Group 7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9" y="3437"/>
                      <a:ext cx="1250" cy="2"/>
                      <a:chOff x="9373" y="4241"/>
                      <a:chExt cx="1250" cy="2"/>
                    </a:xfrm>
                  </p:grpSpPr>
                  <p:cxnSp>
                    <p:nvCxnSpPr>
                      <p:cNvPr id="1101" name="AutoShape 77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9373" y="4242"/>
                        <a:ext cx="624" cy="1"/>
                      </a:xfrm>
                      <a:prstGeom prst="straightConnector1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1102" name="AutoShape 7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9999" y="4241"/>
                        <a:ext cx="624" cy="1"/>
                      </a:xfrm>
                      <a:prstGeom prst="straightConnector1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</p:grpSp>
                <p:grpSp>
                  <p:nvGrpSpPr>
                    <p:cNvPr id="1103" name="Group 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95" y="3439"/>
                      <a:ext cx="1248" cy="5"/>
                      <a:chOff x="8061" y="3864"/>
                      <a:chExt cx="1248" cy="5"/>
                    </a:xfrm>
                  </p:grpSpPr>
                  <p:cxnSp>
                    <p:nvCxnSpPr>
                      <p:cNvPr id="1104" name="AutoShape 8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8061" y="3864"/>
                        <a:ext cx="624" cy="1"/>
                      </a:xfrm>
                      <a:prstGeom prst="straightConnector1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  <p:cxnSp>
                    <p:nvCxnSpPr>
                      <p:cNvPr id="1105" name="AutoShape 8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8685" y="3868"/>
                        <a:ext cx="624" cy="1"/>
                      </a:xfrm>
                      <a:prstGeom prst="straightConnector1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</p:cxnSp>
                </p:grpSp>
                <p:cxnSp>
                  <p:nvCxnSpPr>
                    <p:cNvPr id="1106" name="AutoShape 82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115" y="5005"/>
                      <a:ext cx="624" cy="1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107" name="AutoShape 8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5981" y="5004"/>
                      <a:ext cx="624" cy="1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</p:grpSp>
              <p:grpSp>
                <p:nvGrpSpPr>
                  <p:cNvPr id="1108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4739" y="3458"/>
                    <a:ext cx="2" cy="1527"/>
                    <a:chOff x="8685" y="4251"/>
                    <a:chExt cx="2" cy="1527"/>
                  </a:xfrm>
                </p:grpSpPr>
                <p:cxnSp>
                  <p:nvCxnSpPr>
                    <p:cNvPr id="1109" name="AutoShape 8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8685" y="4251"/>
                      <a:ext cx="0" cy="763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110" name="AutoShape 86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8685" y="5009"/>
                      <a:ext cx="2" cy="769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</p:grpSp>
              <p:grpSp>
                <p:nvGrpSpPr>
                  <p:cNvPr id="1111" name="Group 87"/>
                  <p:cNvGrpSpPr>
                    <a:grpSpLocks/>
                  </p:cNvGrpSpPr>
                  <p:nvPr/>
                </p:nvGrpSpPr>
                <p:grpSpPr bwMode="auto">
                  <a:xfrm>
                    <a:off x="5989" y="3444"/>
                    <a:ext cx="2" cy="1527"/>
                    <a:chOff x="8685" y="4251"/>
                    <a:chExt cx="2" cy="1527"/>
                  </a:xfrm>
                </p:grpSpPr>
                <p:cxnSp>
                  <p:nvCxnSpPr>
                    <p:cNvPr id="1112" name="AutoShape 8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8685" y="4251"/>
                      <a:ext cx="0" cy="763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113" name="AutoShape 89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8685" y="5009"/>
                      <a:ext cx="2" cy="769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</p:grpSp>
              <p:grpSp>
                <p:nvGrpSpPr>
                  <p:cNvPr id="1114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4113" y="3458"/>
                    <a:ext cx="2" cy="1527"/>
                    <a:chOff x="8685" y="4251"/>
                    <a:chExt cx="2" cy="1527"/>
                  </a:xfrm>
                </p:grpSpPr>
                <p:cxnSp>
                  <p:nvCxnSpPr>
                    <p:cNvPr id="1115" name="AutoShape 9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8685" y="4251"/>
                      <a:ext cx="0" cy="763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1116" name="AutoShape 92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8685" y="5009"/>
                      <a:ext cx="2" cy="769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</p:grpSp>
            </p:grpSp>
            <p:grpSp>
              <p:nvGrpSpPr>
                <p:cNvPr id="1117" name="Group 93"/>
                <p:cNvGrpSpPr>
                  <a:grpSpLocks/>
                </p:cNvGrpSpPr>
                <p:nvPr/>
              </p:nvGrpSpPr>
              <p:grpSpPr bwMode="auto">
                <a:xfrm>
                  <a:off x="2020" y="2824"/>
                  <a:ext cx="5146" cy="1912"/>
                  <a:chOff x="2020" y="2824"/>
                  <a:chExt cx="5146" cy="1912"/>
                </a:xfrm>
              </p:grpSpPr>
              <p:sp>
                <p:nvSpPr>
                  <p:cNvPr id="1118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2020" y="2824"/>
                    <a:ext cx="699" cy="44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19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6705" y="4303"/>
                    <a:ext cx="461" cy="43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</p:grpSp>
        <p:grpSp>
          <p:nvGrpSpPr>
            <p:cNvPr id="1120" name="Group 96"/>
            <p:cNvGrpSpPr>
              <a:grpSpLocks/>
            </p:cNvGrpSpPr>
            <p:nvPr/>
          </p:nvGrpSpPr>
          <p:grpSpPr bwMode="auto">
            <a:xfrm>
              <a:off x="2227" y="3225"/>
              <a:ext cx="607" cy="2066"/>
              <a:chOff x="2227" y="3225"/>
              <a:chExt cx="607" cy="2066"/>
            </a:xfrm>
          </p:grpSpPr>
          <p:sp>
            <p:nvSpPr>
              <p:cNvPr id="1121" name="Rectangle 97"/>
              <p:cNvSpPr>
                <a:spLocks noChangeArrowheads="1"/>
              </p:cNvSpPr>
              <p:nvPr/>
            </p:nvSpPr>
            <p:spPr bwMode="auto">
              <a:xfrm>
                <a:off x="2227" y="4761"/>
                <a:ext cx="598" cy="53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100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r>
                  <a:rPr lang="fr-FR" sz="1000" baseline="-2500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1</a:t>
                </a: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22" name="Rectangle 98"/>
              <p:cNvSpPr>
                <a:spLocks noChangeArrowheads="1"/>
              </p:cNvSpPr>
              <p:nvPr/>
            </p:nvSpPr>
            <p:spPr bwMode="auto">
              <a:xfrm>
                <a:off x="2227" y="3225"/>
                <a:ext cx="607" cy="47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100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A</a:t>
                </a:r>
                <a:r>
                  <a:rPr lang="fr-FR" sz="1000" baseline="-2500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2</a:t>
                </a: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02" name="Rectangle 101"/>
          <p:cNvSpPr/>
          <p:nvPr/>
        </p:nvSpPr>
        <p:spPr>
          <a:xfrm>
            <a:off x="1029043" y="5057498"/>
            <a:ext cx="4183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Signal  numérique binaire (V=2) 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63752" y="214290"/>
            <a:ext cx="45738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Classification des signaux</a:t>
            </a:r>
            <a:r>
              <a:rPr lang="fr-FR" sz="3200" dirty="0">
                <a:latin typeface="+mj-lt"/>
                <a:cs typeface="Times New Roman" pitchFamily="18" charset="0"/>
              </a:rPr>
              <a:t> </a:t>
            </a:r>
          </a:p>
        </p:txBody>
      </p:sp>
      <p:sp>
        <p:nvSpPr>
          <p:cNvPr id="10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2</a:t>
            </a:r>
            <a:endParaRPr lang="fr-BE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102" grpId="0"/>
      <p:bldP spid="1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38510" y="228578"/>
            <a:ext cx="8361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Grandeurs utilisés  en transmission  numérique </a:t>
            </a:r>
          </a:p>
        </p:txBody>
      </p:sp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4006" y="2144023"/>
            <a:ext cx="1013882" cy="484900"/>
          </a:xfrm>
          <a:prstGeom prst="rect">
            <a:avLst/>
          </a:prstGeom>
          <a:noFill/>
        </p:spPr>
      </p:pic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201016" y="1580838"/>
            <a:ext cx="11022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400" u="sng" dirty="0">
                <a:ea typeface="Times New Roman" pitchFamily="18" charset="0"/>
                <a:cs typeface="Times New Roman" pitchFamily="18" charset="0"/>
              </a:rPr>
              <a:t>Valence :</a:t>
            </a:r>
            <a:r>
              <a:rPr lang="fr-FR" sz="2400" dirty="0">
                <a:ea typeface="Times New Roman" pitchFamily="18" charset="0"/>
                <a:cs typeface="Times New Roman" pitchFamily="18" charset="0"/>
              </a:rPr>
              <a:t> C’est le nombre d’états significatifs pour transmettre une information binaire</a:t>
            </a:r>
            <a:r>
              <a:rPr lang="fr-FR" sz="2400" dirty="0">
                <a:ea typeface="Times New Roman" pitchFamily="18" charset="0"/>
                <a:cs typeface="Arial" pitchFamily="34" charset="0"/>
              </a:rPr>
              <a:t>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5072" y="2785997"/>
            <a:ext cx="106834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400" u="sng" dirty="0">
                <a:cs typeface="Times New Roman" pitchFamily="18" charset="0"/>
              </a:rPr>
              <a:t>Débit binaire (bitrate) :</a:t>
            </a:r>
            <a:r>
              <a:rPr lang="fr-FR" sz="2400" dirty="0">
                <a:cs typeface="Times New Roman" pitchFamily="18" charset="0"/>
              </a:rPr>
              <a:t> C’est le nombre de bits acheminé  par unité de temps</a:t>
            </a:r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439408" y="4585630"/>
            <a:ext cx="13964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400" u="sng" dirty="0">
                <a:ea typeface="Times New Roman" pitchFamily="18" charset="0"/>
                <a:cs typeface="Times New Roman" pitchFamily="18" charset="0"/>
              </a:rPr>
              <a:t>Exemple :</a:t>
            </a:r>
            <a:endParaRPr lang="fr-FR" sz="2400" u="sng" dirty="0">
              <a:cs typeface="Times New Roman" pitchFamily="18" charset="0"/>
            </a:endParaRPr>
          </a:p>
        </p:txBody>
      </p:sp>
      <p:sp>
        <p:nvSpPr>
          <p:cNvPr id="120" name="Rectangle 11"/>
          <p:cNvSpPr>
            <a:spLocks noChangeArrowheads="1"/>
          </p:cNvSpPr>
          <p:nvPr/>
        </p:nvSpPr>
        <p:spPr bwMode="auto">
          <a:xfrm>
            <a:off x="440425" y="5291889"/>
            <a:ext cx="9149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400" dirty="0">
                <a:cs typeface="Times New Roman" pitchFamily="18" charset="0"/>
              </a:rPr>
              <a:t>Avec </a:t>
            </a:r>
            <a:r>
              <a:rPr lang="fr-FR" sz="2400" u="sng" dirty="0">
                <a:cs typeface="Times New Roman" pitchFamily="18" charset="0"/>
              </a:rPr>
              <a:t> </a:t>
            </a:r>
          </a:p>
        </p:txBody>
      </p:sp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244023"/>
              </p:ext>
            </p:extLst>
          </p:nvPr>
        </p:nvGraphicFramePr>
        <p:xfrm>
          <a:off x="1790118" y="5344128"/>
          <a:ext cx="1046057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5" name="Équation" r:id="rId5" imgW="520560" imgH="177480" progId="Equation.3">
                  <p:embed/>
                </p:oleObj>
              </mc:Choice>
              <mc:Fallback>
                <p:oleObj name="Équation" r:id="rId5" imgW="520560" imgH="177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118" y="5344128"/>
                        <a:ext cx="1046057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4553117" y="5291891"/>
            <a:ext cx="9172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400" dirty="0">
                <a:cs typeface="Times New Roman" pitchFamily="18" charset="0"/>
              </a:rPr>
              <a:t>On a: 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889688"/>
              </p:ext>
            </p:extLst>
          </p:nvPr>
        </p:nvGraphicFramePr>
        <p:xfrm>
          <a:off x="6019483" y="5344128"/>
          <a:ext cx="21701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6" name="Équation" r:id="rId7" imgW="1079280" imgH="177480" progId="Equation.3">
                  <p:embed/>
                </p:oleObj>
              </mc:Choice>
              <mc:Fallback>
                <p:oleObj name="Équation" r:id="rId7" imgW="10792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483" y="5344128"/>
                        <a:ext cx="217011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678240"/>
              </p:ext>
            </p:extLst>
          </p:nvPr>
        </p:nvGraphicFramePr>
        <p:xfrm>
          <a:off x="3125837" y="3476481"/>
          <a:ext cx="1613667" cy="793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7" name="Équation" r:id="rId9" imgW="799920" imgH="393480" progId="Equation.3">
                  <p:embed/>
                </p:oleObj>
              </mc:Choice>
              <mc:Fallback>
                <p:oleObj name="Équation" r:id="rId9" imgW="7999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837" y="3476481"/>
                        <a:ext cx="1613667" cy="79329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060701"/>
              </p:ext>
            </p:extLst>
          </p:nvPr>
        </p:nvGraphicFramePr>
        <p:xfrm>
          <a:off x="2554167" y="4585630"/>
          <a:ext cx="1038590" cy="39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8" name="Équation" r:id="rId11" imgW="355320" imgH="177480" progId="Equation.3">
                  <p:embed/>
                </p:oleObj>
              </mc:Choice>
              <mc:Fallback>
                <p:oleObj name="Équation" r:id="rId11" imgW="35532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167" y="4585630"/>
                        <a:ext cx="1038590" cy="39355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76412"/>
              </p:ext>
            </p:extLst>
          </p:nvPr>
        </p:nvGraphicFramePr>
        <p:xfrm>
          <a:off x="6960096" y="4314836"/>
          <a:ext cx="936104" cy="82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9" name="Équation" r:id="rId13" imgW="444240" imgH="393480" progId="Equation.3">
                  <p:embed/>
                </p:oleObj>
              </mc:Choice>
              <mc:Fallback>
                <p:oleObj name="Équation" r:id="rId13" imgW="44424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6" y="4314836"/>
                        <a:ext cx="936104" cy="82985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449640"/>
              </p:ext>
            </p:extLst>
          </p:nvPr>
        </p:nvGraphicFramePr>
        <p:xfrm>
          <a:off x="4406055" y="4513200"/>
          <a:ext cx="1412753" cy="427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" name="Équation" r:id="rId15" imgW="672840" imgH="203040" progId="Equation.3">
                  <p:embed/>
                </p:oleObj>
              </mc:Choice>
              <mc:Fallback>
                <p:oleObj name="Équation" r:id="rId15" imgW="67284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055" y="4513200"/>
                        <a:ext cx="1412753" cy="42711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998460"/>
              </p:ext>
            </p:extLst>
          </p:nvPr>
        </p:nvGraphicFramePr>
        <p:xfrm>
          <a:off x="6960096" y="3476481"/>
          <a:ext cx="936104" cy="802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1" name="Équation" r:id="rId17" imgW="444240" imgH="393480" progId="Equation.3">
                  <p:embed/>
                </p:oleObj>
              </mc:Choice>
              <mc:Fallback>
                <p:oleObj name="Équation" r:id="rId17" imgW="44424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6" y="3476481"/>
                        <a:ext cx="936104" cy="80275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Connecteur droit avec flèche 21"/>
          <p:cNvCxnSpPr/>
          <p:nvPr/>
        </p:nvCxnSpPr>
        <p:spPr>
          <a:xfrm>
            <a:off x="5333995" y="3908562"/>
            <a:ext cx="71438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3</a:t>
            </a:r>
            <a:endParaRPr lang="fr-BE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57347" grpId="0"/>
      <p:bldP spid="110" grpId="0"/>
      <p:bldP spid="57355" grpId="0"/>
      <p:bldP spid="120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2238348" y="1285860"/>
            <a:ext cx="7000924" cy="2286016"/>
            <a:chOff x="2891" y="5557"/>
            <a:chExt cx="7468" cy="2095"/>
          </a:xfrm>
        </p:grpSpPr>
        <p:grpSp>
          <p:nvGrpSpPr>
            <p:cNvPr id="2051" name="Group 3"/>
            <p:cNvGrpSpPr>
              <a:grpSpLocks/>
            </p:cNvGrpSpPr>
            <p:nvPr/>
          </p:nvGrpSpPr>
          <p:grpSpPr bwMode="auto">
            <a:xfrm>
              <a:off x="4218" y="5557"/>
              <a:ext cx="3935" cy="2095"/>
              <a:chOff x="4218" y="5557"/>
              <a:chExt cx="3935" cy="2095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5429" y="5557"/>
                <a:ext cx="1592" cy="20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dirty="0"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Convertisseur</a:t>
                </a:r>
              </a:p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dirty="0"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Analogique</a:t>
                </a:r>
              </a:p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dirty="0"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Numérique</a:t>
                </a:r>
              </a:p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dirty="0"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(CAN)  </a:t>
                </a:r>
                <a:endParaRPr lang="fr-FR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053" name="AutoShape 5"/>
              <p:cNvCxnSpPr>
                <a:cxnSpLocks noChangeShapeType="1"/>
              </p:cNvCxnSpPr>
              <p:nvPr/>
            </p:nvCxnSpPr>
            <p:spPr bwMode="auto">
              <a:xfrm>
                <a:off x="4218" y="6499"/>
                <a:ext cx="1211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2054" name="Group 6"/>
              <p:cNvGrpSpPr>
                <a:grpSpLocks/>
              </p:cNvGrpSpPr>
              <p:nvPr/>
            </p:nvGrpSpPr>
            <p:grpSpPr bwMode="auto">
              <a:xfrm>
                <a:off x="7021" y="5779"/>
                <a:ext cx="1132" cy="1692"/>
                <a:chOff x="7021" y="5779"/>
                <a:chExt cx="1132" cy="1692"/>
              </a:xfrm>
            </p:grpSpPr>
            <p:cxnSp>
              <p:nvCxnSpPr>
                <p:cNvPr id="2055" name="AutoShape 7"/>
                <p:cNvCxnSpPr>
                  <a:cxnSpLocks noChangeShapeType="1"/>
                </p:cNvCxnSpPr>
                <p:nvPr/>
              </p:nvCxnSpPr>
              <p:spPr bwMode="auto">
                <a:xfrm>
                  <a:off x="7021" y="6487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56" name="AutoShape 8"/>
                <p:cNvCxnSpPr>
                  <a:cxnSpLocks noChangeShapeType="1"/>
                </p:cNvCxnSpPr>
                <p:nvPr/>
              </p:nvCxnSpPr>
              <p:spPr bwMode="auto">
                <a:xfrm>
                  <a:off x="7033" y="6727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57" name="AutoShape 9"/>
                <p:cNvCxnSpPr>
                  <a:cxnSpLocks noChangeShapeType="1"/>
                </p:cNvCxnSpPr>
                <p:nvPr/>
              </p:nvCxnSpPr>
              <p:spPr bwMode="auto">
                <a:xfrm>
                  <a:off x="7033" y="6991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58" name="AutoShape 10"/>
                <p:cNvCxnSpPr>
                  <a:cxnSpLocks noChangeShapeType="1"/>
                </p:cNvCxnSpPr>
                <p:nvPr/>
              </p:nvCxnSpPr>
              <p:spPr bwMode="auto">
                <a:xfrm>
                  <a:off x="7033" y="7231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59" name="AutoShape 11"/>
                <p:cNvCxnSpPr>
                  <a:cxnSpLocks noChangeShapeType="1"/>
                </p:cNvCxnSpPr>
                <p:nvPr/>
              </p:nvCxnSpPr>
              <p:spPr bwMode="auto">
                <a:xfrm>
                  <a:off x="7021" y="6259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60" name="AutoShape 12"/>
                <p:cNvCxnSpPr>
                  <a:cxnSpLocks noChangeShapeType="1"/>
                </p:cNvCxnSpPr>
                <p:nvPr/>
              </p:nvCxnSpPr>
              <p:spPr bwMode="auto">
                <a:xfrm>
                  <a:off x="7033" y="6019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61" name="AutoShape 13"/>
                <p:cNvCxnSpPr>
                  <a:cxnSpLocks noChangeShapeType="1"/>
                </p:cNvCxnSpPr>
                <p:nvPr/>
              </p:nvCxnSpPr>
              <p:spPr bwMode="auto">
                <a:xfrm>
                  <a:off x="7021" y="5779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062" name="AutoShape 14"/>
                <p:cNvCxnSpPr>
                  <a:cxnSpLocks noChangeShapeType="1"/>
                </p:cNvCxnSpPr>
                <p:nvPr/>
              </p:nvCxnSpPr>
              <p:spPr bwMode="auto">
                <a:xfrm>
                  <a:off x="7021" y="7471"/>
                  <a:ext cx="11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</p:grpSp>
        </p:grpSp>
        <p:grpSp>
          <p:nvGrpSpPr>
            <p:cNvPr id="2063" name="Group 15"/>
            <p:cNvGrpSpPr>
              <a:grpSpLocks/>
            </p:cNvGrpSpPr>
            <p:nvPr/>
          </p:nvGrpSpPr>
          <p:grpSpPr bwMode="auto">
            <a:xfrm>
              <a:off x="2891" y="6070"/>
              <a:ext cx="7468" cy="1124"/>
              <a:chOff x="2891" y="6070"/>
              <a:chExt cx="7468" cy="1124"/>
            </a:xfrm>
          </p:grpSpPr>
          <p:sp>
            <p:nvSpPr>
              <p:cNvPr id="2064" name="Text Box 16"/>
              <p:cNvSpPr txBox="1">
                <a:spLocks noChangeArrowheads="1"/>
              </p:cNvSpPr>
              <p:nvPr/>
            </p:nvSpPr>
            <p:spPr bwMode="auto">
              <a:xfrm>
                <a:off x="2891" y="6070"/>
                <a:ext cx="1892" cy="105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2000" dirty="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Signal analogique</a:t>
                </a:r>
              </a:p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2000" dirty="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d’entré</a:t>
                </a:r>
                <a:endParaRPr lang="fr-FR" sz="20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065" name="Text Box 17"/>
              <p:cNvSpPr txBox="1">
                <a:spLocks noChangeArrowheads="1"/>
              </p:cNvSpPr>
              <p:nvPr/>
            </p:nvSpPr>
            <p:spPr bwMode="auto">
              <a:xfrm>
                <a:off x="8402" y="6076"/>
                <a:ext cx="1957" cy="111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2000" dirty="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Sortie numérique</a:t>
                </a:r>
              </a:p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2000" dirty="0">
                    <a:latin typeface="Times New Roman" pitchFamily="18" charset="0"/>
                    <a:ea typeface="Arial" pitchFamily="34" charset="0"/>
                    <a:cs typeface="Arial" pitchFamily="34" charset="0"/>
                  </a:rPr>
                  <a:t>(Code binaire) </a:t>
                </a:r>
                <a:endParaRPr lang="fr-FR" sz="2000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431704" y="125122"/>
            <a:ext cx="40153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Principe d’un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4452926" y="3814708"/>
            <a:ext cx="221457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127448" y="4536289"/>
            <a:ext cx="9802216" cy="1214447"/>
            <a:chOff x="1127448" y="4536289"/>
            <a:chExt cx="9802216" cy="1214447"/>
          </a:xfrm>
        </p:grpSpPr>
        <p:grpSp>
          <p:nvGrpSpPr>
            <p:cNvPr id="9" name="Group 8"/>
            <p:cNvGrpSpPr/>
            <p:nvPr/>
          </p:nvGrpSpPr>
          <p:grpSpPr>
            <a:xfrm>
              <a:off x="1127448" y="4536289"/>
              <a:ext cx="9802216" cy="1214447"/>
              <a:chOff x="1127448" y="4536289"/>
              <a:chExt cx="9802216" cy="1214447"/>
            </a:xfrm>
          </p:grpSpPr>
          <p:sp>
            <p:nvSpPr>
              <p:cNvPr id="2075" name="Rectangle 27"/>
              <p:cNvSpPr>
                <a:spLocks noChangeArrowheads="1"/>
              </p:cNvSpPr>
              <p:nvPr/>
            </p:nvSpPr>
            <p:spPr bwMode="auto">
              <a:xfrm>
                <a:off x="5447928" y="4536289"/>
                <a:ext cx="1858146" cy="12144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2000" dirty="0"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Quantification</a:t>
                </a:r>
                <a:r>
                  <a:rPr lang="fr-FR" sz="11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 </a:t>
                </a:r>
                <a:endParaRPr lang="fr-FR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076" name="Rectangle 28"/>
              <p:cNvSpPr>
                <a:spLocks noChangeArrowheads="1"/>
              </p:cNvSpPr>
              <p:nvPr/>
            </p:nvSpPr>
            <p:spPr bwMode="auto">
              <a:xfrm>
                <a:off x="8832304" y="4536290"/>
                <a:ext cx="1161256" cy="12144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ts val="1000"/>
                  </a:spcAft>
                </a:pPr>
                <a:r>
                  <a:rPr lang="fr-FR" sz="2000" dirty="0">
                    <a:latin typeface="Times New Roman" pitchFamily="18" charset="0"/>
                    <a:ea typeface="Arial" pitchFamily="34" charset="0"/>
                    <a:cs typeface="Times New Roman" pitchFamily="18" charset="0"/>
                  </a:rPr>
                  <a:t>Codage </a:t>
                </a:r>
                <a:endParaRPr lang="fr-FR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078" name="AutoShape 30"/>
              <p:cNvCxnSpPr>
                <a:cxnSpLocks noChangeShapeType="1"/>
                <a:stCxn id="2075" idx="3"/>
                <a:endCxn id="2076" idx="1"/>
              </p:cNvCxnSpPr>
              <p:nvPr/>
            </p:nvCxnSpPr>
            <p:spPr bwMode="auto">
              <a:xfrm>
                <a:off x="7306074" y="5143513"/>
                <a:ext cx="152623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080" name="AutoShape 32"/>
              <p:cNvCxnSpPr>
                <a:cxnSpLocks noChangeShapeType="1"/>
                <a:stCxn id="2074" idx="3"/>
                <a:endCxn id="2075" idx="1"/>
              </p:cNvCxnSpPr>
              <p:nvPr/>
            </p:nvCxnSpPr>
            <p:spPr bwMode="auto">
              <a:xfrm>
                <a:off x="3952860" y="5143513"/>
                <a:ext cx="149506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5" name="AutoShape 30"/>
              <p:cNvCxnSpPr>
                <a:cxnSpLocks noChangeShapeType="1"/>
                <a:stCxn id="2076" idx="3"/>
              </p:cNvCxnSpPr>
              <p:nvPr/>
            </p:nvCxnSpPr>
            <p:spPr bwMode="auto">
              <a:xfrm>
                <a:off x="9993560" y="5143513"/>
                <a:ext cx="93610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3" name="Group 2"/>
              <p:cNvGrpSpPr/>
              <p:nvPr/>
            </p:nvGrpSpPr>
            <p:grpSpPr>
              <a:xfrm>
                <a:off x="1127448" y="4607728"/>
                <a:ext cx="2825412" cy="1071570"/>
                <a:chOff x="1127448" y="4607728"/>
                <a:chExt cx="2825412" cy="1071570"/>
              </a:xfrm>
            </p:grpSpPr>
            <p:sp>
              <p:nvSpPr>
                <p:cNvPr id="2074" name="Rectangle 26"/>
                <p:cNvSpPr>
                  <a:spLocks noChangeArrowheads="1"/>
                </p:cNvSpPr>
                <p:nvPr/>
              </p:nvSpPr>
              <p:spPr bwMode="auto">
                <a:xfrm>
                  <a:off x="2095925" y="4607728"/>
                  <a:ext cx="1856935" cy="107157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ts val="1000"/>
                    </a:spcAft>
                  </a:pPr>
                  <a:r>
                    <a:rPr lang="fr-FR" sz="2000" dirty="0">
                      <a:latin typeface="Times New Roman" pitchFamily="18" charset="0"/>
                      <a:ea typeface="Arial" pitchFamily="34" charset="0"/>
                      <a:cs typeface="Times New Roman" pitchFamily="18" charset="0"/>
                    </a:rPr>
                    <a:t>Echantillonnage </a:t>
                  </a:r>
                  <a:endParaRPr lang="fr-FR" sz="20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cxnSp>
              <p:nvCxnSpPr>
                <p:cNvPr id="49" name="AutoShape 32"/>
                <p:cNvCxnSpPr>
                  <a:cxnSpLocks noChangeShapeType="1"/>
                  <a:endCxn id="2074" idx="1"/>
                </p:cNvCxnSpPr>
                <p:nvPr/>
              </p:nvCxnSpPr>
              <p:spPr bwMode="auto">
                <a:xfrm>
                  <a:off x="1127448" y="5143513"/>
                  <a:ext cx="968477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</p:grpSp>
        </p:grpSp>
        <p:grpSp>
          <p:nvGrpSpPr>
            <p:cNvPr id="13" name="Group 12"/>
            <p:cNvGrpSpPr/>
            <p:nvPr/>
          </p:nvGrpSpPr>
          <p:grpSpPr>
            <a:xfrm>
              <a:off x="1199456" y="4678234"/>
              <a:ext cx="9721080" cy="393840"/>
              <a:chOff x="1199456" y="4678234"/>
              <a:chExt cx="9721080" cy="393840"/>
            </a:xfrm>
          </p:grpSpPr>
          <p:graphicFrame>
            <p:nvGraphicFramePr>
              <p:cNvPr id="122881" name="Object 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4976918"/>
                  </p:ext>
                </p:extLst>
              </p:nvPr>
            </p:nvGraphicFramePr>
            <p:xfrm>
              <a:off x="1199456" y="4678234"/>
              <a:ext cx="696885" cy="322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17" name="Équation" r:id="rId3" imgW="279360" imgH="203040" progId="Equation.3">
                      <p:embed/>
                    </p:oleObj>
                  </mc:Choice>
                  <mc:Fallback>
                    <p:oleObj name="Équation" r:id="rId3" imgW="279360" imgH="203040" progId="Equation.3">
                      <p:embed/>
                      <p:pic>
                        <p:nvPicPr>
                          <p:cNvPr id="0" name="Picture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99456" y="4678234"/>
                            <a:ext cx="696885" cy="3224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882" name="Object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7514778"/>
                  </p:ext>
                </p:extLst>
              </p:nvPr>
            </p:nvGraphicFramePr>
            <p:xfrm>
              <a:off x="4439816" y="4714884"/>
              <a:ext cx="760407" cy="322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18" name="Équation" r:id="rId5" imgW="431640" imgH="203040" progId="Equation.3">
                      <p:embed/>
                    </p:oleObj>
                  </mc:Choice>
                  <mc:Fallback>
                    <p:oleObj name="Équation" r:id="rId5" imgW="431640" imgH="20304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9816" y="4714884"/>
                            <a:ext cx="760407" cy="3222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883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366966"/>
                  </p:ext>
                </p:extLst>
              </p:nvPr>
            </p:nvGraphicFramePr>
            <p:xfrm>
              <a:off x="7672388" y="4749812"/>
              <a:ext cx="893762" cy="322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19" name="Équation" r:id="rId7" imgW="507960" imgH="203040" progId="Equation.3">
                      <p:embed/>
                    </p:oleObj>
                  </mc:Choice>
                  <mc:Fallback>
                    <p:oleObj name="Équation" r:id="rId7" imgW="507960" imgH="20304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72388" y="4749812"/>
                            <a:ext cx="893762" cy="32226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884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5322618"/>
                  </p:ext>
                </p:extLst>
              </p:nvPr>
            </p:nvGraphicFramePr>
            <p:xfrm>
              <a:off x="10603036" y="4725144"/>
              <a:ext cx="317500" cy="222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20" name="Équation" r:id="rId9" imgW="126720" imgH="139680" progId="Equation.3">
                      <p:embed/>
                    </p:oleObj>
                  </mc:Choice>
                  <mc:Fallback>
                    <p:oleObj name="Équation" r:id="rId9" imgW="126720" imgH="13968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03036" y="4725144"/>
                            <a:ext cx="317500" cy="222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368" y="1357298"/>
            <a:ext cx="4510631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3392" y="3212976"/>
            <a:ext cx="4642868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733102"/>
              </p:ext>
            </p:extLst>
          </p:nvPr>
        </p:nvGraphicFramePr>
        <p:xfrm>
          <a:off x="10103441" y="1588810"/>
          <a:ext cx="889104" cy="61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Equation" r:id="rId5" imgW="190440" imgH="228600" progId="Equation.3">
                  <p:embed/>
                </p:oleObj>
              </mc:Choice>
              <mc:Fallback>
                <p:oleObj name="Equation" r:id="rId5" imgW="1904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3441" y="1588810"/>
                        <a:ext cx="889104" cy="61669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3359696" y="95585"/>
            <a:ext cx="4016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55182" y="3113625"/>
            <a:ext cx="2381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Échantillonnage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1158" y="1685189"/>
            <a:ext cx="4159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Fréquence maximale du spectre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89522"/>
              </p:ext>
            </p:extLst>
          </p:nvPr>
        </p:nvGraphicFramePr>
        <p:xfrm>
          <a:off x="6960781" y="3808026"/>
          <a:ext cx="1776819" cy="557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7" imgW="622080" imgH="228600" progId="Equation.3">
                  <p:embed/>
                </p:oleObj>
              </mc:Choice>
              <mc:Fallback>
                <p:oleObj name="Equation" r:id="rId7" imgW="622080" imgH="228600" progId="Equation.3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781" y="3808026"/>
                        <a:ext cx="1776819" cy="55707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6531468" y="4598816"/>
            <a:ext cx="36364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10  Échantillons par période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1985" y="1030145"/>
            <a:ext cx="3117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cs typeface="Times New Roman" pitchFamily="18" charset="0"/>
              </a:rPr>
              <a:t>Signal à temps continu </a:t>
            </a:r>
            <a:endParaRPr lang="fr-FR" sz="2400" dirty="0">
              <a:cs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2747120" y="4682584"/>
            <a:ext cx="1728192" cy="978664"/>
            <a:chOff x="2195736" y="4250536"/>
            <a:chExt cx="1728192" cy="978664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2195736" y="4250536"/>
              <a:ext cx="0" cy="9786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923928" y="4250536"/>
              <a:ext cx="0" cy="96728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/>
          <p:cNvCxnSpPr/>
          <p:nvPr/>
        </p:nvCxnSpPr>
        <p:spPr>
          <a:xfrm flipV="1">
            <a:off x="2747120" y="5586652"/>
            <a:ext cx="1728192" cy="11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072297" y="5639494"/>
            <a:ext cx="12241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cs typeface="Times New Roman" pitchFamily="18" charset="0"/>
              </a:rPr>
              <a:t>Période</a:t>
            </a:r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5</a:t>
            </a:r>
            <a:endParaRPr lang="fr-BE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9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191343" y="870743"/>
            <a:ext cx="47400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latin typeface="+mj-lt"/>
                <a:cs typeface="Times New Roman" pitchFamily="18" charset="0"/>
              </a:rPr>
              <a:t>Echantillonnage et Spectre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143672" y="1481243"/>
            <a:ext cx="6162675" cy="1731792"/>
            <a:chOff x="932" y="10226"/>
            <a:chExt cx="9704" cy="2271"/>
          </a:xfrm>
        </p:grpSpPr>
        <p:sp>
          <p:nvSpPr>
            <p:cNvPr id="36867" name="Text Box 3"/>
            <p:cNvSpPr txBox="1">
              <a:spLocks noChangeArrowheads="1"/>
            </p:cNvSpPr>
            <p:nvPr/>
          </p:nvSpPr>
          <p:spPr bwMode="auto">
            <a:xfrm>
              <a:off x="5585" y="10226"/>
              <a:ext cx="291" cy="4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932" y="10426"/>
              <a:ext cx="9704" cy="2071"/>
              <a:chOff x="971" y="10426"/>
              <a:chExt cx="9704" cy="2071"/>
            </a:xfrm>
          </p:grpSpPr>
          <p:grpSp>
            <p:nvGrpSpPr>
              <p:cNvPr id="6" name="Group 5"/>
              <p:cNvGrpSpPr>
                <a:grpSpLocks/>
              </p:cNvGrpSpPr>
              <p:nvPr/>
            </p:nvGrpSpPr>
            <p:grpSpPr bwMode="auto">
              <a:xfrm>
                <a:off x="971" y="10426"/>
                <a:ext cx="9704" cy="1628"/>
                <a:chOff x="1127" y="10481"/>
                <a:chExt cx="9704" cy="1628"/>
              </a:xfrm>
            </p:grpSpPr>
            <p:grpSp>
              <p:nvGrpSpPr>
                <p:cNvPr id="7" name="Group 6"/>
                <p:cNvGrpSpPr>
                  <a:grpSpLocks/>
                </p:cNvGrpSpPr>
                <p:nvPr/>
              </p:nvGrpSpPr>
              <p:grpSpPr bwMode="auto">
                <a:xfrm>
                  <a:off x="1127" y="10481"/>
                  <a:ext cx="9704" cy="1628"/>
                  <a:chOff x="1127" y="10481"/>
                  <a:chExt cx="9704" cy="1628"/>
                </a:xfrm>
              </p:grpSpPr>
              <p:cxnSp>
                <p:nvCxnSpPr>
                  <p:cNvPr id="36871" name="AutoShape 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27" y="11937"/>
                    <a:ext cx="9704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36872" name="AutoShape 8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760" y="10481"/>
                    <a:ext cx="0" cy="1628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  <p:sp>
              <p:nvSpPr>
                <p:cNvPr id="36873" name="Freeform 9"/>
                <p:cNvSpPr>
                  <a:spLocks/>
                </p:cNvSpPr>
                <p:nvPr/>
              </p:nvSpPr>
              <p:spPr bwMode="auto">
                <a:xfrm>
                  <a:off x="5209" y="10731"/>
                  <a:ext cx="1093" cy="1206"/>
                </a:xfrm>
                <a:custGeom>
                  <a:avLst/>
                  <a:gdLst/>
                  <a:ahLst/>
                  <a:cxnLst>
                    <a:cxn ang="0">
                      <a:pos x="0" y="1206"/>
                    </a:cxn>
                    <a:cxn ang="0">
                      <a:pos x="839" y="0"/>
                    </a:cxn>
                    <a:cxn ang="0">
                      <a:pos x="1590" y="1206"/>
                    </a:cxn>
                  </a:cxnLst>
                  <a:rect l="0" t="0" r="r" b="b"/>
                  <a:pathLst>
                    <a:path w="1590" h="1206">
                      <a:moveTo>
                        <a:pt x="0" y="1206"/>
                      </a:moveTo>
                      <a:cubicBezTo>
                        <a:pt x="287" y="603"/>
                        <a:pt x="574" y="0"/>
                        <a:pt x="839" y="0"/>
                      </a:cubicBezTo>
                      <a:cubicBezTo>
                        <a:pt x="1104" y="0"/>
                        <a:pt x="1465" y="1005"/>
                        <a:pt x="1590" y="12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8" name="Group 11"/>
              <p:cNvGrpSpPr>
                <a:grpSpLocks/>
              </p:cNvGrpSpPr>
              <p:nvPr/>
            </p:nvGrpSpPr>
            <p:grpSpPr bwMode="auto">
              <a:xfrm>
                <a:off x="4672" y="11993"/>
                <a:ext cx="1481" cy="504"/>
                <a:chOff x="4672" y="11993"/>
                <a:chExt cx="1481" cy="504"/>
              </a:xfrm>
            </p:grpSpPr>
            <p:sp>
              <p:nvSpPr>
                <p:cNvPr id="3687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862" y="12013"/>
                  <a:ext cx="291" cy="48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non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687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672" y="11993"/>
                  <a:ext cx="291" cy="48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non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687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381" y="12000"/>
                  <a:ext cx="291" cy="48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non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</p:grpSp>
      <p:grpSp>
        <p:nvGrpSpPr>
          <p:cNvPr id="9" name="Group 15"/>
          <p:cNvGrpSpPr>
            <a:grpSpLocks/>
          </p:cNvGrpSpPr>
          <p:nvPr/>
        </p:nvGrpSpPr>
        <p:grpSpPr bwMode="auto">
          <a:xfrm>
            <a:off x="3402819" y="3779597"/>
            <a:ext cx="6429375" cy="1564258"/>
            <a:chOff x="1393" y="12968"/>
            <a:chExt cx="10124" cy="2093"/>
          </a:xfrm>
        </p:grpSpPr>
        <p:grpSp>
          <p:nvGrpSpPr>
            <p:cNvPr id="10" name="Group 16"/>
            <p:cNvGrpSpPr>
              <a:grpSpLocks/>
            </p:cNvGrpSpPr>
            <p:nvPr/>
          </p:nvGrpSpPr>
          <p:grpSpPr bwMode="auto">
            <a:xfrm>
              <a:off x="1393" y="12968"/>
              <a:ext cx="10124" cy="1628"/>
              <a:chOff x="1354" y="12968"/>
              <a:chExt cx="10124" cy="1628"/>
            </a:xfrm>
          </p:grpSpPr>
          <p:grpSp>
            <p:nvGrpSpPr>
              <p:cNvPr id="11" name="Group 17"/>
              <p:cNvGrpSpPr>
                <a:grpSpLocks/>
              </p:cNvGrpSpPr>
              <p:nvPr/>
            </p:nvGrpSpPr>
            <p:grpSpPr bwMode="auto">
              <a:xfrm>
                <a:off x="2366" y="13218"/>
                <a:ext cx="8550" cy="1212"/>
                <a:chOff x="2366" y="13218"/>
                <a:chExt cx="8550" cy="1212"/>
              </a:xfrm>
            </p:grpSpPr>
            <p:sp>
              <p:nvSpPr>
                <p:cNvPr id="36882" name="Freeform 18"/>
                <p:cNvSpPr>
                  <a:spLocks/>
                </p:cNvSpPr>
                <p:nvPr/>
              </p:nvSpPr>
              <p:spPr bwMode="auto">
                <a:xfrm>
                  <a:off x="5059" y="13218"/>
                  <a:ext cx="1102" cy="1206"/>
                </a:xfrm>
                <a:custGeom>
                  <a:avLst/>
                  <a:gdLst/>
                  <a:ahLst/>
                  <a:cxnLst>
                    <a:cxn ang="0">
                      <a:pos x="0" y="1206"/>
                    </a:cxn>
                    <a:cxn ang="0">
                      <a:pos x="839" y="0"/>
                    </a:cxn>
                    <a:cxn ang="0">
                      <a:pos x="1590" y="1206"/>
                    </a:cxn>
                  </a:cxnLst>
                  <a:rect l="0" t="0" r="r" b="b"/>
                  <a:pathLst>
                    <a:path w="1590" h="1206">
                      <a:moveTo>
                        <a:pt x="0" y="1206"/>
                      </a:moveTo>
                      <a:cubicBezTo>
                        <a:pt x="287" y="603"/>
                        <a:pt x="574" y="0"/>
                        <a:pt x="839" y="0"/>
                      </a:cubicBezTo>
                      <a:cubicBezTo>
                        <a:pt x="1104" y="0"/>
                        <a:pt x="1465" y="1005"/>
                        <a:pt x="1590" y="12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36883" name="Freeform 19"/>
                <p:cNvSpPr>
                  <a:spLocks/>
                </p:cNvSpPr>
                <p:nvPr/>
              </p:nvSpPr>
              <p:spPr bwMode="auto">
                <a:xfrm>
                  <a:off x="7676" y="13224"/>
                  <a:ext cx="1102" cy="1206"/>
                </a:xfrm>
                <a:custGeom>
                  <a:avLst/>
                  <a:gdLst/>
                  <a:ahLst/>
                  <a:cxnLst>
                    <a:cxn ang="0">
                      <a:pos x="0" y="1206"/>
                    </a:cxn>
                    <a:cxn ang="0">
                      <a:pos x="839" y="0"/>
                    </a:cxn>
                    <a:cxn ang="0">
                      <a:pos x="1590" y="1206"/>
                    </a:cxn>
                  </a:cxnLst>
                  <a:rect l="0" t="0" r="r" b="b"/>
                  <a:pathLst>
                    <a:path w="1590" h="1206">
                      <a:moveTo>
                        <a:pt x="0" y="1206"/>
                      </a:moveTo>
                      <a:cubicBezTo>
                        <a:pt x="287" y="603"/>
                        <a:pt x="574" y="0"/>
                        <a:pt x="839" y="0"/>
                      </a:cubicBezTo>
                      <a:cubicBezTo>
                        <a:pt x="1104" y="0"/>
                        <a:pt x="1465" y="1005"/>
                        <a:pt x="1590" y="12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36884" name="Freeform 20"/>
                <p:cNvSpPr>
                  <a:spLocks/>
                </p:cNvSpPr>
                <p:nvPr/>
              </p:nvSpPr>
              <p:spPr bwMode="auto">
                <a:xfrm>
                  <a:off x="9814" y="13218"/>
                  <a:ext cx="1102" cy="1206"/>
                </a:xfrm>
                <a:custGeom>
                  <a:avLst/>
                  <a:gdLst/>
                  <a:ahLst/>
                  <a:cxnLst>
                    <a:cxn ang="0">
                      <a:pos x="0" y="1206"/>
                    </a:cxn>
                    <a:cxn ang="0">
                      <a:pos x="839" y="0"/>
                    </a:cxn>
                    <a:cxn ang="0">
                      <a:pos x="1590" y="1206"/>
                    </a:cxn>
                  </a:cxnLst>
                  <a:rect l="0" t="0" r="r" b="b"/>
                  <a:pathLst>
                    <a:path w="1590" h="1206">
                      <a:moveTo>
                        <a:pt x="0" y="1206"/>
                      </a:moveTo>
                      <a:cubicBezTo>
                        <a:pt x="287" y="603"/>
                        <a:pt x="574" y="0"/>
                        <a:pt x="839" y="0"/>
                      </a:cubicBezTo>
                      <a:cubicBezTo>
                        <a:pt x="1104" y="0"/>
                        <a:pt x="1465" y="1005"/>
                        <a:pt x="1590" y="12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36885" name="Freeform 21"/>
                <p:cNvSpPr>
                  <a:spLocks/>
                </p:cNvSpPr>
                <p:nvPr/>
              </p:nvSpPr>
              <p:spPr bwMode="auto">
                <a:xfrm>
                  <a:off x="2366" y="13218"/>
                  <a:ext cx="1102" cy="1206"/>
                </a:xfrm>
                <a:custGeom>
                  <a:avLst/>
                  <a:gdLst/>
                  <a:ahLst/>
                  <a:cxnLst>
                    <a:cxn ang="0">
                      <a:pos x="0" y="1206"/>
                    </a:cxn>
                    <a:cxn ang="0">
                      <a:pos x="839" y="0"/>
                    </a:cxn>
                    <a:cxn ang="0">
                      <a:pos x="1590" y="1206"/>
                    </a:cxn>
                  </a:cxnLst>
                  <a:rect l="0" t="0" r="r" b="b"/>
                  <a:pathLst>
                    <a:path w="1590" h="1206">
                      <a:moveTo>
                        <a:pt x="0" y="1206"/>
                      </a:moveTo>
                      <a:cubicBezTo>
                        <a:pt x="287" y="603"/>
                        <a:pt x="574" y="0"/>
                        <a:pt x="839" y="0"/>
                      </a:cubicBezTo>
                      <a:cubicBezTo>
                        <a:pt x="1104" y="0"/>
                        <a:pt x="1465" y="1005"/>
                        <a:pt x="1590" y="1206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2" name="Group 22"/>
              <p:cNvGrpSpPr>
                <a:grpSpLocks/>
              </p:cNvGrpSpPr>
              <p:nvPr/>
            </p:nvGrpSpPr>
            <p:grpSpPr bwMode="auto">
              <a:xfrm>
                <a:off x="1354" y="12968"/>
                <a:ext cx="10124" cy="1628"/>
                <a:chOff x="1354" y="12968"/>
                <a:chExt cx="10124" cy="1628"/>
              </a:xfrm>
            </p:grpSpPr>
            <p:cxnSp>
              <p:nvCxnSpPr>
                <p:cNvPr id="36887" name="AutoShape 23"/>
                <p:cNvCxnSpPr>
                  <a:cxnSpLocks noChangeShapeType="1"/>
                </p:cNvCxnSpPr>
                <p:nvPr/>
              </p:nvCxnSpPr>
              <p:spPr bwMode="auto">
                <a:xfrm flipV="1">
                  <a:off x="1354" y="14418"/>
                  <a:ext cx="10124" cy="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36888" name="AutoShape 24"/>
                <p:cNvCxnSpPr>
                  <a:cxnSpLocks noChangeShapeType="1"/>
                </p:cNvCxnSpPr>
                <p:nvPr/>
              </p:nvCxnSpPr>
              <p:spPr bwMode="auto">
                <a:xfrm flipV="1">
                  <a:off x="5610" y="12968"/>
                  <a:ext cx="0" cy="162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grpSp>
              <p:nvGrpSpPr>
                <p:cNvPr id="13" name="Group 25"/>
                <p:cNvGrpSpPr>
                  <a:grpSpLocks/>
                </p:cNvGrpSpPr>
                <p:nvPr/>
              </p:nvGrpSpPr>
              <p:grpSpPr bwMode="auto">
                <a:xfrm>
                  <a:off x="2929" y="14264"/>
                  <a:ext cx="7424" cy="154"/>
                  <a:chOff x="2929" y="14264"/>
                  <a:chExt cx="7424" cy="154"/>
                </a:xfrm>
              </p:grpSpPr>
              <p:cxnSp>
                <p:nvCxnSpPr>
                  <p:cNvPr id="36890" name="AutoShape 2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8216" y="14271"/>
                    <a:ext cx="0" cy="147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6891" name="AutoShape 2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353" y="14271"/>
                    <a:ext cx="0" cy="147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6892" name="AutoShape 28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2929" y="14264"/>
                    <a:ext cx="0" cy="147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</p:grpSp>
          </p:grpSp>
        </p:grpSp>
        <p:grpSp>
          <p:nvGrpSpPr>
            <p:cNvPr id="14" name="Group 33"/>
            <p:cNvGrpSpPr>
              <a:grpSpLocks/>
            </p:cNvGrpSpPr>
            <p:nvPr/>
          </p:nvGrpSpPr>
          <p:grpSpPr bwMode="auto">
            <a:xfrm>
              <a:off x="3509" y="14511"/>
              <a:ext cx="3904" cy="550"/>
              <a:chOff x="3509" y="14511"/>
              <a:chExt cx="3904" cy="550"/>
            </a:xfrm>
          </p:grpSpPr>
          <p:grpSp>
            <p:nvGrpSpPr>
              <p:cNvPr id="15" name="Group 34"/>
              <p:cNvGrpSpPr>
                <a:grpSpLocks/>
              </p:cNvGrpSpPr>
              <p:nvPr/>
            </p:nvGrpSpPr>
            <p:grpSpPr bwMode="auto">
              <a:xfrm>
                <a:off x="4730" y="14547"/>
                <a:ext cx="1767" cy="514"/>
                <a:chOff x="4672" y="11993"/>
                <a:chExt cx="1756" cy="514"/>
              </a:xfrm>
            </p:grpSpPr>
            <p:sp>
              <p:nvSpPr>
                <p:cNvPr id="3689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5862" y="12013"/>
                  <a:ext cx="566" cy="49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690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672" y="11993"/>
                  <a:ext cx="721" cy="49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690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5381" y="12000"/>
                  <a:ext cx="462" cy="49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fr-FR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6903" name="Text Box 39"/>
              <p:cNvSpPr txBox="1">
                <a:spLocks noChangeArrowheads="1"/>
              </p:cNvSpPr>
              <p:nvPr/>
            </p:nvSpPr>
            <p:spPr bwMode="auto">
              <a:xfrm>
                <a:off x="7122" y="14556"/>
                <a:ext cx="291" cy="49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6904" name="Text Box 40"/>
              <p:cNvSpPr txBox="1">
                <a:spLocks noChangeArrowheads="1"/>
              </p:cNvSpPr>
              <p:nvPr/>
            </p:nvSpPr>
            <p:spPr bwMode="auto">
              <a:xfrm>
                <a:off x="3509" y="14511"/>
                <a:ext cx="291" cy="49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fr-FR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0" y="1608475"/>
            <a:ext cx="235745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400" dirty="0">
                <a:cs typeface="Times New Roman" pitchFamily="18" charset="0"/>
              </a:rPr>
              <a:t>Avant Echantillonnage</a:t>
            </a:r>
          </a:p>
        </p:txBody>
      </p:sp>
      <p:sp>
        <p:nvSpPr>
          <p:cNvPr id="44" name="Rectangle 18"/>
          <p:cNvSpPr>
            <a:spLocks noChangeArrowheads="1"/>
          </p:cNvSpPr>
          <p:nvPr/>
        </p:nvSpPr>
        <p:spPr bwMode="auto">
          <a:xfrm>
            <a:off x="28261" y="3865281"/>
            <a:ext cx="235745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400" dirty="0">
                <a:cs typeface="Times New Roman" pitchFamily="18" charset="0"/>
              </a:rPr>
              <a:t>Après  Echantillonnage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9020967" y="2459349"/>
            <a:ext cx="357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9475003" y="4614827"/>
            <a:ext cx="357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6306323" y="1552680"/>
            <a:ext cx="571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X(f)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6269817" y="3829009"/>
            <a:ext cx="571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Xe(f)</a:t>
            </a:r>
          </a:p>
        </p:txBody>
      </p:sp>
      <p:grpSp>
        <p:nvGrpSpPr>
          <p:cNvPr id="16" name="Groupe 51"/>
          <p:cNvGrpSpPr/>
          <p:nvPr/>
        </p:nvGrpSpPr>
        <p:grpSpPr>
          <a:xfrm>
            <a:off x="5375919" y="2910002"/>
            <a:ext cx="1428760" cy="307777"/>
            <a:chOff x="4500562" y="2643182"/>
            <a:chExt cx="1428760" cy="307777"/>
          </a:xfrm>
        </p:grpSpPr>
        <p:sp>
          <p:nvSpPr>
            <p:cNvPr id="49" name="ZoneTexte 48"/>
            <p:cNvSpPr txBox="1"/>
            <p:nvPr/>
          </p:nvSpPr>
          <p:spPr>
            <a:xfrm>
              <a:off x="4500562" y="2643182"/>
              <a:ext cx="5715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-</a:t>
              </a:r>
              <a:r>
                <a:rPr lang="fr-FR" sz="1400" dirty="0" err="1"/>
                <a:t>fm</a:t>
              </a:r>
              <a:endParaRPr lang="fr-FR" sz="1400" dirty="0"/>
            </a:p>
          </p:txBody>
        </p:sp>
        <p:sp>
          <p:nvSpPr>
            <p:cNvPr id="50" name="ZoneTexte 49"/>
            <p:cNvSpPr txBox="1"/>
            <p:nvPr/>
          </p:nvSpPr>
          <p:spPr>
            <a:xfrm>
              <a:off x="5500694" y="2643182"/>
              <a:ext cx="428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err="1"/>
                <a:t>fm</a:t>
              </a:r>
              <a:endParaRPr lang="fr-FR" sz="1400" dirty="0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5072066" y="2643182"/>
              <a:ext cx="428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0</a:t>
              </a:r>
            </a:p>
          </p:txBody>
        </p:sp>
      </p:grpSp>
      <p:grpSp>
        <p:nvGrpSpPr>
          <p:cNvPr id="17" name="Groupe 52"/>
          <p:cNvGrpSpPr/>
          <p:nvPr/>
        </p:nvGrpSpPr>
        <p:grpSpPr>
          <a:xfrm>
            <a:off x="5475045" y="4974644"/>
            <a:ext cx="1213876" cy="307777"/>
            <a:chOff x="4572570" y="2643182"/>
            <a:chExt cx="1296144" cy="251543"/>
          </a:xfrm>
        </p:grpSpPr>
        <p:sp>
          <p:nvSpPr>
            <p:cNvPr id="54" name="ZoneTexte 53"/>
            <p:cNvSpPr txBox="1"/>
            <p:nvPr/>
          </p:nvSpPr>
          <p:spPr>
            <a:xfrm>
              <a:off x="4572570" y="2643182"/>
              <a:ext cx="571504" cy="251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-</a:t>
              </a:r>
              <a:r>
                <a:rPr lang="fr-FR" sz="1400" dirty="0" err="1"/>
                <a:t>fm</a:t>
              </a:r>
              <a:endParaRPr lang="fr-FR" sz="1400" dirty="0"/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5440086" y="2643182"/>
              <a:ext cx="428628" cy="251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err="1"/>
                <a:t>fm</a:t>
              </a:r>
              <a:endParaRPr lang="fr-FR" sz="1400" dirty="0"/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5072066" y="2643182"/>
              <a:ext cx="428628" cy="251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0</a:t>
              </a:r>
            </a:p>
          </p:txBody>
        </p:sp>
      </p:grpSp>
      <p:sp>
        <p:nvSpPr>
          <p:cNvPr id="57" name="ZoneTexte 56"/>
          <p:cNvSpPr txBox="1"/>
          <p:nvPr/>
        </p:nvSpPr>
        <p:spPr>
          <a:xfrm>
            <a:off x="7563277" y="4994042"/>
            <a:ext cx="357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fe</a:t>
            </a:r>
            <a:endParaRPr lang="fr-FR" sz="1400" dirty="0"/>
          </a:p>
        </p:txBody>
      </p:sp>
      <p:sp>
        <p:nvSpPr>
          <p:cNvPr id="59" name="ZoneTexte 58"/>
          <p:cNvSpPr txBox="1"/>
          <p:nvPr/>
        </p:nvSpPr>
        <p:spPr>
          <a:xfrm>
            <a:off x="8934849" y="4994042"/>
            <a:ext cx="428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2fe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4182891" y="4994042"/>
            <a:ext cx="500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</a:t>
            </a:r>
            <a:r>
              <a:rPr lang="fr-FR" sz="1400" dirty="0" err="1"/>
              <a:t>fe</a:t>
            </a:r>
            <a:endParaRPr lang="fr-FR" sz="1400" dirty="0"/>
          </a:p>
        </p:txBody>
      </p:sp>
      <p:pic>
        <p:nvPicPr>
          <p:cNvPr id="58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66055" y="5856907"/>
            <a:ext cx="1576857" cy="613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Rectangle 18"/>
          <p:cNvSpPr>
            <a:spLocks noChangeArrowheads="1"/>
          </p:cNvSpPr>
          <p:nvPr/>
        </p:nvSpPr>
        <p:spPr bwMode="auto">
          <a:xfrm>
            <a:off x="3403843" y="126173"/>
            <a:ext cx="4016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5259021" y="4750421"/>
            <a:ext cx="1656184" cy="109864"/>
            <a:chOff x="4427984" y="4471264"/>
            <a:chExt cx="1656184" cy="109864"/>
          </a:xfrm>
        </p:grpSpPr>
        <p:cxnSp>
          <p:nvCxnSpPr>
            <p:cNvPr id="62" name="AutoShape 26"/>
            <p:cNvCxnSpPr>
              <a:cxnSpLocks noChangeShapeType="1"/>
            </p:cNvCxnSpPr>
            <p:nvPr/>
          </p:nvCxnSpPr>
          <p:spPr bwMode="auto">
            <a:xfrm flipV="1">
              <a:off x="6084168" y="4471264"/>
              <a:ext cx="0" cy="10986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3" name="AutoShape 26"/>
            <p:cNvCxnSpPr>
              <a:cxnSpLocks noChangeShapeType="1"/>
            </p:cNvCxnSpPr>
            <p:nvPr/>
          </p:nvCxnSpPr>
          <p:spPr bwMode="auto">
            <a:xfrm flipV="1">
              <a:off x="4427984" y="4471264"/>
              <a:ext cx="0" cy="10986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23" name="Group 22"/>
          <p:cNvGrpSpPr/>
          <p:nvPr/>
        </p:nvGrpSpPr>
        <p:grpSpPr>
          <a:xfrm>
            <a:off x="6856021" y="4932797"/>
            <a:ext cx="203200" cy="1041269"/>
            <a:chOff x="6024984" y="4653639"/>
            <a:chExt cx="203200" cy="1041269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6084168" y="4653639"/>
              <a:ext cx="0" cy="503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925055"/>
                </p:ext>
              </p:extLst>
            </p:nvPr>
          </p:nvGraphicFramePr>
          <p:xfrm>
            <a:off x="6024984" y="5301208"/>
            <a:ext cx="203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52" name="Equation" r:id="rId4" imgW="203040" imgH="393480" progId="Equation.3">
                    <p:embed/>
                  </p:oleObj>
                </mc:Choice>
                <mc:Fallback>
                  <p:oleObj name="Equation" r:id="rId4" imgW="203040" imgH="39348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024984" y="5301208"/>
                          <a:ext cx="203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3"/>
          <p:cNvGrpSpPr/>
          <p:nvPr/>
        </p:nvGrpSpPr>
        <p:grpSpPr>
          <a:xfrm>
            <a:off x="5058550" y="4932294"/>
            <a:ext cx="317500" cy="1041227"/>
            <a:chOff x="4227513" y="4653136"/>
            <a:chExt cx="317500" cy="1041227"/>
          </a:xfrm>
        </p:grpSpPr>
        <p:cxnSp>
          <p:nvCxnSpPr>
            <p:cNvPr id="64" name="Straight Arrow Connector 63"/>
            <p:cNvCxnSpPr/>
            <p:nvPr/>
          </p:nvCxnSpPr>
          <p:spPr>
            <a:xfrm flipV="1">
              <a:off x="4427984" y="4653136"/>
              <a:ext cx="0" cy="50355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6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8094567"/>
                </p:ext>
              </p:extLst>
            </p:nvPr>
          </p:nvGraphicFramePr>
          <p:xfrm>
            <a:off x="4227513" y="5300663"/>
            <a:ext cx="317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53" name="Equation" r:id="rId6" imgW="317160" imgH="393480" progId="Equation.3">
                    <p:embed/>
                  </p:oleObj>
                </mc:Choice>
                <mc:Fallback>
                  <p:oleObj name="Equation" r:id="rId6" imgW="317160" imgH="393480" progId="Equation.3">
                    <p:embed/>
                    <p:pic>
                      <p:nvPicPr>
                        <p:cNvPr id="22" name="Object 2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227513" y="5300663"/>
                          <a:ext cx="317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816899"/>
              </p:ext>
            </p:extLst>
          </p:nvPr>
        </p:nvGraphicFramePr>
        <p:xfrm>
          <a:off x="272054" y="5672468"/>
          <a:ext cx="1359449" cy="982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4" name="Equation" r:id="rId8" imgW="545760" imgH="393480" progId="Equation.3">
                  <p:embed/>
                </p:oleObj>
              </mc:Choice>
              <mc:Fallback>
                <p:oleObj name="Equation" r:id="rId8" imgW="545760" imgH="393480" progId="Equation.3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054" y="5672468"/>
                        <a:ext cx="1359449" cy="982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Straight Arrow Connector 26"/>
          <p:cNvCxnSpPr/>
          <p:nvPr/>
        </p:nvCxnSpPr>
        <p:spPr>
          <a:xfrm>
            <a:off x="1769290" y="6251185"/>
            <a:ext cx="79208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6</a:t>
            </a:r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68" name="Rectangle 18"/>
          <p:cNvSpPr>
            <a:spLocks noChangeArrowheads="1"/>
          </p:cNvSpPr>
          <p:nvPr/>
        </p:nvSpPr>
        <p:spPr bwMode="auto">
          <a:xfrm>
            <a:off x="5736477" y="5932686"/>
            <a:ext cx="3738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400" b="1" u="sng" dirty="0" smtClean="0">
                <a:solidFill>
                  <a:srgbClr val="FF0000"/>
                </a:solidFill>
                <a:cs typeface="Times New Roman" pitchFamily="18" charset="0"/>
              </a:rPr>
              <a:t>Théorème de Shannon  </a:t>
            </a:r>
            <a:endParaRPr lang="fr-FR" sz="2400" b="1" u="sng" dirty="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3" grpId="0"/>
      <p:bldP spid="44" grpId="0"/>
      <p:bldP spid="45" grpId="0"/>
      <p:bldP spid="46" grpId="0"/>
      <p:bldP spid="47" grpId="0"/>
      <p:bldP spid="48" grpId="0"/>
      <p:bldP spid="57" grpId="0"/>
      <p:bldP spid="59" grpId="0"/>
      <p:bldP spid="60" grpId="0"/>
      <p:bldP spid="61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3297605" y="157747"/>
            <a:ext cx="40958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1890" y="951111"/>
            <a:ext cx="25757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latin typeface="+mj-lt"/>
                <a:cs typeface="Times New Roman" pitchFamily="18" charset="0"/>
              </a:rPr>
              <a:t>Quantification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631504" y="1589039"/>
            <a:ext cx="8965090" cy="4536504"/>
            <a:chOff x="107504" y="1589039"/>
            <a:chExt cx="8965090" cy="4536504"/>
          </a:xfrm>
        </p:grpSpPr>
        <p:grpSp>
          <p:nvGrpSpPr>
            <p:cNvPr id="5" name="Group 4"/>
            <p:cNvGrpSpPr/>
            <p:nvPr/>
          </p:nvGrpSpPr>
          <p:grpSpPr>
            <a:xfrm>
              <a:off x="256987" y="1589039"/>
              <a:ext cx="7846407" cy="4274948"/>
              <a:chOff x="256987" y="1589039"/>
              <a:chExt cx="7846407" cy="4274948"/>
            </a:xfrm>
          </p:grpSpPr>
          <p:sp>
            <p:nvSpPr>
              <p:cNvPr id="99" name="Freeform 98"/>
              <p:cNvSpPr>
                <a:spLocks/>
              </p:cNvSpPr>
              <p:nvPr/>
            </p:nvSpPr>
            <p:spPr bwMode="auto">
              <a:xfrm>
                <a:off x="1285784" y="2126521"/>
                <a:ext cx="5738986" cy="3417467"/>
              </a:xfrm>
              <a:custGeom>
                <a:avLst/>
                <a:gdLst>
                  <a:gd name="T0" fmla="*/ 0 w 4747"/>
                  <a:gd name="T1" fmla="*/ 1780 h 2794"/>
                  <a:gd name="T2" fmla="*/ 235 w 4747"/>
                  <a:gd name="T3" fmla="*/ 1662 h 2794"/>
                  <a:gd name="T4" fmla="*/ 672 w 4747"/>
                  <a:gd name="T5" fmla="*/ 926 h 2794"/>
                  <a:gd name="T6" fmla="*/ 1163 w 4747"/>
                  <a:gd name="T7" fmla="*/ 126 h 2794"/>
                  <a:gd name="T8" fmla="*/ 2080 w 4747"/>
                  <a:gd name="T9" fmla="*/ 169 h 2794"/>
                  <a:gd name="T10" fmla="*/ 2486 w 4747"/>
                  <a:gd name="T11" fmla="*/ 820 h 2794"/>
                  <a:gd name="T12" fmla="*/ 2848 w 4747"/>
                  <a:gd name="T13" fmla="*/ 1630 h 2794"/>
                  <a:gd name="T14" fmla="*/ 3094 w 4747"/>
                  <a:gd name="T15" fmla="*/ 2270 h 2794"/>
                  <a:gd name="T16" fmla="*/ 3702 w 4747"/>
                  <a:gd name="T17" fmla="*/ 2462 h 2794"/>
                  <a:gd name="T18" fmla="*/ 4747 w 4747"/>
                  <a:gd name="T19" fmla="*/ 276 h 2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47" h="2794">
                    <a:moveTo>
                      <a:pt x="0" y="1780"/>
                    </a:moveTo>
                    <a:cubicBezTo>
                      <a:pt x="61" y="1792"/>
                      <a:pt x="123" y="1804"/>
                      <a:pt x="235" y="1662"/>
                    </a:cubicBezTo>
                    <a:cubicBezTo>
                      <a:pt x="347" y="1520"/>
                      <a:pt x="517" y="1182"/>
                      <a:pt x="672" y="926"/>
                    </a:cubicBezTo>
                    <a:cubicBezTo>
                      <a:pt x="827" y="670"/>
                      <a:pt x="928" y="252"/>
                      <a:pt x="1163" y="126"/>
                    </a:cubicBezTo>
                    <a:cubicBezTo>
                      <a:pt x="1398" y="0"/>
                      <a:pt x="1859" y="53"/>
                      <a:pt x="2080" y="169"/>
                    </a:cubicBezTo>
                    <a:cubicBezTo>
                      <a:pt x="2301" y="285"/>
                      <a:pt x="2358" y="577"/>
                      <a:pt x="2486" y="820"/>
                    </a:cubicBezTo>
                    <a:cubicBezTo>
                      <a:pt x="2614" y="1063"/>
                      <a:pt x="2747" y="1388"/>
                      <a:pt x="2848" y="1630"/>
                    </a:cubicBezTo>
                    <a:cubicBezTo>
                      <a:pt x="2949" y="1872"/>
                      <a:pt x="2952" y="2131"/>
                      <a:pt x="3094" y="2270"/>
                    </a:cubicBezTo>
                    <a:cubicBezTo>
                      <a:pt x="3236" y="2409"/>
                      <a:pt x="3427" y="2794"/>
                      <a:pt x="3702" y="2462"/>
                    </a:cubicBezTo>
                    <a:cubicBezTo>
                      <a:pt x="3977" y="2130"/>
                      <a:pt x="4573" y="640"/>
                      <a:pt x="4747" y="276"/>
                    </a:cubicBezTo>
                  </a:path>
                </a:pathLst>
              </a:custGeom>
              <a:noFill/>
              <a:ln w="1905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256987" y="1589039"/>
                <a:ext cx="7846407" cy="4274948"/>
                <a:chOff x="256987" y="1589039"/>
                <a:chExt cx="7846407" cy="4274948"/>
              </a:xfrm>
            </p:grpSpPr>
            <p:cxnSp>
              <p:nvCxnSpPr>
                <p:cNvPr id="101" name="AutoShape 150"/>
                <p:cNvCxnSpPr>
                  <a:cxnSpLocks noChangeShapeType="1"/>
                </p:cNvCxnSpPr>
                <p:nvPr/>
              </p:nvCxnSpPr>
              <p:spPr bwMode="auto">
                <a:xfrm flipV="1">
                  <a:off x="256987" y="3789040"/>
                  <a:ext cx="7846407" cy="1245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2" name="AutoShape 151"/>
                <p:cNvCxnSpPr>
                  <a:cxnSpLocks noChangeShapeType="1"/>
                </p:cNvCxnSpPr>
                <p:nvPr/>
              </p:nvCxnSpPr>
              <p:spPr bwMode="auto">
                <a:xfrm flipV="1">
                  <a:off x="1269174" y="1589039"/>
                  <a:ext cx="3908" cy="427494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4" name="Group 93"/>
            <p:cNvGrpSpPr>
              <a:grpSpLocks/>
            </p:cNvGrpSpPr>
            <p:nvPr/>
          </p:nvGrpSpPr>
          <p:grpSpPr bwMode="auto">
            <a:xfrm>
              <a:off x="3993092" y="1786244"/>
              <a:ext cx="5057030" cy="726224"/>
              <a:chOff x="5619" y="9895"/>
              <a:chExt cx="5176" cy="758"/>
            </a:xfrm>
          </p:grpSpPr>
          <p:cxnSp>
            <p:nvCxnSpPr>
              <p:cNvPr id="95" name="AutoShape 157"/>
              <p:cNvCxnSpPr>
                <a:cxnSpLocks noChangeShapeType="1"/>
                <a:stCxn id="96" idx="1"/>
              </p:cNvCxnSpPr>
              <p:nvPr/>
            </p:nvCxnSpPr>
            <p:spPr bwMode="auto">
              <a:xfrm flipH="1">
                <a:off x="5619" y="10242"/>
                <a:ext cx="3841" cy="41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6" name="Text Box 2"/>
              <p:cNvSpPr txBox="1">
                <a:spLocks noChangeArrowheads="1"/>
              </p:cNvSpPr>
              <p:nvPr/>
            </p:nvSpPr>
            <p:spPr bwMode="auto">
              <a:xfrm>
                <a:off x="9460" y="9895"/>
                <a:ext cx="1335" cy="6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fr-FR" sz="1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Amplitude du signal</a:t>
                </a:r>
                <a:endParaRPr lang="fr-FR" sz="1200" dirty="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07504" y="1682931"/>
              <a:ext cx="8965090" cy="4442612"/>
              <a:chOff x="107504" y="1682931"/>
              <a:chExt cx="8965090" cy="4442612"/>
            </a:xfrm>
          </p:grpSpPr>
          <p:cxnSp>
            <p:nvCxnSpPr>
              <p:cNvPr id="93" name="AutoShape 154"/>
              <p:cNvCxnSpPr>
                <a:cxnSpLocks noChangeShapeType="1"/>
              </p:cNvCxnSpPr>
              <p:nvPr/>
            </p:nvCxnSpPr>
            <p:spPr bwMode="auto">
              <a:xfrm flipH="1" flipV="1">
                <a:off x="6084168" y="2892025"/>
                <a:ext cx="1552216" cy="24894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6" name="Text Box 2"/>
              <p:cNvSpPr txBox="1">
                <a:spLocks noChangeArrowheads="1"/>
              </p:cNvSpPr>
              <p:nvPr/>
            </p:nvSpPr>
            <p:spPr bwMode="auto">
              <a:xfrm>
                <a:off x="7569945" y="3124840"/>
                <a:ext cx="1502649" cy="35832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fr-FR" sz="1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Echelon proche</a:t>
                </a:r>
                <a:endParaRPr lang="fr-FR" sz="1200" dirty="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7" name="Group 86"/>
              <p:cNvGrpSpPr>
                <a:grpSpLocks/>
              </p:cNvGrpSpPr>
              <p:nvPr/>
            </p:nvGrpSpPr>
            <p:grpSpPr bwMode="auto">
              <a:xfrm>
                <a:off x="107504" y="1682931"/>
                <a:ext cx="1066900" cy="4442612"/>
                <a:chOff x="996" y="9812"/>
                <a:chExt cx="1092" cy="4637"/>
              </a:xfrm>
            </p:grpSpPr>
            <p:sp>
              <p:nvSpPr>
                <p:cNvPr id="88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1216" y="13705"/>
                  <a:ext cx="872" cy="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</a:pPr>
                  <a:endParaRPr lang="en-US" sz="110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996" y="11781"/>
                  <a:ext cx="488" cy="41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</a:pPr>
                  <a:endParaRPr lang="en-US" sz="110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1216" y="9812"/>
                  <a:ext cx="826" cy="48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non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endParaRPr lang="en-US" sz="110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Group 9"/>
            <p:cNvGrpSpPr/>
            <p:nvPr/>
          </p:nvGrpSpPr>
          <p:grpSpPr>
            <a:xfrm>
              <a:off x="1269174" y="1905205"/>
              <a:ext cx="6731870" cy="3779621"/>
              <a:chOff x="1269174" y="1905205"/>
              <a:chExt cx="6731870" cy="3779621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1269174" y="1905205"/>
                <a:ext cx="6465885" cy="3779621"/>
                <a:chOff x="1269174" y="1905205"/>
                <a:chExt cx="6465885" cy="3779621"/>
              </a:xfrm>
            </p:grpSpPr>
            <p:grpSp>
              <p:nvGrpSpPr>
                <p:cNvPr id="2" name="Group 1"/>
                <p:cNvGrpSpPr/>
                <p:nvPr/>
              </p:nvGrpSpPr>
              <p:grpSpPr>
                <a:xfrm>
                  <a:off x="2196361" y="2161012"/>
                  <a:ext cx="4404383" cy="3027529"/>
                  <a:chOff x="2196361" y="2161012"/>
                  <a:chExt cx="4404383" cy="3027529"/>
                </a:xfrm>
              </p:grpSpPr>
              <p:grpSp>
                <p:nvGrpSpPr>
                  <p:cNvPr id="117" name="Group 116"/>
                  <p:cNvGrpSpPr>
                    <a:grpSpLocks/>
                  </p:cNvGrpSpPr>
                  <p:nvPr/>
                </p:nvGrpSpPr>
                <p:grpSpPr bwMode="auto">
                  <a:xfrm>
                    <a:off x="2196361" y="3060648"/>
                    <a:ext cx="55690" cy="742511"/>
                    <a:chOff x="3901" y="11291"/>
                    <a:chExt cx="57" cy="775"/>
                  </a:xfrm>
                </p:grpSpPr>
                <p:sp>
                  <p:nvSpPr>
                    <p:cNvPr id="133" name="Oval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01" y="11291"/>
                      <a:ext cx="57" cy="5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34" name="AutoShape 11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921" y="11331"/>
                      <a:ext cx="11" cy="735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18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3194870" y="2161012"/>
                    <a:ext cx="55690" cy="1656518"/>
                    <a:chOff x="4802" y="10319"/>
                    <a:chExt cx="57" cy="1729"/>
                  </a:xfrm>
                </p:grpSpPr>
                <p:sp>
                  <p:nvSpPr>
                    <p:cNvPr id="131" name="Oval 1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02" y="10319"/>
                      <a:ext cx="57" cy="5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32" name="AutoShape 121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4819" y="10374"/>
                      <a:ext cx="0" cy="1674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19" name="Group 118"/>
                  <p:cNvGrpSpPr>
                    <a:grpSpLocks/>
                  </p:cNvGrpSpPr>
                  <p:nvPr/>
                </p:nvGrpSpPr>
                <p:grpSpPr bwMode="auto">
                  <a:xfrm>
                    <a:off x="3937401" y="2470471"/>
                    <a:ext cx="55690" cy="1338436"/>
                    <a:chOff x="5705" y="10719"/>
                    <a:chExt cx="57" cy="1397"/>
                  </a:xfrm>
                </p:grpSpPr>
                <p:sp>
                  <p:nvSpPr>
                    <p:cNvPr id="129" name="Oval 1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05" y="10719"/>
                      <a:ext cx="57" cy="5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30" name="AutoShape 124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5732" y="10763"/>
                      <a:ext cx="0" cy="1353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20" name="Group 119"/>
                  <p:cNvGrpSpPr>
                    <a:grpSpLocks/>
                  </p:cNvGrpSpPr>
                  <p:nvPr/>
                </p:nvGrpSpPr>
                <p:grpSpPr bwMode="auto">
                  <a:xfrm>
                    <a:off x="4839186" y="3796453"/>
                    <a:ext cx="55690" cy="736763"/>
                    <a:chOff x="6595" y="12037"/>
                    <a:chExt cx="57" cy="769"/>
                  </a:xfrm>
                </p:grpSpPr>
                <p:sp>
                  <p:nvSpPr>
                    <p:cNvPr id="127" name="Oval 1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95" y="12742"/>
                      <a:ext cx="57" cy="5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28" name="AutoShape 127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6633" y="12037"/>
                      <a:ext cx="0" cy="769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21" name="Group 120"/>
                  <p:cNvGrpSpPr>
                    <a:grpSpLocks/>
                  </p:cNvGrpSpPr>
                  <p:nvPr/>
                </p:nvGrpSpPr>
                <p:grpSpPr bwMode="auto">
                  <a:xfrm>
                    <a:off x="5669649" y="3785914"/>
                    <a:ext cx="55690" cy="1402627"/>
                    <a:chOff x="7423" y="12037"/>
                    <a:chExt cx="57" cy="1464"/>
                  </a:xfrm>
                </p:grpSpPr>
                <p:sp>
                  <p:nvSpPr>
                    <p:cNvPr id="125" name="Oval 1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423" y="13444"/>
                      <a:ext cx="57" cy="5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26" name="AutoShape 130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7453" y="12037"/>
                      <a:ext cx="0" cy="1448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22" name="Group 121"/>
                  <p:cNvGrpSpPr>
                    <a:grpSpLocks/>
                  </p:cNvGrpSpPr>
                  <p:nvPr/>
                </p:nvGrpSpPr>
                <p:grpSpPr bwMode="auto">
                  <a:xfrm>
                    <a:off x="6545054" y="3418969"/>
                    <a:ext cx="55690" cy="384190"/>
                    <a:chOff x="8352" y="11665"/>
                    <a:chExt cx="57" cy="401"/>
                  </a:xfrm>
                </p:grpSpPr>
                <p:sp>
                  <p:nvSpPr>
                    <p:cNvPr id="123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52" y="11665"/>
                      <a:ext cx="57" cy="5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cxnSp>
                  <p:nvCxnSpPr>
                    <p:cNvPr id="124" name="AutoShape 133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8392" y="11682"/>
                      <a:ext cx="0" cy="384"/>
                    </a:xfrm>
                    <a:prstGeom prst="straightConnector1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</p:grpSp>
            <p:grpSp>
              <p:nvGrpSpPr>
                <p:cNvPr id="104" name="Group 103"/>
                <p:cNvGrpSpPr>
                  <a:grpSpLocks/>
                </p:cNvGrpSpPr>
                <p:nvPr/>
              </p:nvGrpSpPr>
              <p:grpSpPr bwMode="auto">
                <a:xfrm>
                  <a:off x="1269174" y="1905205"/>
                  <a:ext cx="6465885" cy="3779621"/>
                  <a:chOff x="2985" y="9855"/>
                  <a:chExt cx="6618" cy="3945"/>
                </a:xfrm>
              </p:grpSpPr>
              <p:grpSp>
                <p:nvGrpSpPr>
                  <p:cNvPr id="105" name="Group 104"/>
                  <p:cNvGrpSpPr>
                    <a:grpSpLocks/>
                  </p:cNvGrpSpPr>
                  <p:nvPr/>
                </p:nvGrpSpPr>
                <p:grpSpPr bwMode="auto">
                  <a:xfrm>
                    <a:off x="2989" y="9855"/>
                    <a:ext cx="6605" cy="526"/>
                    <a:chOff x="2989" y="9855"/>
                    <a:chExt cx="6605" cy="526"/>
                  </a:xfrm>
                </p:grpSpPr>
                <p:cxnSp>
                  <p:nvCxnSpPr>
                    <p:cNvPr id="115" name="AutoShape 136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002" y="9855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16" name="AutoShape 137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989" y="10370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06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2985" y="12320"/>
                    <a:ext cx="6605" cy="493"/>
                    <a:chOff x="2985" y="12320"/>
                    <a:chExt cx="6605" cy="493"/>
                  </a:xfrm>
                </p:grpSpPr>
                <p:cxnSp>
                  <p:nvCxnSpPr>
                    <p:cNvPr id="113" name="AutoShape 139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998" y="12320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14" name="AutoShape 14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985" y="12802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07" name="Group 106"/>
                  <p:cNvGrpSpPr>
                    <a:grpSpLocks/>
                  </p:cNvGrpSpPr>
                  <p:nvPr/>
                </p:nvGrpSpPr>
                <p:grpSpPr bwMode="auto">
                  <a:xfrm>
                    <a:off x="3003" y="13295"/>
                    <a:ext cx="6594" cy="505"/>
                    <a:chOff x="3003" y="13295"/>
                    <a:chExt cx="6594" cy="505"/>
                  </a:xfrm>
                </p:grpSpPr>
                <p:cxnSp>
                  <p:nvCxnSpPr>
                    <p:cNvPr id="111" name="AutoShape 142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005" y="13295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12" name="AutoShape 14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003" y="13777"/>
                      <a:ext cx="6530" cy="23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108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2998" y="10854"/>
                    <a:ext cx="6605" cy="493"/>
                    <a:chOff x="2998" y="10854"/>
                    <a:chExt cx="6605" cy="493"/>
                  </a:xfrm>
                </p:grpSpPr>
                <p:cxnSp>
                  <p:nvCxnSpPr>
                    <p:cNvPr id="109" name="AutoShape 14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011" y="10854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10" name="AutoShape 146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998" y="11336"/>
                      <a:ext cx="6592" cy="11"/>
                    </a:xfrm>
                    <a:prstGeom prst="straightConnector1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</p:grpSp>
          </p:grpSp>
          <p:sp>
            <p:nvSpPr>
              <p:cNvPr id="82" name="Text Box 2"/>
              <p:cNvSpPr txBox="1">
                <a:spLocks noChangeArrowheads="1"/>
              </p:cNvSpPr>
              <p:nvPr/>
            </p:nvSpPr>
            <p:spPr bwMode="auto">
              <a:xfrm>
                <a:off x="7500812" y="4606040"/>
                <a:ext cx="500232" cy="3956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</a:pPr>
                <a:endParaRPr lang="en-US" sz="110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4" name="Elbow Connector 73"/>
              <p:cNvCxnSpPr/>
              <p:nvPr/>
            </p:nvCxnSpPr>
            <p:spPr>
              <a:xfrm>
                <a:off x="3230517" y="2165149"/>
                <a:ext cx="834865" cy="197091"/>
              </a:xfrm>
              <a:prstGeom prst="bentConnector3">
                <a:avLst>
                  <a:gd name="adj1" fmla="val 102372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Elbow Connector 74"/>
              <p:cNvCxnSpPr/>
              <p:nvPr/>
            </p:nvCxnSpPr>
            <p:spPr>
              <a:xfrm>
                <a:off x="4003540" y="2498687"/>
                <a:ext cx="371747" cy="359806"/>
              </a:xfrm>
              <a:prstGeom prst="bentConnector3">
                <a:avLst>
                  <a:gd name="adj1" fmla="val 9612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76" name="Elbow Connector 75"/>
              <p:cNvCxnSpPr/>
              <p:nvPr/>
            </p:nvCxnSpPr>
            <p:spPr>
              <a:xfrm rot="16200000" flipH="1">
                <a:off x="2186605" y="3114378"/>
                <a:ext cx="313165" cy="173359"/>
              </a:xfrm>
              <a:prstGeom prst="bentConnector3">
                <a:avLst>
                  <a:gd name="adj1" fmla="val 13502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77" name="Elbow Connector 76"/>
              <p:cNvCxnSpPr/>
              <p:nvPr/>
            </p:nvCxnSpPr>
            <p:spPr>
              <a:xfrm>
                <a:off x="4915706" y="4469359"/>
                <a:ext cx="416575" cy="303216"/>
              </a:xfrm>
              <a:prstGeom prst="bentConnector3">
                <a:avLst>
                  <a:gd name="adj1" fmla="val 102372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78" name="Elbow Connector 77"/>
              <p:cNvCxnSpPr/>
              <p:nvPr/>
            </p:nvCxnSpPr>
            <p:spPr>
              <a:xfrm>
                <a:off x="5735111" y="5136668"/>
                <a:ext cx="572037" cy="136447"/>
              </a:xfrm>
              <a:prstGeom prst="bentConnector3">
                <a:avLst>
                  <a:gd name="adj1" fmla="val 102372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79" name="Elbow Connector 78"/>
              <p:cNvCxnSpPr/>
              <p:nvPr/>
            </p:nvCxnSpPr>
            <p:spPr>
              <a:xfrm>
                <a:off x="6616357" y="3438658"/>
                <a:ext cx="633878" cy="409341"/>
              </a:xfrm>
              <a:prstGeom prst="bentConnector3">
                <a:avLst>
                  <a:gd name="adj1" fmla="val 105736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</p:grpSp>
        <p:grpSp>
          <p:nvGrpSpPr>
            <p:cNvPr id="19" name="Group 18"/>
            <p:cNvGrpSpPr/>
            <p:nvPr/>
          </p:nvGrpSpPr>
          <p:grpSpPr>
            <a:xfrm>
              <a:off x="467544" y="1877900"/>
              <a:ext cx="432048" cy="3958782"/>
              <a:chOff x="467544" y="1877900"/>
              <a:chExt cx="432048" cy="3958782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899592" y="1877900"/>
                <a:ext cx="0" cy="395878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467544" y="294328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L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7236296" y="4725144"/>
              <a:ext cx="864096" cy="515724"/>
              <a:chOff x="7164288" y="4785484"/>
              <a:chExt cx="864096" cy="515724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7452320" y="479715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Δ</a:t>
                </a:r>
                <a:endParaRPr lang="fr-FR" dirty="0"/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>
                <a:off x="7164288" y="4785484"/>
                <a:ext cx="0" cy="51572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>
                <a:solidFill>
                  <a:schemeClr val="tx1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3287688" y="138699"/>
            <a:ext cx="40958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5788" y="912274"/>
            <a:ext cx="2487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latin typeface="+mj-lt"/>
                <a:cs typeface="Times New Roman" pitchFamily="18" charset="0"/>
              </a:rPr>
              <a:t>Quantification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31504" y="1589039"/>
            <a:ext cx="7995890" cy="4536504"/>
            <a:chOff x="107504" y="1589039"/>
            <a:chExt cx="7995890" cy="4536504"/>
          </a:xfrm>
        </p:grpSpPr>
        <p:grpSp>
          <p:nvGrpSpPr>
            <p:cNvPr id="117" name="Group 116"/>
            <p:cNvGrpSpPr>
              <a:grpSpLocks/>
            </p:cNvGrpSpPr>
            <p:nvPr/>
          </p:nvGrpSpPr>
          <p:grpSpPr bwMode="auto">
            <a:xfrm>
              <a:off x="2196361" y="3288377"/>
              <a:ext cx="52759" cy="514782"/>
              <a:chOff x="3901" y="11291"/>
              <a:chExt cx="57" cy="775"/>
            </a:xfrm>
          </p:grpSpPr>
          <p:sp>
            <p:nvSpPr>
              <p:cNvPr id="133" name="Oval 132"/>
              <p:cNvSpPr>
                <a:spLocks noChangeArrowheads="1"/>
              </p:cNvSpPr>
              <p:nvPr/>
            </p:nvSpPr>
            <p:spPr bwMode="auto">
              <a:xfrm>
                <a:off x="3901" y="1129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134" name="AutoShape 118"/>
              <p:cNvCxnSpPr>
                <a:cxnSpLocks noChangeShapeType="1"/>
              </p:cNvCxnSpPr>
              <p:nvPr/>
            </p:nvCxnSpPr>
            <p:spPr bwMode="auto">
              <a:xfrm>
                <a:off x="3921" y="11331"/>
                <a:ext cx="11" cy="73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2" name="AutoShape 121"/>
            <p:cNvCxnSpPr>
              <a:cxnSpLocks noChangeShapeType="1"/>
            </p:cNvCxnSpPr>
            <p:nvPr/>
          </p:nvCxnSpPr>
          <p:spPr bwMode="auto">
            <a:xfrm flipV="1">
              <a:off x="3221005" y="2413140"/>
              <a:ext cx="0" cy="1404389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AutoShape 124"/>
            <p:cNvCxnSpPr>
              <a:cxnSpLocks noChangeShapeType="1"/>
            </p:cNvCxnSpPr>
            <p:nvPr/>
          </p:nvCxnSpPr>
          <p:spPr bwMode="auto">
            <a:xfrm flipV="1">
              <a:off x="3978020" y="2866158"/>
              <a:ext cx="0" cy="942749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8" name="AutoShape 127"/>
            <p:cNvCxnSpPr>
              <a:cxnSpLocks noChangeShapeType="1"/>
            </p:cNvCxnSpPr>
            <p:nvPr/>
          </p:nvCxnSpPr>
          <p:spPr bwMode="auto">
            <a:xfrm flipV="1">
              <a:off x="4890199" y="3796453"/>
              <a:ext cx="0" cy="93221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5" name="Oval 124"/>
            <p:cNvSpPr>
              <a:spLocks noChangeArrowheads="1"/>
            </p:cNvSpPr>
            <p:nvPr/>
          </p:nvSpPr>
          <p:spPr bwMode="auto">
            <a:xfrm>
              <a:off x="5719791" y="5216370"/>
              <a:ext cx="45719" cy="551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126" name="AutoShape 130"/>
            <p:cNvCxnSpPr>
              <a:cxnSpLocks noChangeShapeType="1"/>
              <a:stCxn id="125" idx="0"/>
            </p:cNvCxnSpPr>
            <p:nvPr/>
          </p:nvCxnSpPr>
          <p:spPr bwMode="auto">
            <a:xfrm flipH="1" flipV="1">
              <a:off x="5724129" y="3785916"/>
              <a:ext cx="18522" cy="1430454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" name="Oval 122"/>
            <p:cNvSpPr>
              <a:spLocks noChangeArrowheads="1"/>
            </p:cNvSpPr>
            <p:nvPr/>
          </p:nvSpPr>
          <p:spPr bwMode="auto">
            <a:xfrm flipH="1">
              <a:off x="6829330" y="3755811"/>
              <a:ext cx="45719" cy="3322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cxnSp>
          <p:nvCxnSpPr>
            <p:cNvPr id="124" name="AutoShape 133"/>
            <p:cNvCxnSpPr>
              <a:cxnSpLocks noChangeShapeType="1"/>
            </p:cNvCxnSpPr>
            <p:nvPr/>
          </p:nvCxnSpPr>
          <p:spPr bwMode="auto">
            <a:xfrm flipV="1">
              <a:off x="6842965" y="3768189"/>
              <a:ext cx="32084" cy="3497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5" name="Group 104"/>
            <p:cNvGrpSpPr>
              <a:grpSpLocks/>
            </p:cNvGrpSpPr>
            <p:nvPr/>
          </p:nvGrpSpPr>
          <p:grpSpPr bwMode="auto">
            <a:xfrm>
              <a:off x="1288225" y="1886120"/>
              <a:ext cx="6453184" cy="503949"/>
              <a:chOff x="2989" y="9855"/>
              <a:chExt cx="6605" cy="526"/>
            </a:xfrm>
          </p:grpSpPr>
          <p:cxnSp>
            <p:nvCxnSpPr>
              <p:cNvPr id="115" name="AutoShape 136"/>
              <p:cNvCxnSpPr>
                <a:cxnSpLocks noChangeShapeType="1"/>
              </p:cNvCxnSpPr>
              <p:nvPr/>
            </p:nvCxnSpPr>
            <p:spPr bwMode="auto">
              <a:xfrm>
                <a:off x="3002" y="9855"/>
                <a:ext cx="6592" cy="1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" name="AutoShape 137"/>
              <p:cNvCxnSpPr>
                <a:cxnSpLocks noChangeShapeType="1"/>
              </p:cNvCxnSpPr>
              <p:nvPr/>
            </p:nvCxnSpPr>
            <p:spPr bwMode="auto">
              <a:xfrm>
                <a:off x="2989" y="10370"/>
                <a:ext cx="6592" cy="1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3" name="AutoShape 139"/>
            <p:cNvCxnSpPr>
              <a:cxnSpLocks noChangeShapeType="1"/>
            </p:cNvCxnSpPr>
            <p:nvPr/>
          </p:nvCxnSpPr>
          <p:spPr bwMode="auto">
            <a:xfrm>
              <a:off x="1281875" y="4266869"/>
              <a:ext cx="6440483" cy="10539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AutoShape 140"/>
            <p:cNvCxnSpPr>
              <a:cxnSpLocks noChangeShapeType="1"/>
            </p:cNvCxnSpPr>
            <p:nvPr/>
          </p:nvCxnSpPr>
          <p:spPr bwMode="auto">
            <a:xfrm>
              <a:off x="1269174" y="4728663"/>
              <a:ext cx="6440483" cy="10539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AutoShape 142"/>
            <p:cNvCxnSpPr>
              <a:cxnSpLocks noChangeShapeType="1"/>
            </p:cNvCxnSpPr>
            <p:nvPr/>
          </p:nvCxnSpPr>
          <p:spPr bwMode="auto">
            <a:xfrm>
              <a:off x="1259632" y="5218228"/>
              <a:ext cx="6440483" cy="10539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143"/>
            <p:cNvCxnSpPr>
              <a:cxnSpLocks noChangeShapeType="1"/>
            </p:cNvCxnSpPr>
            <p:nvPr/>
          </p:nvCxnSpPr>
          <p:spPr bwMode="auto">
            <a:xfrm>
              <a:off x="1286760" y="5662790"/>
              <a:ext cx="6379908" cy="22036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8" name="Group 107"/>
            <p:cNvGrpSpPr>
              <a:grpSpLocks/>
            </p:cNvGrpSpPr>
            <p:nvPr/>
          </p:nvGrpSpPr>
          <p:grpSpPr bwMode="auto">
            <a:xfrm>
              <a:off x="1281875" y="2862326"/>
              <a:ext cx="6453184" cy="472333"/>
              <a:chOff x="2998" y="10854"/>
              <a:chExt cx="6605" cy="493"/>
            </a:xfrm>
          </p:grpSpPr>
          <p:cxnSp>
            <p:nvCxnSpPr>
              <p:cNvPr id="109" name="AutoShape 145"/>
              <p:cNvCxnSpPr>
                <a:cxnSpLocks noChangeShapeType="1"/>
              </p:cNvCxnSpPr>
              <p:nvPr/>
            </p:nvCxnSpPr>
            <p:spPr bwMode="auto">
              <a:xfrm>
                <a:off x="3011" y="10854"/>
                <a:ext cx="6592" cy="1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0" name="AutoShape 146"/>
              <p:cNvCxnSpPr>
                <a:cxnSpLocks noChangeShapeType="1"/>
              </p:cNvCxnSpPr>
              <p:nvPr/>
            </p:nvCxnSpPr>
            <p:spPr bwMode="auto">
              <a:xfrm>
                <a:off x="2998" y="11336"/>
                <a:ext cx="6592" cy="1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01" name="AutoShape 150"/>
            <p:cNvCxnSpPr>
              <a:cxnSpLocks noChangeShapeType="1"/>
            </p:cNvCxnSpPr>
            <p:nvPr/>
          </p:nvCxnSpPr>
          <p:spPr bwMode="auto">
            <a:xfrm flipV="1">
              <a:off x="256987" y="3789040"/>
              <a:ext cx="7846407" cy="124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AutoShape 151"/>
            <p:cNvCxnSpPr>
              <a:cxnSpLocks noChangeShapeType="1"/>
            </p:cNvCxnSpPr>
            <p:nvPr/>
          </p:nvCxnSpPr>
          <p:spPr bwMode="auto">
            <a:xfrm flipV="1">
              <a:off x="1269174" y="1589039"/>
              <a:ext cx="3908" cy="42749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7" name="Group 86"/>
            <p:cNvGrpSpPr>
              <a:grpSpLocks/>
            </p:cNvGrpSpPr>
            <p:nvPr/>
          </p:nvGrpSpPr>
          <p:grpSpPr bwMode="auto">
            <a:xfrm>
              <a:off x="107504" y="1682931"/>
              <a:ext cx="1066900" cy="4442612"/>
              <a:chOff x="996" y="9812"/>
              <a:chExt cx="1092" cy="4637"/>
            </a:xfrm>
          </p:grpSpPr>
          <p:sp>
            <p:nvSpPr>
              <p:cNvPr id="88" name="Text Box 2"/>
              <p:cNvSpPr txBox="1">
                <a:spLocks noChangeArrowheads="1"/>
              </p:cNvSpPr>
              <p:nvPr/>
            </p:nvSpPr>
            <p:spPr bwMode="auto">
              <a:xfrm>
                <a:off x="1216" y="13705"/>
                <a:ext cx="872" cy="7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</a:pPr>
                <a:endParaRPr lang="en-US" sz="110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Text Box 2"/>
              <p:cNvSpPr txBox="1">
                <a:spLocks noChangeArrowheads="1"/>
              </p:cNvSpPr>
              <p:nvPr/>
            </p:nvSpPr>
            <p:spPr bwMode="auto">
              <a:xfrm>
                <a:off x="996" y="11781"/>
                <a:ext cx="488" cy="41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</a:pPr>
                <a:endParaRPr lang="en-US" sz="110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Text Box 2"/>
              <p:cNvSpPr txBox="1">
                <a:spLocks noChangeArrowheads="1"/>
              </p:cNvSpPr>
              <p:nvPr/>
            </p:nvSpPr>
            <p:spPr bwMode="auto">
              <a:xfrm>
                <a:off x="1216" y="9812"/>
                <a:ext cx="826" cy="4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non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endParaRPr lang="en-US" sz="110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2" name="Text Box 2"/>
            <p:cNvSpPr txBox="1">
              <a:spLocks noChangeArrowheads="1"/>
            </p:cNvSpPr>
            <p:nvPr/>
          </p:nvSpPr>
          <p:spPr bwMode="auto">
            <a:xfrm>
              <a:off x="7500812" y="4606040"/>
              <a:ext cx="500232" cy="3956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</a:pPr>
              <a:endParaRPr lang="en-US" sz="110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467544" y="1877900"/>
              <a:ext cx="432048" cy="3958782"/>
              <a:chOff x="467544" y="1877900"/>
              <a:chExt cx="432048" cy="3958782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899592" y="1877900"/>
                <a:ext cx="0" cy="395878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467544" y="294328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L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7164288" y="4725144"/>
              <a:ext cx="864096" cy="515724"/>
              <a:chOff x="7164288" y="4785484"/>
              <a:chExt cx="864096" cy="515724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7452320" y="479715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Δ</a:t>
                </a:r>
                <a:endParaRPr lang="fr-FR" dirty="0"/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>
                <a:off x="7164288" y="4785484"/>
                <a:ext cx="0" cy="51572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Oval 134"/>
            <p:cNvSpPr>
              <a:spLocks noChangeArrowheads="1"/>
            </p:cNvSpPr>
            <p:nvPr/>
          </p:nvSpPr>
          <p:spPr bwMode="auto">
            <a:xfrm>
              <a:off x="4860032" y="4725144"/>
              <a:ext cx="45719" cy="551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136" name="Oval 135"/>
            <p:cNvSpPr>
              <a:spLocks noChangeArrowheads="1"/>
            </p:cNvSpPr>
            <p:nvPr/>
          </p:nvSpPr>
          <p:spPr bwMode="auto">
            <a:xfrm>
              <a:off x="3203848" y="2348880"/>
              <a:ext cx="45719" cy="551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  <p:sp>
          <p:nvSpPr>
            <p:cNvPr id="137" name="Oval 136"/>
            <p:cNvSpPr>
              <a:spLocks noChangeArrowheads="1"/>
            </p:cNvSpPr>
            <p:nvPr/>
          </p:nvSpPr>
          <p:spPr bwMode="auto">
            <a:xfrm>
              <a:off x="3950217" y="2852936"/>
              <a:ext cx="45719" cy="551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fr-FR"/>
            </a:p>
          </p:txBody>
        </p:sp>
      </p:grpSp>
      <p:sp>
        <p:nvSpPr>
          <p:cNvPr id="4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8</a:t>
            </a:r>
            <a:endParaRPr lang="fr-BE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86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2999656" y="138699"/>
            <a:ext cx="482453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20" y="692696"/>
            <a:ext cx="9144000" cy="33123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576" y="4015704"/>
            <a:ext cx="9144000" cy="2795015"/>
          </a:xfrm>
          <a:prstGeom prst="rect">
            <a:avLst/>
          </a:prstGeom>
        </p:spPr>
      </p:pic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52" y="868943"/>
            <a:ext cx="1422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latin typeface="+mj-lt"/>
                <a:cs typeface="Times New Roman" pitchFamily="18" charset="0"/>
              </a:rPr>
              <a:t>Signaux </a:t>
            </a:r>
            <a:endParaRPr lang="fr-FR" sz="2800" b="1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11424" y="2401129"/>
            <a:ext cx="48885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Nombre de niveaux de quantification </a:t>
            </a: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034443"/>
              </p:ext>
            </p:extLst>
          </p:nvPr>
        </p:nvGraphicFramePr>
        <p:xfrm>
          <a:off x="6672064" y="2386094"/>
          <a:ext cx="1080120" cy="52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6" name="Équation" r:id="rId3" imgW="545626" imgH="253780" progId="Equation.3">
                  <p:embed/>
                </p:oleObj>
              </mc:Choice>
              <mc:Fallback>
                <p:oleObj name="Équation" r:id="rId3" imgW="545626" imgH="25378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2386094"/>
                        <a:ext cx="1080120" cy="5214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3431704" y="153889"/>
            <a:ext cx="39473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146430"/>
              </p:ext>
            </p:extLst>
          </p:nvPr>
        </p:nvGraphicFramePr>
        <p:xfrm>
          <a:off x="6655493" y="3762986"/>
          <a:ext cx="376611" cy="424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7" name="Equation" r:id="rId5" imgW="139680" imgH="164880" progId="Equation.3">
                  <p:embed/>
                </p:oleObj>
              </mc:Choice>
              <mc:Fallback>
                <p:oleObj name="Equation" r:id="rId5" imgW="139680" imgH="16488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493" y="3762986"/>
                        <a:ext cx="376611" cy="4240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985167" y="3824192"/>
            <a:ext cx="29433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Tension pleine échelle</a:t>
            </a:r>
            <a:endParaRPr lang="fr-FR" sz="2400" dirty="0"/>
          </a:p>
        </p:txBody>
      </p:sp>
      <p:sp>
        <p:nvSpPr>
          <p:cNvPr id="21" name="Rectangle 20"/>
          <p:cNvSpPr/>
          <p:nvPr/>
        </p:nvSpPr>
        <p:spPr>
          <a:xfrm>
            <a:off x="293310" y="932326"/>
            <a:ext cx="2706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latin typeface="+mj-lt"/>
                <a:cs typeface="Times New Roman" pitchFamily="18" charset="0"/>
              </a:rPr>
              <a:t>Caractéristiques 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758770"/>
              </p:ext>
            </p:extLst>
          </p:nvPr>
        </p:nvGraphicFramePr>
        <p:xfrm>
          <a:off x="5519936" y="5103973"/>
          <a:ext cx="1135557" cy="783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8" name="Équation" r:id="rId7" imgW="545863" imgH="393529" progId="Equation.3">
                  <p:embed/>
                </p:oleObj>
              </mc:Choice>
              <mc:Fallback>
                <p:oleObj name="Équation" r:id="rId7" imgW="545863" imgH="393529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936" y="5103973"/>
                        <a:ext cx="1135557" cy="78314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989464" y="5263769"/>
            <a:ext cx="1438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cs typeface="Times New Roman" pitchFamily="18" charset="0"/>
              </a:rPr>
              <a:t>Quantum</a:t>
            </a:r>
            <a:r>
              <a:rPr lang="fr-FR" sz="2400" dirty="0"/>
              <a:t> </a:t>
            </a:r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10</a:t>
            </a:r>
            <a:endParaRPr lang="fr-BE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1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3359696" y="138699"/>
            <a:ext cx="40324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de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191344" y="889029"/>
            <a:ext cx="1344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latin typeface="+mj-lt"/>
                <a:cs typeface="Times New Roman" pitchFamily="18" charset="0"/>
              </a:rPr>
              <a:t>Codage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872" y="1698393"/>
            <a:ext cx="11275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ea typeface="Times New Roman" panose="02020603050405020304" pitchFamily="18" charset="0"/>
              </a:rPr>
              <a:t>Le codage </a:t>
            </a:r>
            <a:r>
              <a:rPr lang="fr-FR" sz="2400" dirty="0">
                <a:ea typeface="SimSun" panose="02010600030101010101" pitchFamily="2" charset="-122"/>
              </a:rPr>
              <a:t>consiste</a:t>
            </a:r>
            <a:r>
              <a:rPr lang="fr-FR" sz="2400" dirty="0">
                <a:ea typeface="Times New Roman" panose="02020603050405020304" pitchFamily="18" charset="0"/>
              </a:rPr>
              <a:t> à faire correspondre aux échantillons du signal un mot (code) binaire </a:t>
            </a:r>
            <a:endParaRPr lang="fr-FR" sz="2400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2300226"/>
            <a:ext cx="5760640" cy="5443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808340"/>
              </p:ext>
            </p:extLst>
          </p:nvPr>
        </p:nvGraphicFramePr>
        <p:xfrm>
          <a:off x="1798550" y="2947974"/>
          <a:ext cx="553034" cy="553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25" name="Equation" r:id="rId4" imgW="228600" imgH="228600" progId="Equation.3">
                  <p:embed/>
                </p:oleObj>
              </mc:Choice>
              <mc:Fallback>
                <p:oleObj name="Equation" r:id="rId4" imgW="2286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8550" y="2947974"/>
                        <a:ext cx="553034" cy="553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01078"/>
              </p:ext>
            </p:extLst>
          </p:nvPr>
        </p:nvGraphicFramePr>
        <p:xfrm>
          <a:off x="1919536" y="3488983"/>
          <a:ext cx="394791" cy="499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26" name="Equation" r:id="rId6" imgW="190440" imgH="241200" progId="Equation.3">
                  <p:embed/>
                </p:oleObj>
              </mc:Choice>
              <mc:Fallback>
                <p:oleObj name="Equation" r:id="rId6" imgW="190440" imgH="2412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19536" y="3488983"/>
                        <a:ext cx="394791" cy="499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1524"/>
              </p:ext>
            </p:extLst>
          </p:nvPr>
        </p:nvGraphicFramePr>
        <p:xfrm>
          <a:off x="1919536" y="3913215"/>
          <a:ext cx="347166" cy="56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27" name="Equation" r:id="rId8" imgW="139680" imgH="228600" progId="Equation.3">
                  <p:embed/>
                </p:oleObj>
              </mc:Choice>
              <mc:Fallback>
                <p:oleObj name="Equation" r:id="rId8" imgW="139680" imgH="2286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19536" y="3913215"/>
                        <a:ext cx="347166" cy="565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783633" y="4047317"/>
            <a:ext cx="418306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L’état  du </a:t>
            </a:r>
            <a:r>
              <a:rPr lang="fr-FR" altLang="fr-FR" sz="2200" dirty="0" err="1" smtClean="0">
                <a:ea typeface="Times New Roman" panose="02020603050405020304" pitchFamily="18" charset="0"/>
                <a:cs typeface="Times New Roman" panose="02020603050405020304" pitchFamily="18" charset="0"/>
              </a:rPr>
              <a:t>ième</a:t>
            </a:r>
            <a:r>
              <a:rPr lang="fr-FR" altLang="fr-FR" sz="22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bit du code binaire  </a:t>
            </a:r>
            <a:endParaRPr lang="fr-FR" altLang="fr-FR" sz="2200" dirty="0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809951" y="3544873"/>
            <a:ext cx="26011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Quantum de tension </a:t>
            </a:r>
            <a:endParaRPr lang="fr-FR" altLang="fr-FR" sz="2200" dirty="0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2711625" y="3095864"/>
            <a:ext cx="34674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Tension analogique d’entrée </a:t>
            </a:r>
            <a:endParaRPr lang="fr-FR" altLang="fr-FR" sz="2200" dirty="0"/>
          </a:p>
        </p:txBody>
      </p:sp>
      <p:sp>
        <p:nvSpPr>
          <p:cNvPr id="15" name="Rectangle 14"/>
          <p:cNvSpPr/>
          <p:nvPr/>
        </p:nvSpPr>
        <p:spPr>
          <a:xfrm>
            <a:off x="411952" y="4596517"/>
            <a:ext cx="13865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dirty="0">
                <a:ea typeface="Times New Roman" panose="02020603050405020304" pitchFamily="18" charset="0"/>
              </a:rPr>
              <a:t>Exemple : </a:t>
            </a:r>
            <a:endParaRPr lang="fr-FR" sz="2200" b="1" dirty="0"/>
          </a:p>
        </p:txBody>
      </p:sp>
      <p:pic>
        <p:nvPicPr>
          <p:cNvPr id="124937" name="Picture 9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4616696"/>
            <a:ext cx="1098066" cy="38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36" name="Picture 9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311" y="4549761"/>
            <a:ext cx="952615" cy="45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35" name="Picture 9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507" y="4565741"/>
            <a:ext cx="793558" cy="38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4880178" y="4565740"/>
            <a:ext cx="134530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et  pour   </a:t>
            </a:r>
            <a:endParaRPr lang="fr-FR" altLang="fr-FR" sz="2200" dirty="0"/>
          </a:p>
        </p:txBody>
      </p:sp>
      <p:pic>
        <p:nvPicPr>
          <p:cNvPr id="26" name="Picture 25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551" y="5139511"/>
            <a:ext cx="1271820" cy="77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607" y="5273842"/>
            <a:ext cx="1704094" cy="45941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Rectangle 11"/>
          <p:cNvSpPr>
            <a:spLocks noChangeArrowheads="1"/>
          </p:cNvSpPr>
          <p:nvPr/>
        </p:nvSpPr>
        <p:spPr bwMode="auto">
          <a:xfrm>
            <a:off x="3431705" y="5273842"/>
            <a:ext cx="146956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et  comme</a:t>
            </a:r>
            <a:endParaRPr lang="fr-FR" altLang="fr-FR" sz="2200" dirty="0"/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1672534" y="6021167"/>
            <a:ext cx="8290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Alors</a:t>
            </a:r>
            <a:endParaRPr lang="fr-FR" altLang="fr-FR" sz="2200" dirty="0"/>
          </a:p>
        </p:txBody>
      </p:sp>
      <p:pic>
        <p:nvPicPr>
          <p:cNvPr id="30" name="Picture 29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422" y="6002681"/>
            <a:ext cx="3101617" cy="4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356131" y="2374248"/>
            <a:ext cx="19854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En binaire pure </a:t>
            </a:r>
            <a:endParaRPr lang="fr-FR" altLang="fr-FR" sz="2200" dirty="0"/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11</a:t>
            </a:r>
            <a:endParaRPr lang="fr-BE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03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/>
      <p:bldP spid="13" grpId="0"/>
      <p:bldP spid="16" grpId="0"/>
      <p:bldP spid="17" grpId="0"/>
      <p:bldP spid="15" grpId="0"/>
      <p:bldP spid="19" grpId="0"/>
      <p:bldP spid="28" grpId="0"/>
      <p:bldP spid="2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927648" y="3159208"/>
            <a:ext cx="4430276" cy="2286016"/>
            <a:chOff x="1477432" y="3159208"/>
            <a:chExt cx="4430276" cy="2286016"/>
          </a:xfrm>
        </p:grpSpPr>
        <p:sp>
          <p:nvSpPr>
            <p:cNvPr id="2052" name="Rectangle 4"/>
            <p:cNvSpPr>
              <a:spLocks noChangeArrowheads="1"/>
            </p:cNvSpPr>
            <p:nvPr/>
          </p:nvSpPr>
          <p:spPr bwMode="auto">
            <a:xfrm>
              <a:off x="2840451" y="3159208"/>
              <a:ext cx="1796260" cy="22860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fr-FR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Convertisseur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fr-FR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Analogique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fr-FR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Numérique</a:t>
              </a:r>
            </a:p>
            <a:p>
              <a:pPr fontAlgn="base">
                <a:spcBef>
                  <a:spcPct val="0"/>
                </a:spcBef>
                <a:spcAft>
                  <a:spcPts val="1000"/>
                </a:spcAft>
              </a:pPr>
              <a:r>
                <a:rPr lang="fr-FR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(CAN)  </a:t>
              </a:r>
              <a:endParaRPr lang="fr-FR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053" name="AutoShape 5"/>
            <p:cNvCxnSpPr>
              <a:cxnSpLocks noChangeShapeType="1"/>
            </p:cNvCxnSpPr>
            <p:nvPr/>
          </p:nvCxnSpPr>
          <p:spPr bwMode="auto">
            <a:xfrm>
              <a:off x="1477432" y="4219997"/>
              <a:ext cx="1366376" cy="10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grpSp>
          <p:nvGrpSpPr>
            <p:cNvPr id="2" name="Group 1"/>
            <p:cNvGrpSpPr/>
            <p:nvPr/>
          </p:nvGrpSpPr>
          <p:grpSpPr>
            <a:xfrm>
              <a:off x="4644008" y="3284984"/>
              <a:ext cx="1263700" cy="2088232"/>
              <a:chOff x="4644008" y="3284984"/>
              <a:chExt cx="1263700" cy="2088232"/>
            </a:xfrm>
          </p:grpSpPr>
          <p:cxnSp>
            <p:nvCxnSpPr>
              <p:cNvPr id="2055" name="AutoShape 7"/>
              <p:cNvCxnSpPr>
                <a:cxnSpLocks noChangeShapeType="1"/>
              </p:cNvCxnSpPr>
              <p:nvPr/>
            </p:nvCxnSpPr>
            <p:spPr bwMode="auto">
              <a:xfrm>
                <a:off x="4644008" y="4509120"/>
                <a:ext cx="12637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056" name="AutoShape 8"/>
              <p:cNvCxnSpPr>
                <a:cxnSpLocks noChangeShapeType="1"/>
              </p:cNvCxnSpPr>
              <p:nvPr/>
            </p:nvCxnSpPr>
            <p:spPr bwMode="auto">
              <a:xfrm>
                <a:off x="4644008" y="4941168"/>
                <a:ext cx="12637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057" name="AutoShape 9"/>
              <p:cNvCxnSpPr>
                <a:cxnSpLocks noChangeShapeType="1"/>
              </p:cNvCxnSpPr>
              <p:nvPr/>
            </p:nvCxnSpPr>
            <p:spPr bwMode="auto">
              <a:xfrm>
                <a:off x="4644008" y="5373216"/>
                <a:ext cx="12637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059" name="AutoShape 11"/>
              <p:cNvCxnSpPr>
                <a:cxnSpLocks noChangeShapeType="1"/>
              </p:cNvCxnSpPr>
              <p:nvPr/>
            </p:nvCxnSpPr>
            <p:spPr bwMode="auto">
              <a:xfrm>
                <a:off x="4644008" y="4077072"/>
                <a:ext cx="12637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060" name="AutoShape 12"/>
              <p:cNvCxnSpPr>
                <a:cxnSpLocks noChangeShapeType="1"/>
              </p:cNvCxnSpPr>
              <p:nvPr/>
            </p:nvCxnSpPr>
            <p:spPr bwMode="auto">
              <a:xfrm>
                <a:off x="4644008" y="3717032"/>
                <a:ext cx="12637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061" name="AutoShape 13"/>
              <p:cNvCxnSpPr>
                <a:cxnSpLocks noChangeShapeType="1"/>
              </p:cNvCxnSpPr>
              <p:nvPr/>
            </p:nvCxnSpPr>
            <p:spPr bwMode="auto">
              <a:xfrm>
                <a:off x="4644008" y="3284984"/>
                <a:ext cx="12637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</p:grpSp>
      </p:grp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7824193" y="2401566"/>
            <a:ext cx="4176463" cy="59970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fr-FR" sz="2400" dirty="0">
                <a:ea typeface="Arial" pitchFamily="34" charset="0"/>
                <a:cs typeface="Arial" pitchFamily="34" charset="0"/>
              </a:rPr>
              <a:t>Sortie </a:t>
            </a:r>
            <a:r>
              <a:rPr lang="fr-FR" sz="2400" dirty="0" smtClean="0">
                <a:ea typeface="Arial" pitchFamily="34" charset="0"/>
                <a:cs typeface="Arial" pitchFamily="34" charset="0"/>
              </a:rPr>
              <a:t>numérique (</a:t>
            </a:r>
            <a:r>
              <a:rPr lang="fr-FR" sz="2400" dirty="0">
                <a:ea typeface="Arial" pitchFamily="34" charset="0"/>
                <a:cs typeface="Arial" pitchFamily="34" charset="0"/>
              </a:rPr>
              <a:t>Code binaire) </a:t>
            </a:r>
            <a:endParaRPr lang="fr-FR" sz="2400" dirty="0">
              <a:cs typeface="Arial" pitchFamily="34" charset="0"/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143672" y="157557"/>
            <a:ext cx="40153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>
                <a:latin typeface="+mj-lt"/>
                <a:ea typeface="Times New Roman" pitchFamily="18" charset="0"/>
                <a:cs typeface="Times New Roman" pitchFamily="18" charset="0"/>
              </a:rPr>
              <a:t>Processus  CAN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pic>
        <p:nvPicPr>
          <p:cNvPr id="32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4037468"/>
            <a:ext cx="936104" cy="32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 Box 17"/>
          <p:cNvSpPr txBox="1">
            <a:spLocks noChangeArrowheads="1"/>
          </p:cNvSpPr>
          <p:nvPr/>
        </p:nvSpPr>
        <p:spPr bwMode="auto">
          <a:xfrm>
            <a:off x="0" y="2355716"/>
            <a:ext cx="3922757" cy="59970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fr-FR" sz="2400" dirty="0">
                <a:ea typeface="Arial" pitchFamily="34" charset="0"/>
                <a:cs typeface="Arial" pitchFamily="34" charset="0"/>
              </a:rPr>
              <a:t>Tension </a:t>
            </a:r>
            <a:r>
              <a:rPr lang="fr-FR" sz="2400" dirty="0" smtClean="0">
                <a:ea typeface="Arial" pitchFamily="34" charset="0"/>
                <a:cs typeface="Arial" pitchFamily="34" charset="0"/>
              </a:rPr>
              <a:t>analogique  </a:t>
            </a:r>
            <a:r>
              <a:rPr lang="fr-FR" sz="2400" dirty="0" smtClean="0">
                <a:cs typeface="Arial" pitchFamily="34" charset="0"/>
              </a:rPr>
              <a:t>d’entrée </a:t>
            </a:r>
            <a:endParaRPr lang="fr-FR" sz="2400" dirty="0">
              <a:cs typeface="Arial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824193" y="3068960"/>
            <a:ext cx="827683" cy="2592288"/>
            <a:chOff x="6300192" y="3068960"/>
            <a:chExt cx="827683" cy="2592288"/>
          </a:xfrm>
        </p:grpSpPr>
        <p:graphicFrame>
          <p:nvGraphicFramePr>
            <p:cNvPr id="36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2787102"/>
                </p:ext>
              </p:extLst>
            </p:nvPr>
          </p:nvGraphicFramePr>
          <p:xfrm>
            <a:off x="6300192" y="3068960"/>
            <a:ext cx="742950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22" name="Equation" r:id="rId4" imgW="393480" imgH="228600" progId="Equation.3">
                    <p:embed/>
                  </p:oleObj>
                </mc:Choice>
                <mc:Fallback>
                  <p:oleObj name="Equation" r:id="rId4" imgW="393480" imgH="228600" progId="Equation.3">
                    <p:embed/>
                    <p:pic>
                      <p:nvPicPr>
                        <p:cNvPr id="5" name="Object 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300192" y="3068960"/>
                          <a:ext cx="742950" cy="433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555227"/>
                </p:ext>
              </p:extLst>
            </p:nvPr>
          </p:nvGraphicFramePr>
          <p:xfrm>
            <a:off x="6335713" y="3584575"/>
            <a:ext cx="671512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23" name="Equation" r:id="rId6" imgW="355320" imgH="215640" progId="Equation.3">
                    <p:embed/>
                  </p:oleObj>
                </mc:Choice>
                <mc:Fallback>
                  <p:oleObj name="Equation" r:id="rId6" imgW="355320" imgH="215640" progId="Equation.3">
                    <p:embed/>
                    <p:pic>
                      <p:nvPicPr>
                        <p:cNvPr id="36" name="Object 3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335713" y="3584575"/>
                          <a:ext cx="671512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247767"/>
                </p:ext>
              </p:extLst>
            </p:nvPr>
          </p:nvGraphicFramePr>
          <p:xfrm>
            <a:off x="6338888" y="3943350"/>
            <a:ext cx="766762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24" name="Equation" r:id="rId8" imgW="406080" imgH="215640" progId="Equation.3">
                    <p:embed/>
                  </p:oleObj>
                </mc:Choice>
                <mc:Fallback>
                  <p:oleObj name="Equation" r:id="rId8" imgW="406080" imgH="215640" progId="Equation.3">
                    <p:embed/>
                    <p:pic>
                      <p:nvPicPr>
                        <p:cNvPr id="36" name="Object 3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338888" y="3943350"/>
                          <a:ext cx="766762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5534492"/>
                </p:ext>
              </p:extLst>
            </p:nvPr>
          </p:nvGraphicFramePr>
          <p:xfrm>
            <a:off x="6396038" y="4292600"/>
            <a:ext cx="695325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25" name="Equation" r:id="rId10" imgW="368280" imgH="228600" progId="Equation.3">
                    <p:embed/>
                  </p:oleObj>
                </mc:Choice>
                <mc:Fallback>
                  <p:oleObj name="Equation" r:id="rId10" imgW="368280" imgH="228600" progId="Equation.3">
                    <p:embed/>
                    <p:pic>
                      <p:nvPicPr>
                        <p:cNvPr id="36" name="Object 3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396038" y="4292600"/>
                          <a:ext cx="695325" cy="433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5957077"/>
                </p:ext>
              </p:extLst>
            </p:nvPr>
          </p:nvGraphicFramePr>
          <p:xfrm>
            <a:off x="6359525" y="4735513"/>
            <a:ext cx="76835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26" name="Equation" r:id="rId12" imgW="406080" imgH="215640" progId="Equation.3">
                    <p:embed/>
                  </p:oleObj>
                </mc:Choice>
                <mc:Fallback>
                  <p:oleObj name="Equation" r:id="rId12" imgW="406080" imgH="215640" progId="Equation.3">
                    <p:embed/>
                    <p:pic>
                      <p:nvPicPr>
                        <p:cNvPr id="36" name="Object 3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359525" y="4735513"/>
                          <a:ext cx="768350" cy="409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2956410"/>
                </p:ext>
              </p:extLst>
            </p:nvPr>
          </p:nvGraphicFramePr>
          <p:xfrm>
            <a:off x="6372200" y="5227861"/>
            <a:ext cx="742950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27" name="Equation" r:id="rId14" imgW="393480" imgH="228600" progId="Equation.3">
                    <p:embed/>
                  </p:oleObj>
                </mc:Choice>
                <mc:Fallback>
                  <p:oleObj name="Equation" r:id="rId14" imgW="393480" imgH="228600" progId="Equation.3">
                    <p:embed/>
                    <p:pic>
                      <p:nvPicPr>
                        <p:cNvPr id="36" name="Object 3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372200" y="5227861"/>
                          <a:ext cx="742950" cy="433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12</a:t>
            </a:r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191344" y="908720"/>
            <a:ext cx="1344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latin typeface="+mj-lt"/>
                <a:cs typeface="Times New Roman" pitchFamily="18" charset="0"/>
              </a:rPr>
              <a:t>Codage </a:t>
            </a:r>
          </a:p>
        </p:txBody>
      </p:sp>
    </p:spTree>
    <p:extLst>
      <p:ext uri="{BB962C8B-B14F-4D97-AF65-F5344CB8AC3E}">
        <p14:creationId xmlns:p14="http://schemas.microsoft.com/office/powerpoint/2010/main" val="191030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5" grpId="0" animBg="1"/>
      <p:bldP spid="2066" grpId="0"/>
      <p:bldP spid="37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635215" y="129109"/>
            <a:ext cx="27945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latin typeface="+mj-lt"/>
                <a:ea typeface="Times New Roman" pitchFamily="18" charset="0"/>
                <a:cs typeface="Times New Roman" pitchFamily="18" charset="0"/>
              </a:rPr>
              <a:t>Codage PCM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13</a:t>
            </a:r>
            <a:endParaRPr lang="fr-BE" sz="1800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198457" y="1746894"/>
            <a:ext cx="8754533" cy="1291709"/>
            <a:chOff x="3026410" y="3034982"/>
            <a:chExt cx="6376021" cy="785813"/>
          </a:xfrm>
        </p:grpSpPr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026410" y="3046730"/>
              <a:ext cx="1012825" cy="77406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ln>
                    <a:noFill/>
                  </a:ln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Source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ln>
                    <a:noFill/>
                  </a:ln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Signal message continue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530975" y="3213735"/>
              <a:ext cx="1014778" cy="3651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Quantification</a:t>
              </a:r>
              <a:r>
                <a:rPr lang="fr-FR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fr-FR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863840" y="3213735"/>
              <a:ext cx="593725" cy="3727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Codage</a:t>
              </a:r>
              <a:r>
                <a:rPr lang="fr-FR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fr-FR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4236720" y="3034982"/>
              <a:ext cx="768350" cy="695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Filtre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Passe bas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5197475" y="3204845"/>
              <a:ext cx="1104265" cy="3727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Échantillonnage 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8694406" y="3051810"/>
              <a:ext cx="708025" cy="76898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Séquence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De données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PCM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4039235" y="3392805"/>
              <a:ext cx="220345" cy="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991735" y="3392805"/>
              <a:ext cx="2203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34" name="Straight Arrow Connector 33"/>
            <p:cNvCxnSpPr/>
            <p:nvPr/>
          </p:nvCxnSpPr>
          <p:spPr>
            <a:xfrm>
              <a:off x="6309360" y="3387090"/>
              <a:ext cx="2203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35" name="Straight Arrow Connector 34"/>
            <p:cNvCxnSpPr>
              <a:stCxn id="26" idx="3"/>
              <a:endCxn id="27" idx="1"/>
            </p:cNvCxnSpPr>
            <p:nvPr/>
          </p:nvCxnSpPr>
          <p:spPr>
            <a:xfrm>
              <a:off x="7545753" y="3396298"/>
              <a:ext cx="318087" cy="381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43" name="Straight Arrow Connector 42"/>
            <p:cNvCxnSpPr>
              <a:stCxn id="27" idx="3"/>
            </p:cNvCxnSpPr>
            <p:nvPr/>
          </p:nvCxnSpPr>
          <p:spPr>
            <a:xfrm flipV="1">
              <a:off x="8457565" y="3396298"/>
              <a:ext cx="220345" cy="381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</p:grpSp>
      <p:grpSp>
        <p:nvGrpSpPr>
          <p:cNvPr id="7" name="Group 6"/>
          <p:cNvGrpSpPr/>
          <p:nvPr/>
        </p:nvGrpSpPr>
        <p:grpSpPr>
          <a:xfrm>
            <a:off x="1727603" y="3216621"/>
            <a:ext cx="6456627" cy="1264072"/>
            <a:chOff x="3729336" y="3096804"/>
            <a:chExt cx="4586104" cy="695960"/>
          </a:xfrm>
        </p:grpSpPr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3729336" y="3096804"/>
              <a:ext cx="1012825" cy="695960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ln>
                    <a:noFill/>
                  </a:ln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Données PCM mis en forme pour la transmission 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5165338" y="3199556"/>
              <a:ext cx="955165" cy="4870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Ligne de transmission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6347143" y="3254291"/>
              <a:ext cx="906145" cy="3727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Régénération </a:t>
              </a:r>
              <a:r>
                <a:rPr lang="fr-FR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endParaRPr lang="fr-FR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7490777" y="3210560"/>
              <a:ext cx="824663" cy="4413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Sortie vers canal 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Arrow Connector 47"/>
            <p:cNvCxnSpPr>
              <a:stCxn id="44" idx="3"/>
              <a:endCxn id="45" idx="1"/>
            </p:cNvCxnSpPr>
            <p:nvPr/>
          </p:nvCxnSpPr>
          <p:spPr>
            <a:xfrm flipV="1">
              <a:off x="4742161" y="3443078"/>
              <a:ext cx="423178" cy="1706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49" name="Straight Arrow Connector 48"/>
            <p:cNvCxnSpPr/>
            <p:nvPr/>
          </p:nvCxnSpPr>
          <p:spPr>
            <a:xfrm>
              <a:off x="6126797" y="3423920"/>
              <a:ext cx="2203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50" name="Straight Arrow Connector 49"/>
            <p:cNvCxnSpPr>
              <a:stCxn id="46" idx="3"/>
              <a:endCxn id="47" idx="1"/>
            </p:cNvCxnSpPr>
            <p:nvPr/>
          </p:nvCxnSpPr>
          <p:spPr>
            <a:xfrm flipV="1">
              <a:off x="7253288" y="3431223"/>
              <a:ext cx="237489" cy="9441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</p:grpSp>
      <p:grpSp>
        <p:nvGrpSpPr>
          <p:cNvPr id="8" name="Group 7"/>
          <p:cNvGrpSpPr/>
          <p:nvPr/>
        </p:nvGrpSpPr>
        <p:grpSpPr>
          <a:xfrm>
            <a:off x="1695230" y="4622299"/>
            <a:ext cx="7435796" cy="1199046"/>
            <a:chOff x="3559175" y="3081020"/>
            <a:chExt cx="5500222" cy="695960"/>
          </a:xfrm>
        </p:grpSpPr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3559175" y="3218815"/>
              <a:ext cx="799465" cy="433070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ln>
                    <a:noFill/>
                  </a:ln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Sortie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ln>
                    <a:noFill/>
                  </a:ln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Canal 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6637020" y="3190875"/>
              <a:ext cx="1026895" cy="4794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Filtre de reconstruction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4374515" y="3081020"/>
              <a:ext cx="1073785" cy="695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Régénération 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8107532" y="3249612"/>
              <a:ext cx="951865" cy="3714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Destination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5654675" y="3236595"/>
              <a:ext cx="746125" cy="3727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fr-FR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Décodage </a:t>
              </a:r>
              <a:endParaRPr lang="fr-F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56" name="Straight Arrow Connector 55"/>
            <p:cNvCxnSpPr>
              <a:endCxn id="53" idx="1"/>
            </p:cNvCxnSpPr>
            <p:nvPr/>
          </p:nvCxnSpPr>
          <p:spPr>
            <a:xfrm>
              <a:off x="4161783" y="3427095"/>
              <a:ext cx="212732" cy="1905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57" name="Straight Arrow Connector 56"/>
            <p:cNvCxnSpPr/>
            <p:nvPr/>
          </p:nvCxnSpPr>
          <p:spPr>
            <a:xfrm>
              <a:off x="5441315" y="3427095"/>
              <a:ext cx="2203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58" name="Straight Arrow Connector 57"/>
            <p:cNvCxnSpPr/>
            <p:nvPr/>
          </p:nvCxnSpPr>
          <p:spPr>
            <a:xfrm>
              <a:off x="6416675" y="3427095"/>
              <a:ext cx="220345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  <p:cxnSp>
          <p:nvCxnSpPr>
            <p:cNvPr id="59" name="Straight Arrow Connector 58"/>
            <p:cNvCxnSpPr>
              <a:stCxn id="52" idx="3"/>
              <a:endCxn id="54" idx="1"/>
            </p:cNvCxnSpPr>
            <p:nvPr/>
          </p:nvCxnSpPr>
          <p:spPr>
            <a:xfrm>
              <a:off x="7663915" y="3430587"/>
              <a:ext cx="443617" cy="4762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solid"/>
              <a:tailEnd type="triangle"/>
            </a:ln>
            <a:effectLst/>
          </p:spPr>
        </p:cxnSp>
      </p:grpSp>
      <p:sp>
        <p:nvSpPr>
          <p:cNvPr id="9" name="Rectangle 8"/>
          <p:cNvSpPr/>
          <p:nvPr/>
        </p:nvSpPr>
        <p:spPr>
          <a:xfrm>
            <a:off x="2351740" y="748992"/>
            <a:ext cx="5694188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fr-FR" sz="2800" b="1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Eléments de base d’un système PCM </a:t>
            </a:r>
            <a:endParaRPr lang="fr-FR" sz="2800" b="1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33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3352" y="868943"/>
            <a:ext cx="1422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latin typeface="+mj-lt"/>
                <a:cs typeface="Times New Roman" pitchFamily="18" charset="0"/>
              </a:rPr>
              <a:t>Signaux </a:t>
            </a:r>
            <a:endParaRPr lang="fr-FR" sz="2800" b="1" dirty="0">
              <a:latin typeface="+mj-lt"/>
              <a:cs typeface="Times New Roman" pitchFamily="18" charset="0"/>
            </a:endParaRP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1392163"/>
            <a:ext cx="6696075" cy="2828925"/>
          </a:xfrm>
          <a:prstGeom prst="rect">
            <a:avLst/>
          </a:prstGeom>
        </p:spPr>
      </p:pic>
      <p:graphicFrame>
        <p:nvGraphicFramePr>
          <p:cNvPr id="67" name="Object 66"/>
          <p:cNvGraphicFramePr>
            <a:graphicFrameLocks noChangeAspect="1"/>
          </p:cNvGraphicFramePr>
          <p:nvPr>
            <p:extLst/>
          </p:nvPr>
        </p:nvGraphicFramePr>
        <p:xfrm>
          <a:off x="1793678" y="2314377"/>
          <a:ext cx="282575" cy="116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6" name="Equation" r:id="rId4" imgW="279158" imgH="177646" progId="Equation.3">
                  <p:embed/>
                </p:oleObj>
              </mc:Choice>
              <mc:Fallback>
                <p:oleObj name="Equation" r:id="rId4" imgW="279158" imgH="177646" progId="Equation.3">
                  <p:embed/>
                  <p:pic>
                    <p:nvPicPr>
                      <p:cNvPr id="67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678" y="2314377"/>
                        <a:ext cx="282575" cy="116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/>
          <p:cNvGraphicFramePr>
            <a:graphicFrameLocks noChangeAspect="1"/>
          </p:cNvGraphicFramePr>
          <p:nvPr>
            <p:extLst/>
          </p:nvPr>
        </p:nvGraphicFramePr>
        <p:xfrm>
          <a:off x="1793678" y="2126484"/>
          <a:ext cx="269875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7" name="Equation" r:id="rId6" imgW="266400" imgH="177480" progId="Equation.3">
                  <p:embed/>
                </p:oleObj>
              </mc:Choice>
              <mc:Fallback>
                <p:oleObj name="Equation" r:id="rId6" imgW="266400" imgH="177480" progId="Equation.3">
                  <p:embed/>
                  <p:pic>
                    <p:nvPicPr>
                      <p:cNvPr id="68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678" y="2126484"/>
                        <a:ext cx="269875" cy="115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/>
          <p:cNvGraphicFramePr>
            <a:graphicFrameLocks noChangeAspect="1"/>
          </p:cNvGraphicFramePr>
          <p:nvPr>
            <p:extLst/>
          </p:nvPr>
        </p:nvGraphicFramePr>
        <p:xfrm>
          <a:off x="1780978" y="1910460"/>
          <a:ext cx="282575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8" name="Equation" r:id="rId8" imgW="279360" imgH="177480" progId="Equation.3">
                  <p:embed/>
                </p:oleObj>
              </mc:Choice>
              <mc:Fallback>
                <p:oleObj name="Equation" r:id="rId8" imgW="279360" imgH="177480" progId="Equation.3">
                  <p:embed/>
                  <p:pic>
                    <p:nvPicPr>
                      <p:cNvPr id="69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978" y="1910460"/>
                        <a:ext cx="282575" cy="115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/>
          <p:cNvGraphicFramePr>
            <a:graphicFrameLocks noChangeAspect="1"/>
          </p:cNvGraphicFramePr>
          <p:nvPr>
            <p:extLst/>
          </p:nvPr>
        </p:nvGraphicFramePr>
        <p:xfrm>
          <a:off x="1793678" y="1738315"/>
          <a:ext cx="269875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9" name="Equation" r:id="rId10" imgW="266400" imgH="177480" progId="Equation.3">
                  <p:embed/>
                </p:oleObj>
              </mc:Choice>
              <mc:Fallback>
                <p:oleObj name="Equation" r:id="rId10" imgW="266400" imgH="177480" progId="Equation.3">
                  <p:embed/>
                  <p:pic>
                    <p:nvPicPr>
                      <p:cNvPr id="7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678" y="1738315"/>
                        <a:ext cx="269875" cy="115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/>
          <p:cNvGraphicFramePr>
            <a:graphicFrameLocks noChangeAspect="1"/>
          </p:cNvGraphicFramePr>
          <p:nvPr>
            <p:extLst/>
          </p:nvPr>
        </p:nvGraphicFramePr>
        <p:xfrm>
          <a:off x="1800027" y="2544467"/>
          <a:ext cx="257175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0" name="Equation" r:id="rId12" imgW="253800" imgH="177480" progId="Equation.3">
                  <p:embed/>
                </p:oleObj>
              </mc:Choice>
              <mc:Fallback>
                <p:oleObj name="Equation" r:id="rId12" imgW="253800" imgH="177480" progId="Equation.3">
                  <p:embed/>
                  <p:pic>
                    <p:nvPicPr>
                      <p:cNvPr id="71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027" y="2544467"/>
                        <a:ext cx="257175" cy="115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/>
          <p:cNvGraphicFramePr>
            <a:graphicFrameLocks noChangeAspect="1"/>
          </p:cNvGraphicFramePr>
          <p:nvPr>
            <p:extLst/>
          </p:nvPr>
        </p:nvGraphicFramePr>
        <p:xfrm>
          <a:off x="1826644" y="2746426"/>
          <a:ext cx="244475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1" name="Equation" r:id="rId14" imgW="241200" imgH="177480" progId="Equation.3">
                  <p:embed/>
                </p:oleObj>
              </mc:Choice>
              <mc:Fallback>
                <p:oleObj name="Equation" r:id="rId14" imgW="241200" imgH="177480" progId="Equation.3">
                  <p:embed/>
                  <p:pic>
                    <p:nvPicPr>
                      <p:cNvPr id="72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644" y="2746426"/>
                        <a:ext cx="244475" cy="1158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/>
          <p:cNvGraphicFramePr>
            <a:graphicFrameLocks noChangeAspect="1"/>
          </p:cNvGraphicFramePr>
          <p:nvPr>
            <p:extLst/>
          </p:nvPr>
        </p:nvGraphicFramePr>
        <p:xfrm>
          <a:off x="1826644" y="2947666"/>
          <a:ext cx="257175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2" name="Equation" r:id="rId16" imgW="253800" imgH="177480" progId="Equation.3">
                  <p:embed/>
                </p:oleObj>
              </mc:Choice>
              <mc:Fallback>
                <p:oleObj name="Equation" r:id="rId16" imgW="253800" imgH="177480" progId="Equation.3">
                  <p:embed/>
                  <p:pic>
                    <p:nvPicPr>
                      <p:cNvPr id="73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644" y="2947666"/>
                        <a:ext cx="257175" cy="1158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/>
          <p:cNvGraphicFramePr>
            <a:graphicFrameLocks noChangeAspect="1"/>
          </p:cNvGraphicFramePr>
          <p:nvPr>
            <p:extLst/>
          </p:nvPr>
        </p:nvGraphicFramePr>
        <p:xfrm>
          <a:off x="1839344" y="3177034"/>
          <a:ext cx="244475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13" name="Equation" r:id="rId18" imgW="241200" imgH="164880" progId="Equation.3">
                  <p:embed/>
                </p:oleObj>
              </mc:Choice>
              <mc:Fallback>
                <p:oleObj name="Equation" r:id="rId18" imgW="241200" imgH="164880" progId="Equation.3">
                  <p:embed/>
                  <p:pic>
                    <p:nvPicPr>
                      <p:cNvPr id="74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344" y="3177034"/>
                        <a:ext cx="244475" cy="107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862844" y="3842940"/>
            <a:ext cx="6076950" cy="1602508"/>
            <a:chOff x="1338129" y="4032472"/>
            <a:chExt cx="6076950" cy="1602508"/>
          </a:xfrm>
        </p:grpSpPr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38129" y="4149080"/>
              <a:ext cx="6076950" cy="1485900"/>
            </a:xfrm>
            <a:prstGeom prst="rect">
              <a:avLst/>
            </a:prstGeom>
          </p:spPr>
        </p:pic>
        <p:grpSp>
          <p:nvGrpSpPr>
            <p:cNvPr id="2" name="Group 1"/>
            <p:cNvGrpSpPr/>
            <p:nvPr/>
          </p:nvGrpSpPr>
          <p:grpSpPr>
            <a:xfrm>
              <a:off x="1835696" y="4032472"/>
              <a:ext cx="2658839" cy="116608"/>
              <a:chOff x="1835696" y="4032472"/>
              <a:chExt cx="2658839" cy="116608"/>
            </a:xfrm>
          </p:grpSpPr>
          <p:graphicFrame>
            <p:nvGraphicFramePr>
              <p:cNvPr id="75" name="Object 74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835696" y="4032472"/>
              <a:ext cx="282575" cy="1166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214" name="Equation" r:id="rId21" imgW="279158" imgH="177646" progId="Equation.3">
                      <p:embed/>
                    </p:oleObj>
                  </mc:Choice>
                  <mc:Fallback>
                    <p:oleObj name="Equation" r:id="rId21" imgW="279158" imgH="177646" progId="Equation.3">
                      <p:embed/>
                      <p:pic>
                        <p:nvPicPr>
                          <p:cNvPr id="75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5696" y="4032472"/>
                            <a:ext cx="282575" cy="11660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" name="Object 7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627784" y="4033193"/>
              <a:ext cx="282575" cy="115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215" name="Equation" r:id="rId22" imgW="279360" imgH="177480" progId="Equation.3">
                      <p:embed/>
                    </p:oleObj>
                  </mc:Choice>
                  <mc:Fallback>
                    <p:oleObj name="Equation" r:id="rId22" imgW="279360" imgH="177480" progId="Equation.3">
                      <p:embed/>
                      <p:pic>
                        <p:nvPicPr>
                          <p:cNvPr id="76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27784" y="4033193"/>
                            <a:ext cx="282575" cy="11588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7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419872" y="4033193"/>
              <a:ext cx="269875" cy="115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216" name="Equation" r:id="rId23" imgW="266400" imgH="177480" progId="Equation.3">
                      <p:embed/>
                    </p:oleObj>
                  </mc:Choice>
                  <mc:Fallback>
                    <p:oleObj name="Equation" r:id="rId23" imgW="266400" imgH="177480" progId="Equation.3">
                      <p:embed/>
                      <p:pic>
                        <p:nvPicPr>
                          <p:cNvPr id="77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19872" y="4033193"/>
                            <a:ext cx="269875" cy="11588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8" name="Object 7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211960" y="4033193"/>
              <a:ext cx="282575" cy="115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217" name="Equation" r:id="rId24" imgW="279360" imgH="177480" progId="Equation.3">
                      <p:embed/>
                    </p:oleObj>
                  </mc:Choice>
                  <mc:Fallback>
                    <p:oleObj name="Equation" r:id="rId24" imgW="279360" imgH="177480" progId="Equation.3">
                      <p:embed/>
                      <p:pic>
                        <p:nvPicPr>
                          <p:cNvPr id="78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1960" y="4033193"/>
                            <a:ext cx="282575" cy="11588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62844" y="5067300"/>
            <a:ext cx="4133778" cy="17907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00655" y="91895"/>
            <a:ext cx="23298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latin typeface="+mj-lt"/>
                <a:cs typeface="Times New Roman" pitchFamily="18" charset="0"/>
              </a:rPr>
              <a:t>Codage PCM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6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04699" y="91081"/>
            <a:ext cx="25158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latin typeface="+mj-lt"/>
                <a:cs typeface="Times New Roman" pitchFamily="18" charset="0"/>
              </a:rPr>
              <a:t>Codage PCM  </a:t>
            </a:r>
          </a:p>
        </p:txBody>
      </p:sp>
      <p:sp>
        <p:nvSpPr>
          <p:cNvPr id="2" name="Rectangle 1"/>
          <p:cNvSpPr/>
          <p:nvPr/>
        </p:nvSpPr>
        <p:spPr>
          <a:xfrm>
            <a:off x="1452295" y="2992621"/>
            <a:ext cx="198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u="sng" dirty="0">
                <a:solidFill>
                  <a:srgbClr val="0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Débit binaire  </a:t>
            </a:r>
            <a:endParaRPr lang="fr-FR" sz="2400" dirty="0">
              <a:ea typeface="SimSun" panose="02010600030101010101" pitchFamily="2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183843"/>
              </p:ext>
            </p:extLst>
          </p:nvPr>
        </p:nvGraphicFramePr>
        <p:xfrm>
          <a:off x="5022648" y="3076521"/>
          <a:ext cx="1297868" cy="494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0" name="Equation" r:id="rId3" imgW="482391" imgH="228501" progId="Equation.3">
                  <p:embed/>
                </p:oleObj>
              </mc:Choice>
              <mc:Fallback>
                <p:oleObj name="Equation" r:id="rId3" imgW="482391" imgH="228501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648" y="3076521"/>
                        <a:ext cx="1297868" cy="494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366762" y="2371019"/>
            <a:ext cx="2271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u="sng" dirty="0">
                <a:solidFill>
                  <a:srgbClr val="0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Bande passante </a:t>
            </a:r>
            <a:endParaRPr lang="fr-FR" sz="2400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316477"/>
              </p:ext>
            </p:extLst>
          </p:nvPr>
        </p:nvGraphicFramePr>
        <p:xfrm>
          <a:off x="5052138" y="2362264"/>
          <a:ext cx="1770937" cy="402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1" name="Equation" r:id="rId5" imgW="609480" imgH="177480" progId="Equation.3">
                  <p:embed/>
                </p:oleObj>
              </mc:Choice>
              <mc:Fallback>
                <p:oleObj name="Equation" r:id="rId5" imgW="609480" imgH="17748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2138" y="2362264"/>
                        <a:ext cx="1770937" cy="4026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730001" y="1678101"/>
            <a:ext cx="485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400" dirty="0">
                <a:ea typeface="SimSun" panose="02010600030101010101" pitchFamily="2" charset="-122"/>
                <a:cs typeface="Times New Roman" panose="02020603050405020304" pitchFamily="18" charset="0"/>
              </a:rPr>
              <a:t>Bande passante du signal analogique </a:t>
            </a:r>
            <a:endParaRPr lang="fr-FR" altLang="zh-CN" sz="2400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825891"/>
              </p:ext>
            </p:extLst>
          </p:nvPr>
        </p:nvGraphicFramePr>
        <p:xfrm>
          <a:off x="2129285" y="1748062"/>
          <a:ext cx="406324" cy="357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2" name="Equation" r:id="rId7" imgW="177492" imgH="177492" progId="Equation.3">
                  <p:embed/>
                </p:oleObj>
              </mc:Choice>
              <mc:Fallback>
                <p:oleObj name="Equation" r:id="rId7" imgW="177492" imgH="177492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285" y="1748062"/>
                        <a:ext cx="406324" cy="3575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330109" y="3859861"/>
            <a:ext cx="1314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400" u="sng" dirty="0">
                <a:ea typeface="SimSun" panose="02010600030101010101" pitchFamily="2" charset="-122"/>
                <a:cs typeface="Times New Roman" panose="02020603050405020304" pitchFamily="18" charset="0"/>
              </a:rPr>
              <a:t>Exemple </a:t>
            </a:r>
            <a:endParaRPr lang="fr-FR" altLang="zh-CN" sz="2400" u="sng" dirty="0"/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1936212" y="3849191"/>
            <a:ext cx="17020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400" dirty="0">
                <a:ea typeface="SimSun" panose="02010600030101010101" pitchFamily="2" charset="-122"/>
                <a:cs typeface="Times New Roman" panose="02020603050405020304" pitchFamily="18" charset="0"/>
              </a:rPr>
              <a:t>Signal vocal </a:t>
            </a:r>
            <a:endParaRPr lang="fr-FR" altLang="zh-CN" sz="2400" dirty="0"/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578504"/>
              </p:ext>
            </p:extLst>
          </p:nvPr>
        </p:nvGraphicFramePr>
        <p:xfrm>
          <a:off x="4011177" y="3924791"/>
          <a:ext cx="1582527" cy="376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3" name="Equation" r:id="rId9" imgW="660240" imgH="177480" progId="Equation.3">
                  <p:embed/>
                </p:oleObj>
              </mc:Choice>
              <mc:Fallback>
                <p:oleObj name="Equation" r:id="rId9" imgW="660240" imgH="177480" progId="Equation.3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177" y="3924791"/>
                        <a:ext cx="1582527" cy="376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6379497" y="3808170"/>
            <a:ext cx="9062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400" dirty="0">
                <a:ea typeface="SimSun" panose="02010600030101010101" pitchFamily="2" charset="-122"/>
                <a:cs typeface="Times New Roman" panose="02020603050405020304" pitchFamily="18" charset="0"/>
              </a:rPr>
              <a:t>Pour  </a:t>
            </a:r>
            <a:endParaRPr lang="fr-FR" altLang="zh-CN" sz="2400" dirty="0"/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591889"/>
              </p:ext>
            </p:extLst>
          </p:nvPr>
        </p:nvGraphicFramePr>
        <p:xfrm>
          <a:off x="7587221" y="3830791"/>
          <a:ext cx="934343" cy="39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4" name="Equation" r:id="rId11" imgW="342720" imgH="177480" progId="Equation.3">
                  <p:embed/>
                </p:oleObj>
              </mc:Choice>
              <mc:Fallback>
                <p:oleObj name="Equation" r:id="rId11" imgW="342720" imgH="177480" progId="Equation.3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221" y="3830791"/>
                        <a:ext cx="934343" cy="3954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58731"/>
              </p:ext>
            </p:extLst>
          </p:nvPr>
        </p:nvGraphicFramePr>
        <p:xfrm>
          <a:off x="2216481" y="4602004"/>
          <a:ext cx="1794696" cy="375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5" name="Equation" r:id="rId13" imgW="698400" imgH="177480" progId="Equation.3">
                  <p:embed/>
                </p:oleObj>
              </mc:Choice>
              <mc:Fallback>
                <p:oleObj name="Equation" r:id="rId13" imgW="698400" imgH="177480" progId="Equation.3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481" y="4602004"/>
                        <a:ext cx="1794696" cy="3750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987436" y="5279348"/>
            <a:ext cx="5032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400" dirty="0">
                <a:ea typeface="SimSun" panose="02010600030101010101" pitchFamily="2" charset="-122"/>
                <a:cs typeface="Times New Roman" panose="02020603050405020304" pitchFamily="18" charset="0"/>
              </a:rPr>
              <a:t>Et </a:t>
            </a:r>
            <a:endParaRPr lang="fr-FR" altLang="zh-CN" sz="2400" dirty="0"/>
          </a:p>
        </p:txBody>
      </p:sp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956715"/>
              </p:ext>
            </p:extLst>
          </p:nvPr>
        </p:nvGraphicFramePr>
        <p:xfrm>
          <a:off x="6379497" y="5269565"/>
          <a:ext cx="2201704" cy="369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6" name="Equation" r:id="rId15" imgW="850680" imgH="177480" progId="Equation.3">
                  <p:embed/>
                </p:oleObj>
              </mc:Choice>
              <mc:Fallback>
                <p:oleObj name="Equation" r:id="rId15" imgW="850680" imgH="177480" progId="Equation.3">
                  <p:embed/>
                  <p:pic>
                    <p:nvPicPr>
                      <p:cNvPr id="3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497" y="5269565"/>
                        <a:ext cx="2201704" cy="3696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571240"/>
              </p:ext>
            </p:extLst>
          </p:nvPr>
        </p:nvGraphicFramePr>
        <p:xfrm>
          <a:off x="2186616" y="5296953"/>
          <a:ext cx="1421800" cy="480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7" name="Equation" r:id="rId17" imgW="545760" imgH="228600" progId="Equation.3">
                  <p:embed/>
                </p:oleObj>
              </mc:Choice>
              <mc:Fallback>
                <p:oleObj name="Equation" r:id="rId17" imgW="545760" imgH="2286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616" y="5296953"/>
                        <a:ext cx="1421800" cy="4801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4753899" y="5247476"/>
            <a:ext cx="8963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2400" dirty="0">
                <a:ea typeface="SimSun" panose="02010600030101010101" pitchFamily="2" charset="-122"/>
                <a:cs typeface="Times New Roman" panose="02020603050405020304" pitchFamily="18" charset="0"/>
              </a:rPr>
              <a:t>Donc </a:t>
            </a:r>
            <a:endParaRPr lang="fr-FR" altLang="zh-CN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15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3772" y="936310"/>
            <a:ext cx="2205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latin typeface="+mj-lt"/>
                <a:cs typeface="Times New Roman" pitchFamily="18" charset="0"/>
              </a:rPr>
              <a:t>Débit binaire </a:t>
            </a:r>
            <a:endParaRPr lang="fr-FR" sz="2800" b="1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58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7" grpId="0"/>
      <p:bldP spid="10" grpId="0"/>
      <p:bldP spid="27" grpId="0"/>
      <p:bldP spid="28" grpId="0"/>
      <p:bldP spid="30" grpId="0"/>
      <p:bldP spid="33" grpId="0"/>
      <p:bldP spid="19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647728" y="117121"/>
            <a:ext cx="27945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latin typeface="+mj-lt"/>
                <a:ea typeface="Times New Roman" pitchFamily="18" charset="0"/>
                <a:cs typeface="Times New Roman" pitchFamily="18" charset="0"/>
              </a:rPr>
              <a:t>Compression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14</a:t>
            </a:r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3196" y="785714"/>
            <a:ext cx="2861231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fr-FR" sz="2800" b="1" dirty="0" smtClean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Modulation delta </a:t>
            </a:r>
            <a:endParaRPr lang="fr-FR" sz="2800" b="1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7070" y="1719524"/>
            <a:ext cx="113772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rgbClr val="0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Le </a:t>
            </a:r>
            <a:r>
              <a:rPr lang="fr-FR" sz="2400" dirty="0">
                <a:solidFill>
                  <a:srgbClr val="0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signal entrant est volontairement échantillonné à un rythme bien supérieur au rythme de Shannon</a:t>
            </a:r>
            <a:endParaRPr lang="fr-FR" sz="2400" dirty="0"/>
          </a:p>
        </p:txBody>
      </p:sp>
      <p:sp>
        <p:nvSpPr>
          <p:cNvPr id="3" name="Rectangle 2"/>
          <p:cNvSpPr/>
          <p:nvPr/>
        </p:nvSpPr>
        <p:spPr>
          <a:xfrm>
            <a:off x="240904" y="2469919"/>
            <a:ext cx="9145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400" dirty="0" smtClean="0">
                <a:solidFill>
                  <a:srgbClr val="000000"/>
                </a:solidFill>
                <a:ea typeface="SimSun" panose="02010600030101010101" pitchFamily="2" charset="-122"/>
              </a:rPr>
              <a:t>De ce fait, les échantillons successifs obtenus sont fortement corrélés.</a:t>
            </a:r>
            <a:endParaRPr lang="fr-FR" sz="2400" b="1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0904" y="3242945"/>
            <a:ext cx="91450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0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Le débit à` transmettre est donc égal à la fréquence d’échantillonnage</a:t>
            </a:r>
            <a:r>
              <a:rPr lang="fr-FR" sz="2400" dirty="0" smtClean="0">
                <a:solidFill>
                  <a:srgbClr val="0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240904" y="3831306"/>
            <a:ext cx="10801200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La modulation delta (DM) est une technique dans laquelle un signal message est transformé en </a:t>
            </a:r>
            <a:r>
              <a:rPr lang="fr-FR" sz="24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une </a:t>
            </a:r>
            <a:r>
              <a:rPr lang="fr-F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séquence de symbole binaire.</a:t>
            </a:r>
            <a:endParaRPr lang="fr-FR" sz="2400" b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8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/>
      <p:bldP spid="9" grpId="0"/>
      <p:bldP spid="2" grpId="0"/>
      <p:bldP spid="3" grpId="0"/>
      <p:bldP spid="4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615484" y="139849"/>
            <a:ext cx="27945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latin typeface="+mj-lt"/>
                <a:ea typeface="Times New Roman" pitchFamily="18" charset="0"/>
                <a:cs typeface="Times New Roman" pitchFamily="18" charset="0"/>
              </a:rPr>
              <a:t>Compression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15</a:t>
            </a:r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110" y="839359"/>
            <a:ext cx="2861231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fr-FR" sz="2800" b="1" dirty="0" smtClean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Modulation delta </a:t>
            </a:r>
            <a:endParaRPr lang="fr-FR" sz="2800" b="1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184842" y="2982913"/>
            <a:ext cx="528955" cy="29464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endParaRPr lang="fr-FR" sz="100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8375332" y="2946718"/>
            <a:ext cx="631825" cy="32893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 upright="1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endParaRPr lang="fr-FR" sz="100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8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288477"/>
              </p:ext>
            </p:extLst>
          </p:nvPr>
        </p:nvGraphicFramePr>
        <p:xfrm>
          <a:off x="1949109" y="5702046"/>
          <a:ext cx="168275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6" name="Equation" r:id="rId4" imgW="1130040" imgH="228600" progId="Equation.3">
                  <p:embed/>
                </p:oleObj>
              </mc:Choice>
              <mc:Fallback>
                <p:oleObj name="Equation" r:id="rId4" imgW="1130040" imgH="228600" progId="Equation.3">
                  <p:embed/>
                  <p:pic>
                    <p:nvPicPr>
                      <p:cNvPr id="43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109" y="5702046"/>
                        <a:ext cx="1682750" cy="341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320593"/>
              </p:ext>
            </p:extLst>
          </p:nvPr>
        </p:nvGraphicFramePr>
        <p:xfrm>
          <a:off x="5961216" y="5565329"/>
          <a:ext cx="1862731" cy="639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7" name="Equation" r:id="rId6" imgW="1257120" imgH="431640" progId="Equation.3">
                  <p:embed/>
                </p:oleObj>
              </mc:Choice>
              <mc:Fallback>
                <p:oleObj name="Equation" r:id="rId6" imgW="1257120" imgH="431640" progId="Equation.3">
                  <p:embed/>
                  <p:pic>
                    <p:nvPicPr>
                      <p:cNvPr id="2048" name="Object 2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216" y="5565329"/>
                        <a:ext cx="1862731" cy="63972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3" name="Group 2062"/>
          <p:cNvGrpSpPr/>
          <p:nvPr/>
        </p:nvGrpSpPr>
        <p:grpSpPr>
          <a:xfrm>
            <a:off x="2102363" y="1729204"/>
            <a:ext cx="6272969" cy="3572004"/>
            <a:chOff x="2135560" y="1818474"/>
            <a:chExt cx="6272969" cy="3572004"/>
          </a:xfrm>
        </p:grpSpPr>
        <p:grpSp>
          <p:nvGrpSpPr>
            <p:cNvPr id="2060" name="Group 2059"/>
            <p:cNvGrpSpPr/>
            <p:nvPr/>
          </p:nvGrpSpPr>
          <p:grpSpPr>
            <a:xfrm>
              <a:off x="2135560" y="1818474"/>
              <a:ext cx="6272969" cy="3572004"/>
              <a:chOff x="2141987" y="1748563"/>
              <a:chExt cx="6272969" cy="3572004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2141987" y="1748563"/>
                <a:ext cx="6272969" cy="3572004"/>
                <a:chOff x="2783175" y="1654374"/>
                <a:chExt cx="6272969" cy="3572004"/>
              </a:xfrm>
            </p:grpSpPr>
            <p:sp>
              <p:nvSpPr>
                <p:cNvPr id="14" name="Rectangle 13"/>
                <p:cNvSpPr>
                  <a:spLocks noChangeArrowheads="1"/>
                </p:cNvSpPr>
                <p:nvPr/>
              </p:nvSpPr>
              <p:spPr bwMode="auto">
                <a:xfrm>
                  <a:off x="5307067" y="3944398"/>
                  <a:ext cx="2197434" cy="33979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0"/>
                    </a:spcAft>
                  </a:pPr>
                  <a:r>
                    <a:rPr lang="fr-FR" sz="16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Modulateur d’impulsion</a:t>
                  </a:r>
                  <a:endParaRPr lang="fr-F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79" name="Group 2078"/>
                <p:cNvGrpSpPr/>
                <p:nvPr/>
              </p:nvGrpSpPr>
              <p:grpSpPr>
                <a:xfrm>
                  <a:off x="2783175" y="1654374"/>
                  <a:ext cx="6272969" cy="3572004"/>
                  <a:chOff x="2778846" y="1654375"/>
                  <a:chExt cx="6272969" cy="3572004"/>
                </a:xfrm>
              </p:grpSpPr>
              <p:grpSp>
                <p:nvGrpSpPr>
                  <p:cNvPr id="2078" name="Group 2077"/>
                  <p:cNvGrpSpPr/>
                  <p:nvPr/>
                </p:nvGrpSpPr>
                <p:grpSpPr>
                  <a:xfrm>
                    <a:off x="3689667" y="3001328"/>
                    <a:ext cx="763905" cy="817880"/>
                    <a:chOff x="3689667" y="3001328"/>
                    <a:chExt cx="763905" cy="817880"/>
                  </a:xfrm>
                </p:grpSpPr>
                <p:sp>
                  <p:nvSpPr>
                    <p:cNvPr id="16" name="Text Box 79"/>
                    <p:cNvSpPr txBox="1"/>
                    <p:nvPr/>
                  </p:nvSpPr>
                  <p:spPr>
                    <a:xfrm>
                      <a:off x="3689667" y="3001328"/>
                      <a:ext cx="211455" cy="270510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+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" name="Text Box 85"/>
                    <p:cNvSpPr txBox="1"/>
                    <p:nvPr/>
                  </p:nvSpPr>
                  <p:spPr>
                    <a:xfrm>
                      <a:off x="4242117" y="3548698"/>
                      <a:ext cx="211455" cy="27051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077" name="Group 2076"/>
                  <p:cNvGrpSpPr/>
                  <p:nvPr/>
                </p:nvGrpSpPr>
                <p:grpSpPr>
                  <a:xfrm>
                    <a:off x="2778846" y="1654375"/>
                    <a:ext cx="6272969" cy="3572004"/>
                    <a:chOff x="2778846" y="1654375"/>
                    <a:chExt cx="6272969" cy="3572004"/>
                  </a:xfrm>
                </p:grpSpPr>
                <p:grpSp>
                  <p:nvGrpSpPr>
                    <p:cNvPr id="2076" name="Group 2075"/>
                    <p:cNvGrpSpPr/>
                    <p:nvPr/>
                  </p:nvGrpSpPr>
                  <p:grpSpPr>
                    <a:xfrm>
                      <a:off x="2778846" y="2536349"/>
                      <a:ext cx="5996531" cy="1897942"/>
                      <a:chOff x="2778846" y="2536349"/>
                      <a:chExt cx="5996531" cy="1897942"/>
                    </a:xfrm>
                  </p:grpSpPr>
                  <p:grpSp>
                    <p:nvGrpSpPr>
                      <p:cNvPr id="7" name="Group 6"/>
                      <p:cNvGrpSpPr/>
                      <p:nvPr/>
                    </p:nvGrpSpPr>
                    <p:grpSpPr>
                      <a:xfrm>
                        <a:off x="5039996" y="2536349"/>
                        <a:ext cx="2592070" cy="1897942"/>
                        <a:chOff x="5147613" y="2536349"/>
                        <a:chExt cx="2592070" cy="1897942"/>
                      </a:xfrm>
                    </p:grpSpPr>
                    <p:cxnSp>
                      <p:nvCxnSpPr>
                        <p:cNvPr id="15" name="Straight Connector 14"/>
                        <p:cNvCxnSpPr/>
                        <p:nvPr/>
                      </p:nvCxnSpPr>
                      <p:spPr>
                        <a:xfrm flipV="1">
                          <a:off x="5147613" y="2536349"/>
                          <a:ext cx="2592070" cy="0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4F81BD">
                              <a:shade val="95000"/>
                              <a:satMod val="105000"/>
                            </a:srgbClr>
                          </a:solidFill>
                          <a:prstDash val="dash"/>
                        </a:ln>
                        <a:effectLst/>
                      </p:spPr>
                    </p:cxnSp>
                    <p:grpSp>
                      <p:nvGrpSpPr>
                        <p:cNvPr id="5" name="Group 4"/>
                        <p:cNvGrpSpPr/>
                        <p:nvPr/>
                      </p:nvGrpSpPr>
                      <p:grpSpPr>
                        <a:xfrm>
                          <a:off x="5147613" y="2536349"/>
                          <a:ext cx="2592070" cy="1897942"/>
                          <a:chOff x="6089015" y="2482691"/>
                          <a:chExt cx="2592070" cy="1897942"/>
                        </a:xfrm>
                      </p:grpSpPr>
                      <p:cxnSp>
                        <p:nvCxnSpPr>
                          <p:cNvPr id="33" name="Straight Connector 32"/>
                          <p:cNvCxnSpPr/>
                          <p:nvPr/>
                        </p:nvCxnSpPr>
                        <p:spPr>
                          <a:xfrm>
                            <a:off x="6089015" y="2482691"/>
                            <a:ext cx="0" cy="1897942"/>
                          </a:xfrm>
                          <a:prstGeom prst="line">
                            <a:avLst/>
                          </a:prstGeom>
                          <a:noFill/>
                          <a:ln w="9525" cap="flat" cmpd="sng" algn="ctr">
                            <a:solidFill>
                              <a:srgbClr val="4F81BD">
                                <a:shade val="95000"/>
                                <a:satMod val="105000"/>
                              </a:srgbClr>
                            </a:solidFill>
                            <a:prstDash val="dash"/>
                          </a:ln>
                          <a:effectLst/>
                        </p:spPr>
                      </p:cxnSp>
                      <p:cxnSp>
                        <p:nvCxnSpPr>
                          <p:cNvPr id="34" name="Straight Connector 33"/>
                          <p:cNvCxnSpPr/>
                          <p:nvPr/>
                        </p:nvCxnSpPr>
                        <p:spPr>
                          <a:xfrm>
                            <a:off x="8681085" y="2482691"/>
                            <a:ext cx="0" cy="1897942"/>
                          </a:xfrm>
                          <a:prstGeom prst="line">
                            <a:avLst/>
                          </a:prstGeom>
                          <a:noFill/>
                          <a:ln w="9525" cap="flat" cmpd="sng" algn="ctr">
                            <a:solidFill>
                              <a:srgbClr val="4F81BD">
                                <a:shade val="95000"/>
                                <a:satMod val="105000"/>
                              </a:srgbClr>
                            </a:solidFill>
                            <a:prstDash val="dash"/>
                          </a:ln>
                          <a:effectLst/>
                        </p:spPr>
                      </p:cxnSp>
                      <p:cxnSp>
                        <p:nvCxnSpPr>
                          <p:cNvPr id="35" name="Straight Connector 34"/>
                          <p:cNvCxnSpPr/>
                          <p:nvPr/>
                        </p:nvCxnSpPr>
                        <p:spPr>
                          <a:xfrm>
                            <a:off x="6093572" y="4380633"/>
                            <a:ext cx="2587513" cy="0"/>
                          </a:xfrm>
                          <a:prstGeom prst="line">
                            <a:avLst/>
                          </a:prstGeom>
                          <a:noFill/>
                          <a:ln w="9525" cap="flat" cmpd="sng" algn="ctr">
                            <a:solidFill>
                              <a:srgbClr val="4F81BD">
                                <a:shade val="95000"/>
                                <a:satMod val="105000"/>
                              </a:srgbClr>
                            </a:solidFill>
                            <a:prstDash val="dash"/>
                          </a:ln>
                          <a:effectLst/>
                        </p:spPr>
                      </p:cxnSp>
                    </p:grpSp>
                  </p:grpSp>
                  <p:graphicFrame>
                    <p:nvGraphicFramePr>
                      <p:cNvPr id="41" name="Object 40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467502790"/>
                          </p:ext>
                        </p:extLst>
                      </p:nvPr>
                    </p:nvGraphicFramePr>
                    <p:xfrm>
                      <a:off x="3498926" y="3544822"/>
                      <a:ext cx="499096" cy="320848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28118" name="Equation" r:id="rId8" imgW="355320" imgH="228600" progId="Equation.3">
                              <p:embed/>
                            </p:oleObj>
                          </mc:Choice>
                          <mc:Fallback>
                            <p:oleObj name="Equation" r:id="rId8" imgW="355320" imgH="228600" progId="Equation.3">
                              <p:embed/>
                              <p:pic>
                                <p:nvPicPr>
                                  <p:cNvPr id="2048" name="Object 2047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9"/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498926" y="3544822"/>
                                    <a:ext cx="499096" cy="320848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/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42" name="Object 41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710908230"/>
                          </p:ext>
                        </p:extLst>
                      </p:nvPr>
                    </p:nvGraphicFramePr>
                    <p:xfrm>
                      <a:off x="2778846" y="2950320"/>
                      <a:ext cx="472465" cy="334663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28119" name="Equation" r:id="rId10" imgW="304560" imgH="215640" progId="Equation.3">
                              <p:embed/>
                            </p:oleObj>
                          </mc:Choice>
                          <mc:Fallback>
                            <p:oleObj name="Equation" r:id="rId10" imgW="304560" imgH="215640" progId="Equation.3">
                              <p:embed/>
                              <p:pic>
                                <p:nvPicPr>
                                  <p:cNvPr id="41" name="Object 40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11"/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2778846" y="2950320"/>
                                    <a:ext cx="472465" cy="334663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/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43" name="Object 42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50750777"/>
                          </p:ext>
                        </p:extLst>
                      </p:nvPr>
                    </p:nvGraphicFramePr>
                    <p:xfrm>
                      <a:off x="4427491" y="2817904"/>
                      <a:ext cx="416928" cy="322171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28120" name="Equation" r:id="rId12" imgW="279360" imgH="215640" progId="Equation.3">
                              <p:embed/>
                            </p:oleObj>
                          </mc:Choice>
                          <mc:Fallback>
                            <p:oleObj name="Equation" r:id="rId12" imgW="279360" imgH="215640" progId="Equation.3">
                              <p:embed/>
                              <p:pic>
                                <p:nvPicPr>
                                  <p:cNvPr id="42" name="Object 41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13"/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4427491" y="2817904"/>
                                    <a:ext cx="416928" cy="32217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/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44" name="Object 43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926517241"/>
                          </p:ext>
                        </p:extLst>
                      </p:nvPr>
                    </p:nvGraphicFramePr>
                    <p:xfrm>
                      <a:off x="8273380" y="2950320"/>
                      <a:ext cx="501997" cy="334664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128121" name="Equation" r:id="rId14" imgW="342720" imgH="228600" progId="Equation.3">
                              <p:embed/>
                            </p:oleObj>
                          </mc:Choice>
                          <mc:Fallback>
                            <p:oleObj name="Equation" r:id="rId14" imgW="342720" imgH="228600" progId="Equation.3">
                              <p:embed/>
                              <p:pic>
                                <p:nvPicPr>
                                  <p:cNvPr id="41" name="Object 40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15"/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8273380" y="2950320"/>
                                    <a:ext cx="501997" cy="33466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/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2075" name="Group 2074"/>
                    <p:cNvGrpSpPr/>
                    <p:nvPr/>
                  </p:nvGrpSpPr>
                  <p:grpSpPr>
                    <a:xfrm>
                      <a:off x="2928378" y="1654375"/>
                      <a:ext cx="6123437" cy="3572004"/>
                      <a:chOff x="2928378" y="1654375"/>
                      <a:chExt cx="6123437" cy="3572004"/>
                    </a:xfrm>
                  </p:grpSpPr>
                  <p:grpSp>
                    <p:nvGrpSpPr>
                      <p:cNvPr id="2074" name="Group 2073"/>
                      <p:cNvGrpSpPr/>
                      <p:nvPr/>
                    </p:nvGrpSpPr>
                    <p:grpSpPr>
                      <a:xfrm>
                        <a:off x="6386059" y="1654375"/>
                        <a:ext cx="1392682" cy="1487288"/>
                        <a:chOff x="6386059" y="1654375"/>
                        <a:chExt cx="1392682" cy="1487288"/>
                      </a:xfrm>
                    </p:grpSpPr>
                    <p:sp>
                      <p:nvSpPr>
                        <p:cNvPr id="12" name="Rectangle 1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386059" y="1654375"/>
                          <a:ext cx="1392682" cy="621241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1600" dirty="0"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Générateur d’impulsion  </a:t>
                          </a:r>
                        </a:p>
                      </p:txBody>
                    </p:sp>
                    <p:cxnSp>
                      <p:nvCxnSpPr>
                        <p:cNvPr id="13" name="Straight Arrow Connector 12"/>
                        <p:cNvCxnSpPr>
                          <a:stCxn id="12" idx="2"/>
                          <a:endCxn id="30" idx="0"/>
                        </p:cNvCxnSpPr>
                        <p:nvPr/>
                      </p:nvCxnSpPr>
                      <p:spPr>
                        <a:xfrm>
                          <a:off x="7082400" y="2275616"/>
                          <a:ext cx="9170" cy="866047"/>
                        </a:xfrm>
                        <a:prstGeom prst="straightConnector1">
                          <a:avLst/>
                        </a:prstGeom>
                        <a:ln w="12700"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073" name="Group 2072"/>
                      <p:cNvGrpSpPr/>
                      <p:nvPr/>
                    </p:nvGrpSpPr>
                    <p:grpSpPr>
                      <a:xfrm>
                        <a:off x="2928378" y="2760049"/>
                        <a:ext cx="6123437" cy="1170186"/>
                        <a:chOff x="2928378" y="2760049"/>
                        <a:chExt cx="6123437" cy="1170186"/>
                      </a:xfrm>
                    </p:grpSpPr>
                    <p:sp>
                      <p:nvSpPr>
                        <p:cNvPr id="10" name="Rectangle 7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03198" y="2760049"/>
                          <a:ext cx="1380124" cy="1170186"/>
                        </a:xfrm>
                        <a:custGeom>
                          <a:avLst/>
                          <a:gdLst>
                            <a:gd name="connsiteX0" fmla="*/ 0 w 1292195"/>
                            <a:gd name="connsiteY0" fmla="*/ 0 h 877294"/>
                            <a:gd name="connsiteX1" fmla="*/ 1292195 w 1292195"/>
                            <a:gd name="connsiteY1" fmla="*/ 0 h 877294"/>
                            <a:gd name="connsiteX2" fmla="*/ 1292195 w 1292195"/>
                            <a:gd name="connsiteY2" fmla="*/ 877294 h 877294"/>
                            <a:gd name="connsiteX3" fmla="*/ 0 w 1292195"/>
                            <a:gd name="connsiteY3" fmla="*/ 877294 h 877294"/>
                            <a:gd name="connsiteX4" fmla="*/ 0 w 1292195"/>
                            <a:gd name="connsiteY4" fmla="*/ 0 h 877294"/>
                            <a:gd name="connsiteX0" fmla="*/ 0 w 1292195"/>
                            <a:gd name="connsiteY0" fmla="*/ 0 h 877294"/>
                            <a:gd name="connsiteX1" fmla="*/ 1292195 w 1292195"/>
                            <a:gd name="connsiteY1" fmla="*/ 7200 h 877294"/>
                            <a:gd name="connsiteX2" fmla="*/ 1292195 w 1292195"/>
                            <a:gd name="connsiteY2" fmla="*/ 877294 h 877294"/>
                            <a:gd name="connsiteX3" fmla="*/ 0 w 1292195"/>
                            <a:gd name="connsiteY3" fmla="*/ 877294 h 877294"/>
                            <a:gd name="connsiteX4" fmla="*/ 0 w 1292195"/>
                            <a:gd name="connsiteY4" fmla="*/ 0 h 87729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292195" h="877294">
                              <a:moveTo>
                                <a:pt x="0" y="0"/>
                              </a:moveTo>
                              <a:lnTo>
                                <a:pt x="1292195" y="7200"/>
                              </a:lnTo>
                              <a:lnTo>
                                <a:pt x="1292195" y="877294"/>
                              </a:lnTo>
                              <a:lnTo>
                                <a:pt x="0" y="877294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1600" dirty="0"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Limiteur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1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       </a:t>
                          </a:r>
                          <a:r>
                            <a:rPr lang="fr-FR" sz="10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fr-FR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1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         </a:t>
                          </a:r>
                          <a:endParaRPr lang="fr-FR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1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       </a:t>
                          </a:r>
                          <a:endParaRPr lang="fr-FR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fr-FR" sz="11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grpSp>
                      <p:nvGrpSpPr>
                        <p:cNvPr id="2071" name="Group 2070"/>
                        <p:cNvGrpSpPr/>
                        <p:nvPr/>
                      </p:nvGrpSpPr>
                      <p:grpSpPr>
                        <a:xfrm>
                          <a:off x="2928378" y="3140075"/>
                          <a:ext cx="6123437" cy="416878"/>
                          <a:chOff x="2928378" y="3140075"/>
                          <a:chExt cx="6123437" cy="416878"/>
                        </a:xfrm>
                      </p:grpSpPr>
                      <p:sp>
                        <p:nvSpPr>
                          <p:cNvPr id="20" name="Oval 19"/>
                          <p:cNvSpPr/>
                          <p:nvPr/>
                        </p:nvSpPr>
                        <p:spPr>
                          <a:xfrm>
                            <a:off x="3977957" y="3140075"/>
                            <a:ext cx="453390" cy="413703"/>
                          </a:xfrm>
                          <a:prstGeom prst="ellipse">
                            <a:avLst/>
                          </a:prstGeom>
                          <a:noFill/>
                          <a:ln w="19050"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ot="0" spcFirstLastPara="0" vert="horz" wrap="non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fr-FR" sz="1600">
                                <a:solidFill>
                                  <a:srgbClr val="000000"/>
                                </a:solidFill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a:t>Σ</a:t>
                            </a:r>
                            <a:endParaRPr lang="fr-FR" sz="1100"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0" name="Oval 29"/>
                          <p:cNvSpPr/>
                          <p:nvPr/>
                        </p:nvSpPr>
                        <p:spPr>
                          <a:xfrm>
                            <a:off x="6857890" y="3141663"/>
                            <a:ext cx="467360" cy="415290"/>
                          </a:xfrm>
                          <a:prstGeom prst="ellipse">
                            <a:avLst/>
                          </a:prstGeom>
                          <a:noFill/>
                          <a:ln w="19050" cap="flat" cmpd="sng" algn="ctr">
                            <a:solidFill>
                              <a:srgbClr val="4F81BD">
                                <a:shade val="50000"/>
                              </a:srgbClr>
                            </a:solidFill>
                            <a:prstDash val="solid"/>
                          </a:ln>
                          <a:effectLst/>
                        </p:spPr>
                        <p:txBody>
                          <a:bodyPr rot="0" spcFirstLastPara="0" vert="horz" wrap="non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fr-FR" sz="1400">
                                <a:solidFill>
                                  <a:srgbClr val="000000"/>
                                </a:solidFill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a:t>X</a:t>
                            </a:r>
                            <a:endParaRPr lang="fr-FR" sz="11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grpSp>
                        <p:nvGrpSpPr>
                          <p:cNvPr id="2056" name="Group 2055"/>
                          <p:cNvGrpSpPr/>
                          <p:nvPr/>
                        </p:nvGrpSpPr>
                        <p:grpSpPr>
                          <a:xfrm>
                            <a:off x="2928378" y="3346927"/>
                            <a:ext cx="6123437" cy="16565"/>
                            <a:chOff x="2928378" y="3346927"/>
                            <a:chExt cx="6123437" cy="16565"/>
                          </a:xfrm>
                        </p:grpSpPr>
                        <p:cxnSp>
                          <p:nvCxnSpPr>
                            <p:cNvPr id="21" name="Straight Arrow Connector 20"/>
                            <p:cNvCxnSpPr>
                              <a:stCxn id="20" idx="6"/>
                            </p:cNvCxnSpPr>
                            <p:nvPr/>
                          </p:nvCxnSpPr>
                          <p:spPr>
                            <a:xfrm>
                              <a:off x="4431347" y="3346927"/>
                              <a:ext cx="794422" cy="7244"/>
                            </a:xfrm>
                            <a:prstGeom prst="straightConnector1">
                              <a:avLst/>
                            </a:prstGeom>
                            <a:noFill/>
                            <a:ln w="12700" cap="flat" cmpd="sng" algn="ctr">
                              <a:solidFill>
                                <a:srgbClr val="4F81BD">
                                  <a:shade val="95000"/>
                                  <a:satMod val="105000"/>
                                </a:srgbClr>
                              </a:solidFill>
                              <a:prstDash val="solid"/>
                              <a:tailEnd type="triangle"/>
                            </a:ln>
                            <a:effectLst/>
                          </p:spPr>
                        </p:cxnSp>
                        <p:cxnSp>
                          <p:nvCxnSpPr>
                            <p:cNvPr id="22" name="Straight Arrow Connector 21"/>
                            <p:cNvCxnSpPr>
                              <a:endCxn id="20" idx="2"/>
                            </p:cNvCxnSpPr>
                            <p:nvPr/>
                          </p:nvCxnSpPr>
                          <p:spPr>
                            <a:xfrm flipV="1">
                              <a:off x="2928378" y="3346927"/>
                              <a:ext cx="1049579" cy="16565"/>
                            </a:xfrm>
                            <a:prstGeom prst="straightConnector1">
                              <a:avLst/>
                            </a:prstGeom>
                            <a:ln w="12700"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1" name="Straight Arrow Connector 30"/>
                            <p:cNvCxnSpPr>
                              <a:stCxn id="30" idx="6"/>
                            </p:cNvCxnSpPr>
                            <p:nvPr/>
                          </p:nvCxnSpPr>
                          <p:spPr>
                            <a:xfrm>
                              <a:off x="7325250" y="3349308"/>
                              <a:ext cx="1726565" cy="0"/>
                            </a:xfrm>
                            <a:prstGeom prst="straightConnector1">
                              <a:avLst/>
                            </a:prstGeom>
                            <a:ln w="12700"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2" name="Straight Arrow Connector 31"/>
                            <p:cNvCxnSpPr>
                              <a:endCxn id="30" idx="2"/>
                            </p:cNvCxnSpPr>
                            <p:nvPr/>
                          </p:nvCxnSpPr>
                          <p:spPr>
                            <a:xfrm flipV="1">
                              <a:off x="6565470" y="3349308"/>
                              <a:ext cx="292420" cy="4863"/>
                            </a:xfrm>
                            <a:prstGeom prst="straightConnector1">
                              <a:avLst/>
                            </a:prstGeom>
                            <a:ln w="12700"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</p:grpSp>
                  <p:grpSp>
                    <p:nvGrpSpPr>
                      <p:cNvPr id="2072" name="Group 2071"/>
                      <p:cNvGrpSpPr/>
                      <p:nvPr/>
                    </p:nvGrpSpPr>
                    <p:grpSpPr>
                      <a:xfrm>
                        <a:off x="4199771" y="3324605"/>
                        <a:ext cx="3884505" cy="1901774"/>
                        <a:chOff x="4199771" y="3324605"/>
                        <a:chExt cx="3884505" cy="1901774"/>
                      </a:xfrm>
                    </p:grpSpPr>
                    <p:grpSp>
                      <p:nvGrpSpPr>
                        <p:cNvPr id="2070" name="Group 2069"/>
                        <p:cNvGrpSpPr/>
                        <p:nvPr/>
                      </p:nvGrpSpPr>
                      <p:grpSpPr>
                        <a:xfrm>
                          <a:off x="4199771" y="3324605"/>
                          <a:ext cx="3884505" cy="1574260"/>
                          <a:chOff x="4199771" y="3324605"/>
                          <a:chExt cx="3884505" cy="1574260"/>
                        </a:xfrm>
                      </p:grpSpPr>
                      <p:cxnSp>
                        <p:nvCxnSpPr>
                          <p:cNvPr id="25" name="Straight Connector 24"/>
                          <p:cNvCxnSpPr>
                            <a:stCxn id="23" idx="1"/>
                          </p:cNvCxnSpPr>
                          <p:nvPr/>
                        </p:nvCxnSpPr>
                        <p:spPr>
                          <a:xfrm flipH="1" flipV="1">
                            <a:off x="4199771" y="4895334"/>
                            <a:ext cx="1667311" cy="3531"/>
                          </a:xfrm>
                          <a:prstGeom prst="line">
                            <a:avLst/>
                          </a:prstGeom>
                          <a:ln w="1270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6" name="Straight Arrow Connector 25"/>
                          <p:cNvCxnSpPr>
                            <a:endCxn id="20" idx="4"/>
                          </p:cNvCxnSpPr>
                          <p:nvPr/>
                        </p:nvCxnSpPr>
                        <p:spPr>
                          <a:xfrm flipV="1">
                            <a:off x="4199771" y="3553778"/>
                            <a:ext cx="4881" cy="1335206"/>
                          </a:xfrm>
                          <a:prstGeom prst="straightConnector1">
                            <a:avLst/>
                          </a:prstGeom>
                          <a:ln w="12700"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" name="Straight Connector 26"/>
                          <p:cNvCxnSpPr/>
                          <p:nvPr/>
                        </p:nvCxnSpPr>
                        <p:spPr>
                          <a:xfrm flipV="1">
                            <a:off x="8071349" y="3324605"/>
                            <a:ext cx="0" cy="1564379"/>
                          </a:xfrm>
                          <a:prstGeom prst="line">
                            <a:avLst/>
                          </a:prstGeom>
                          <a:ln w="1270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" name="Straight Arrow Connector 27"/>
                          <p:cNvCxnSpPr>
                            <a:endCxn id="23" idx="3"/>
                          </p:cNvCxnSpPr>
                          <p:nvPr/>
                        </p:nvCxnSpPr>
                        <p:spPr>
                          <a:xfrm flipH="1">
                            <a:off x="6659550" y="4895334"/>
                            <a:ext cx="1424726" cy="3531"/>
                          </a:xfrm>
                          <a:prstGeom prst="straightConnector1">
                            <a:avLst/>
                          </a:prstGeom>
                          <a:ln w="12700"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2052" name="Group 2051"/>
                        <p:cNvGrpSpPr/>
                        <p:nvPr/>
                      </p:nvGrpSpPr>
                      <p:grpSpPr>
                        <a:xfrm>
                          <a:off x="5867082" y="4571350"/>
                          <a:ext cx="792468" cy="655029"/>
                          <a:chOff x="5867082" y="4571350"/>
                          <a:chExt cx="792468" cy="655029"/>
                        </a:xfrm>
                      </p:grpSpPr>
                      <p:sp>
                        <p:nvSpPr>
                          <p:cNvPr id="23" name="Rectangle 22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867082" y="4571350"/>
                            <a:ext cx="792468" cy="655029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 upright="1"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0"/>
                              </a:spcAft>
                            </a:pPr>
                            <a:endParaRPr lang="fr-FR" sz="10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endParaRPr>
                          </a:p>
                          <a:p>
                            <a:pPr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fr-FR" sz="100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a:t> </a:t>
                            </a:r>
                            <a:endParaRPr lang="fr-FR" sz="11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endParaRPr>
                          </a:p>
                          <a:p>
                            <a:pPr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fr-FR" sz="100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a:t> </a:t>
                            </a:r>
                            <a:endParaRPr lang="fr-FR" sz="11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graphicFrame>
                        <p:nvGraphicFramePr>
                          <p:cNvPr id="2051" name="Object 2050"/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37434301"/>
                              </p:ext>
                            </p:extLst>
                          </p:nvPr>
                        </p:nvGraphicFramePr>
                        <p:xfrm>
                          <a:off x="6083298" y="4612352"/>
                          <a:ext cx="311470" cy="452133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28122" name="Equation" r:id="rId16" imgW="203112" imgH="279279" progId="Equation.3">
                                  <p:embed/>
                                </p:oleObj>
                              </mc:Choice>
                              <mc:Fallback>
                                <p:oleObj name="Equation" r:id="rId16" imgW="203112" imgH="279279" progId="Equation.3">
                                  <p:embed/>
                                  <p:pic>
                                    <p:nvPicPr>
                                      <p:cNvPr id="0" name="Object 4"/>
                                      <p:cNvPicPr>
                                        <a:picLocks noChangeAspect="1"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7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6083298" y="4612352"/>
                                        <a:ext cx="311470" cy="452133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extLst/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</p:grpSp>
                  </p:grpSp>
                </p:grpSp>
              </p:grpSp>
            </p:grpSp>
          </p:grpSp>
          <p:grpSp>
            <p:nvGrpSpPr>
              <p:cNvPr id="2059" name="Group 2058"/>
              <p:cNvGrpSpPr/>
              <p:nvPr/>
            </p:nvGrpSpPr>
            <p:grpSpPr>
              <a:xfrm>
                <a:off x="4665879" y="3235564"/>
                <a:ext cx="1083321" cy="644843"/>
                <a:chOff x="4665879" y="3235564"/>
                <a:chExt cx="1083321" cy="644843"/>
              </a:xfrm>
            </p:grpSpPr>
            <p:grpSp>
              <p:nvGrpSpPr>
                <p:cNvPr id="2057" name="Group 2056"/>
                <p:cNvGrpSpPr/>
                <p:nvPr/>
              </p:nvGrpSpPr>
              <p:grpSpPr>
                <a:xfrm>
                  <a:off x="4665879" y="3235564"/>
                  <a:ext cx="1083321" cy="644843"/>
                  <a:chOff x="4665879" y="3235564"/>
                  <a:chExt cx="1083321" cy="644843"/>
                </a:xfrm>
              </p:grpSpPr>
              <p:grpSp>
                <p:nvGrpSpPr>
                  <p:cNvPr id="2054" name="Group 2053"/>
                  <p:cNvGrpSpPr/>
                  <p:nvPr/>
                </p:nvGrpSpPr>
                <p:grpSpPr>
                  <a:xfrm>
                    <a:off x="4868502" y="3448359"/>
                    <a:ext cx="725123" cy="288032"/>
                    <a:chOff x="4868502" y="3448359"/>
                    <a:chExt cx="725123" cy="288032"/>
                  </a:xfrm>
                </p:grpSpPr>
                <p:cxnSp>
                  <p:nvCxnSpPr>
                    <p:cNvPr id="3" name="Straight Connector 2"/>
                    <p:cNvCxnSpPr/>
                    <p:nvPr/>
                  </p:nvCxnSpPr>
                  <p:spPr>
                    <a:xfrm>
                      <a:off x="5231904" y="3448359"/>
                      <a:ext cx="361721" cy="0"/>
                    </a:xfrm>
                    <a:prstGeom prst="line">
                      <a:avLst/>
                    </a:prstGeom>
                    <a:ln w="190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Connector 51"/>
                    <p:cNvCxnSpPr/>
                    <p:nvPr/>
                  </p:nvCxnSpPr>
                  <p:spPr>
                    <a:xfrm>
                      <a:off x="4868502" y="3736391"/>
                      <a:ext cx="361721" cy="0"/>
                    </a:xfrm>
                    <a:prstGeom prst="line">
                      <a:avLst/>
                    </a:prstGeom>
                    <a:ln w="190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5" name="Group 2054"/>
                  <p:cNvGrpSpPr/>
                  <p:nvPr/>
                </p:nvGrpSpPr>
                <p:grpSpPr>
                  <a:xfrm>
                    <a:off x="4665879" y="3235564"/>
                    <a:ext cx="1083321" cy="644843"/>
                    <a:chOff x="4665879" y="3235564"/>
                    <a:chExt cx="1083321" cy="644843"/>
                  </a:xfrm>
                </p:grpSpPr>
                <p:cxnSp>
                  <p:nvCxnSpPr>
                    <p:cNvPr id="6" name="Straight Arrow Connector 5"/>
                    <p:cNvCxnSpPr/>
                    <p:nvPr/>
                  </p:nvCxnSpPr>
                  <p:spPr>
                    <a:xfrm flipV="1">
                      <a:off x="5230223" y="3235564"/>
                      <a:ext cx="0" cy="644843"/>
                    </a:xfrm>
                    <a:prstGeom prst="straightConnector1">
                      <a:avLst/>
                    </a:prstGeom>
                    <a:ln w="63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Arrow Connector 18"/>
                    <p:cNvCxnSpPr/>
                    <p:nvPr/>
                  </p:nvCxnSpPr>
                  <p:spPr>
                    <a:xfrm>
                      <a:off x="4665879" y="3589312"/>
                      <a:ext cx="1083321" cy="0"/>
                    </a:xfrm>
                    <a:prstGeom prst="straightConnector1">
                      <a:avLst/>
                    </a:prstGeom>
                    <a:ln w="63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8" name="Group 2057"/>
                <p:cNvGrpSpPr/>
                <p:nvPr/>
              </p:nvGrpSpPr>
              <p:grpSpPr>
                <a:xfrm>
                  <a:off x="4911488" y="3343758"/>
                  <a:ext cx="537692" cy="536649"/>
                  <a:chOff x="8155079" y="4338035"/>
                  <a:chExt cx="537692" cy="536649"/>
                </a:xfrm>
              </p:grpSpPr>
              <p:graphicFrame>
                <p:nvGraphicFramePr>
                  <p:cNvPr id="63" name="Object 6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981524829"/>
                      </p:ext>
                    </p:extLst>
                  </p:nvPr>
                </p:nvGraphicFramePr>
                <p:xfrm>
                  <a:off x="8155079" y="4338035"/>
                  <a:ext cx="217276" cy="17660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8123" name="Equation" r:id="rId18" imgW="203040" imgH="164880" progId="Equation.3">
                          <p:embed/>
                        </p:oleObj>
                      </mc:Choice>
                      <mc:Fallback>
                        <p:oleObj name="Equation" r:id="rId18" imgW="203040" imgH="164880" progId="Equation.3">
                          <p:embed/>
                          <p:pic>
                            <p:nvPicPr>
                              <p:cNvPr id="44" name="Object 4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155079" y="4338035"/>
                                <a:ext cx="217276" cy="176609"/>
                              </a:xfrm>
                              <a:prstGeom prst="rect">
                                <a:avLst/>
                              </a:prstGeom>
                              <a:noFill/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64" name="Object 63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62252918"/>
                      </p:ext>
                    </p:extLst>
                  </p:nvPr>
                </p:nvGraphicFramePr>
                <p:xfrm>
                  <a:off x="8475495" y="4698075"/>
                  <a:ext cx="217276" cy="17660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8124" name="Equation" r:id="rId20" imgW="203040" imgH="164880" progId="Equation.3">
                          <p:embed/>
                        </p:oleObj>
                      </mc:Choice>
                      <mc:Fallback>
                        <p:oleObj name="Equation" r:id="rId20" imgW="203040" imgH="164880" progId="Equation.3">
                          <p:embed/>
                          <p:pic>
                            <p:nvPicPr>
                              <p:cNvPr id="63" name="Object 6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75495" y="4698075"/>
                                <a:ext cx="217276" cy="176609"/>
                              </a:xfrm>
                              <a:prstGeom prst="rect">
                                <a:avLst/>
                              </a:prstGeom>
                              <a:noFill/>
                              <a:ex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graphicFrame>
          <p:nvGraphicFramePr>
            <p:cNvPr id="2062" name="Object 20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3458544"/>
                </p:ext>
              </p:extLst>
            </p:nvPr>
          </p:nvGraphicFramePr>
          <p:xfrm>
            <a:off x="6456040" y="2924943"/>
            <a:ext cx="400846" cy="288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25" name="Equation" r:id="rId22" imgW="317160" imgH="228600" progId="Equation.3">
                    <p:embed/>
                  </p:oleObj>
                </mc:Choice>
                <mc:Fallback>
                  <p:oleObj name="Equation" r:id="rId22" imgW="317160" imgH="228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456040" y="2924943"/>
                          <a:ext cx="400846" cy="2886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148387"/>
              </p:ext>
            </p:extLst>
          </p:nvPr>
        </p:nvGraphicFramePr>
        <p:xfrm>
          <a:off x="8737600" y="5663946"/>
          <a:ext cx="16446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26" name="Equation" r:id="rId24" imgW="1104840" imgH="279360" progId="Equation.3">
                  <p:embed/>
                </p:oleObj>
              </mc:Choice>
              <mc:Fallback>
                <p:oleObj name="Equation" r:id="rId24" imgW="1104840" imgH="279360" progId="Equation.3">
                  <p:embed/>
                  <p:pic>
                    <p:nvPicPr>
                      <p:cNvPr id="68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7600" y="5663946"/>
                        <a:ext cx="1644650" cy="417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29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3641932" y="151202"/>
            <a:ext cx="27945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>
                <a:latin typeface="+mj-lt"/>
                <a:ea typeface="Times New Roman" pitchFamily="18" charset="0"/>
                <a:cs typeface="Times New Roman" pitchFamily="18" charset="0"/>
              </a:rPr>
              <a:t>Compression </a:t>
            </a:r>
            <a:endParaRPr lang="fr-FR" sz="3200" b="1" dirty="0">
              <a:latin typeface="+mj-lt"/>
              <a:cs typeface="Times New Roman" pitchFamily="18" charset="0"/>
            </a:endParaRP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r>
              <a:rPr lang="fr-BE" sz="1800" b="1" dirty="0" smtClean="0">
                <a:solidFill>
                  <a:schemeClr val="tx1"/>
                </a:solidFill>
              </a:rPr>
              <a:t>16</a:t>
            </a:r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6538" y="750265"/>
            <a:ext cx="2861231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fr-FR" sz="2800" b="1" dirty="0" smtClean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Modulation delta </a:t>
            </a:r>
            <a:endParaRPr lang="fr-FR" sz="2800" b="1" dirty="0">
              <a:effectLst/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 flipH="1">
            <a:off x="8124857" y="4249819"/>
            <a:ext cx="1497330" cy="541655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 upright="1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endParaRPr lang="fr-FR" sz="100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184842" y="2982913"/>
            <a:ext cx="528955" cy="29464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endParaRPr lang="fr-FR" sz="100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8375332" y="2946718"/>
            <a:ext cx="631825" cy="32893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 rot="0" vert="horz" wrap="none" lIns="91440" tIns="45720" rIns="91440" bIns="45720" anchor="t" anchorCtr="0" upright="1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endParaRPr lang="fr-FR" sz="100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38732"/>
            <a:ext cx="10153128" cy="3533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1523492" y="4683959"/>
            <a:ext cx="9145016" cy="1779907"/>
            <a:chOff x="1523492" y="4683959"/>
            <a:chExt cx="9145016" cy="1779907"/>
          </a:xfrm>
        </p:grpSpPr>
        <p:grpSp>
          <p:nvGrpSpPr>
            <p:cNvPr id="51" name="Group 50"/>
            <p:cNvGrpSpPr/>
            <p:nvPr/>
          </p:nvGrpSpPr>
          <p:grpSpPr>
            <a:xfrm>
              <a:off x="1523492" y="4683959"/>
              <a:ext cx="9145016" cy="1779907"/>
              <a:chOff x="-45342" y="430954"/>
              <a:chExt cx="5271392" cy="1781586"/>
            </a:xfrm>
          </p:grpSpPr>
          <p:sp>
            <p:nvSpPr>
              <p:cNvPr id="52" name="Rectangle 51"/>
              <p:cNvSpPr>
                <a:spLocks noChangeArrowheads="1"/>
              </p:cNvSpPr>
              <p:nvPr/>
            </p:nvSpPr>
            <p:spPr bwMode="auto">
              <a:xfrm>
                <a:off x="2367658" y="430954"/>
                <a:ext cx="452777" cy="34384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 rot="0" vert="horz" wrap="none" lIns="91440" tIns="45720" rIns="91440" bIns="45720" anchor="t" anchorCtr="0" upright="1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endParaRPr lang="fr-FR" sz="1000">
                  <a:ln>
                    <a:noFill/>
                  </a:ln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/>
              <p:cNvGrpSpPr/>
              <p:nvPr/>
            </p:nvGrpSpPr>
            <p:grpSpPr>
              <a:xfrm>
                <a:off x="-45342" y="655553"/>
                <a:ext cx="5271392" cy="1556987"/>
                <a:chOff x="-45342" y="655553"/>
                <a:chExt cx="5271392" cy="1556987"/>
              </a:xfrm>
            </p:grpSpPr>
            <p:sp>
              <p:nvSpPr>
                <p:cNvPr id="54" name="Rectangle 53"/>
                <p:cNvSpPr>
                  <a:spLocks noChangeArrowheads="1"/>
                </p:cNvSpPr>
                <p:nvPr/>
              </p:nvSpPr>
              <p:spPr bwMode="auto">
                <a:xfrm>
                  <a:off x="2419350" y="1882682"/>
                  <a:ext cx="436266" cy="329858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rot="0" vert="horz" wrap="none" lIns="91440" tIns="45720" rIns="91440" bIns="45720" anchor="t" anchorCtr="0" upright="1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0"/>
                    </a:spcAft>
                  </a:pPr>
                  <a:endParaRPr lang="fr-FR" sz="100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5" name="Group 54"/>
                <p:cNvGrpSpPr/>
                <p:nvPr/>
              </p:nvGrpSpPr>
              <p:grpSpPr>
                <a:xfrm>
                  <a:off x="-45342" y="655553"/>
                  <a:ext cx="5271392" cy="1154197"/>
                  <a:chOff x="-45342" y="655553"/>
                  <a:chExt cx="5271392" cy="1154197"/>
                </a:xfrm>
              </p:grpSpPr>
              <p:grpSp>
                <p:nvGrpSpPr>
                  <p:cNvPr id="83" name="Group 82"/>
                  <p:cNvGrpSpPr/>
                  <p:nvPr/>
                </p:nvGrpSpPr>
                <p:grpSpPr>
                  <a:xfrm>
                    <a:off x="-45342" y="655553"/>
                    <a:ext cx="5271392" cy="1120800"/>
                    <a:chOff x="-45342" y="655553"/>
                    <a:chExt cx="5271392" cy="1120800"/>
                  </a:xfrm>
                </p:grpSpPr>
                <p:grpSp>
                  <p:nvGrpSpPr>
                    <p:cNvPr id="85" name="Group 84"/>
                    <p:cNvGrpSpPr/>
                    <p:nvPr/>
                  </p:nvGrpSpPr>
                  <p:grpSpPr>
                    <a:xfrm>
                      <a:off x="114300" y="761925"/>
                      <a:ext cx="5111750" cy="1014428"/>
                      <a:chOff x="114300" y="761925"/>
                      <a:chExt cx="5111750" cy="1014428"/>
                    </a:xfrm>
                  </p:grpSpPr>
                  <p:cxnSp>
                    <p:nvCxnSpPr>
                      <p:cNvPr id="87" name="Straight Arrow Connector 86"/>
                      <p:cNvCxnSpPr/>
                      <p:nvPr/>
                    </p:nvCxnSpPr>
                    <p:spPr>
                      <a:xfrm>
                        <a:off x="114300" y="1365250"/>
                        <a:ext cx="5111750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Arrow Connector 87"/>
                      <p:cNvCxnSpPr/>
                      <p:nvPr/>
                    </p:nvCxnSpPr>
                    <p:spPr>
                      <a:xfrm flipV="1">
                        <a:off x="533400" y="761925"/>
                        <a:ext cx="0" cy="101442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86" name="Rounded Rectangle 85"/>
                    <p:cNvSpPr/>
                    <p:nvPr/>
                  </p:nvSpPr>
                  <p:spPr>
                    <a:xfrm>
                      <a:off x="-45342" y="655553"/>
                      <a:ext cx="520700" cy="336550"/>
                    </a:xfrm>
                    <a:prstGeom prst="round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7" name="Group 56"/>
                  <p:cNvGrpSpPr/>
                  <p:nvPr/>
                </p:nvGrpSpPr>
                <p:grpSpPr>
                  <a:xfrm>
                    <a:off x="1219200" y="927100"/>
                    <a:ext cx="2298700" cy="882650"/>
                    <a:chOff x="1219200" y="927100"/>
                    <a:chExt cx="2298700" cy="882650"/>
                  </a:xfrm>
                </p:grpSpPr>
                <p:grpSp>
                  <p:nvGrpSpPr>
                    <p:cNvPr id="58" name="Group 57"/>
                    <p:cNvGrpSpPr/>
                    <p:nvPr/>
                  </p:nvGrpSpPr>
                  <p:grpSpPr>
                    <a:xfrm>
                      <a:off x="1219200" y="927100"/>
                      <a:ext cx="2298700" cy="882650"/>
                      <a:chOff x="1219200" y="927100"/>
                      <a:chExt cx="2298700" cy="882650"/>
                    </a:xfrm>
                  </p:grpSpPr>
                  <p:cxnSp>
                    <p:nvCxnSpPr>
                      <p:cNvPr id="62" name="Straight Connector 61"/>
                      <p:cNvCxnSpPr/>
                      <p:nvPr/>
                    </p:nvCxnSpPr>
                    <p:spPr>
                      <a:xfrm>
                        <a:off x="1219200" y="927100"/>
                        <a:ext cx="0" cy="438150"/>
                      </a:xfrm>
                      <a:prstGeom prst="line">
                        <a:avLst/>
                      </a:prstGeom>
                      <a:ln w="127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/>
                      <p:cNvCxnSpPr/>
                      <p:nvPr/>
                    </p:nvCxnSpPr>
                    <p:spPr>
                      <a:xfrm>
                        <a:off x="1314450" y="13589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4" name="Straight Connector 63"/>
                      <p:cNvCxnSpPr/>
                      <p:nvPr/>
                    </p:nvCxnSpPr>
                    <p:spPr>
                      <a:xfrm>
                        <a:off x="1409700" y="9271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5" name="Straight Connector 64"/>
                      <p:cNvCxnSpPr/>
                      <p:nvPr/>
                    </p:nvCxnSpPr>
                    <p:spPr>
                      <a:xfrm>
                        <a:off x="1524228" y="9271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6" name="Straight Connector 65"/>
                      <p:cNvCxnSpPr/>
                      <p:nvPr/>
                    </p:nvCxnSpPr>
                    <p:spPr>
                      <a:xfrm>
                        <a:off x="1638300" y="9271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7" name="Straight Connector 66"/>
                      <p:cNvCxnSpPr/>
                      <p:nvPr/>
                    </p:nvCxnSpPr>
                    <p:spPr>
                      <a:xfrm>
                        <a:off x="1765300" y="9271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8" name="Straight Connector 67"/>
                      <p:cNvCxnSpPr/>
                      <p:nvPr/>
                    </p:nvCxnSpPr>
                    <p:spPr>
                      <a:xfrm>
                        <a:off x="2076450" y="13589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9" name="Straight Connector 68"/>
                      <p:cNvCxnSpPr/>
                      <p:nvPr/>
                    </p:nvCxnSpPr>
                    <p:spPr>
                      <a:xfrm>
                        <a:off x="2178050" y="13589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0" name="Straight Connector 69"/>
                      <p:cNvCxnSpPr/>
                      <p:nvPr/>
                    </p:nvCxnSpPr>
                    <p:spPr>
                      <a:xfrm>
                        <a:off x="2279650" y="13716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1" name="Straight Connector 70"/>
                      <p:cNvCxnSpPr/>
                      <p:nvPr/>
                    </p:nvCxnSpPr>
                    <p:spPr>
                      <a:xfrm>
                        <a:off x="2393950" y="13716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2" name="Straight Connector 71"/>
                      <p:cNvCxnSpPr/>
                      <p:nvPr/>
                    </p:nvCxnSpPr>
                    <p:spPr>
                      <a:xfrm>
                        <a:off x="2495550" y="13716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3" name="Straight Connector 72"/>
                      <p:cNvCxnSpPr/>
                      <p:nvPr/>
                    </p:nvCxnSpPr>
                    <p:spPr>
                      <a:xfrm>
                        <a:off x="2597150" y="13589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4" name="Straight Connector 73"/>
                      <p:cNvCxnSpPr/>
                      <p:nvPr/>
                    </p:nvCxnSpPr>
                    <p:spPr>
                      <a:xfrm>
                        <a:off x="2711450" y="13652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5" name="Straight Connector 74"/>
                      <p:cNvCxnSpPr/>
                      <p:nvPr/>
                    </p:nvCxnSpPr>
                    <p:spPr>
                      <a:xfrm>
                        <a:off x="2813050" y="13652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6" name="Straight Connector 75"/>
                      <p:cNvCxnSpPr/>
                      <p:nvPr/>
                    </p:nvCxnSpPr>
                    <p:spPr>
                      <a:xfrm>
                        <a:off x="2914650" y="13652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7" name="Straight Connector 76"/>
                      <p:cNvCxnSpPr/>
                      <p:nvPr/>
                    </p:nvCxnSpPr>
                    <p:spPr>
                      <a:xfrm>
                        <a:off x="3016250" y="9271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8" name="Straight Connector 77"/>
                      <p:cNvCxnSpPr/>
                      <p:nvPr/>
                    </p:nvCxnSpPr>
                    <p:spPr>
                      <a:xfrm>
                        <a:off x="3117850" y="9334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79" name="Straight Connector 78"/>
                      <p:cNvCxnSpPr/>
                      <p:nvPr/>
                    </p:nvCxnSpPr>
                    <p:spPr>
                      <a:xfrm>
                        <a:off x="3219450" y="9334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80" name="Straight Connector 79"/>
                      <p:cNvCxnSpPr/>
                      <p:nvPr/>
                    </p:nvCxnSpPr>
                    <p:spPr>
                      <a:xfrm>
                        <a:off x="3314700" y="9334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81" name="Straight Connector 80"/>
                      <p:cNvCxnSpPr/>
                      <p:nvPr/>
                    </p:nvCxnSpPr>
                    <p:spPr>
                      <a:xfrm>
                        <a:off x="3416300" y="9334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82" name="Straight Connector 81"/>
                      <p:cNvCxnSpPr/>
                      <p:nvPr/>
                    </p:nvCxnSpPr>
                    <p:spPr>
                      <a:xfrm>
                        <a:off x="3517900" y="93345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</p:grpSp>
                <p:grpSp>
                  <p:nvGrpSpPr>
                    <p:cNvPr id="59" name="Group 58"/>
                    <p:cNvGrpSpPr/>
                    <p:nvPr/>
                  </p:nvGrpSpPr>
                  <p:grpSpPr>
                    <a:xfrm>
                      <a:off x="1879600" y="927100"/>
                      <a:ext cx="101600" cy="869950"/>
                      <a:chOff x="1879600" y="927100"/>
                      <a:chExt cx="101600" cy="869950"/>
                    </a:xfrm>
                  </p:grpSpPr>
                  <p:cxnSp>
                    <p:nvCxnSpPr>
                      <p:cNvPr id="60" name="Straight Connector 59"/>
                      <p:cNvCxnSpPr/>
                      <p:nvPr/>
                    </p:nvCxnSpPr>
                    <p:spPr>
                      <a:xfrm>
                        <a:off x="1879600" y="13589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  <p:cxnSp>
                    <p:nvCxnSpPr>
                      <p:cNvPr id="61" name="Straight Connector 60"/>
                      <p:cNvCxnSpPr/>
                      <p:nvPr/>
                    </p:nvCxnSpPr>
                    <p:spPr>
                      <a:xfrm>
                        <a:off x="1981200" y="927100"/>
                        <a:ext cx="0" cy="438150"/>
                      </a:xfrm>
                      <a:prstGeom prst="line">
                        <a:avLst/>
                      </a:prstGeom>
                      <a:noFill/>
                      <a:ln w="12700" cap="flat" cmpd="sng" algn="ctr">
                        <a:solidFill>
                          <a:srgbClr val="7030A0"/>
                        </a:solidFill>
                        <a:prstDash val="solid"/>
                        <a:miter lim="800000"/>
                      </a:ln>
                      <a:effectLst/>
                    </p:spPr>
                  </p:cxnSp>
                </p:grpSp>
              </p:grpSp>
            </p:grpSp>
          </p:grpSp>
        </p:grpSp>
        <p:grpSp>
          <p:nvGrpSpPr>
            <p:cNvPr id="4" name="Group 3"/>
            <p:cNvGrpSpPr/>
            <p:nvPr/>
          </p:nvGrpSpPr>
          <p:grpSpPr>
            <a:xfrm>
              <a:off x="1800445" y="4817783"/>
              <a:ext cx="8760051" cy="1230687"/>
              <a:chOff x="1800445" y="4817783"/>
              <a:chExt cx="8760051" cy="1230687"/>
            </a:xfrm>
          </p:grpSpPr>
          <p:graphicFrame>
            <p:nvGraphicFramePr>
              <p:cNvPr id="3" name="Object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3334506"/>
                  </p:ext>
                </p:extLst>
              </p:nvPr>
            </p:nvGraphicFramePr>
            <p:xfrm>
              <a:off x="1800445" y="4817783"/>
              <a:ext cx="560290" cy="3618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101" name="Equation" r:id="rId5" imgW="342751" imgH="228501" progId="Equation.3">
                      <p:embed/>
                    </p:oleObj>
                  </mc:Choice>
                  <mc:Fallback>
                    <p:oleObj name="Equation" r:id="rId5" imgW="342751" imgH="228501" progId="Equation.3">
                      <p:embed/>
                      <p:pic>
                        <p:nvPicPr>
                          <p:cNvPr id="0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00445" y="4817783"/>
                            <a:ext cx="560290" cy="36185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" name="Object 9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2449094"/>
                  </p:ext>
                </p:extLst>
              </p:nvPr>
            </p:nvGraphicFramePr>
            <p:xfrm>
              <a:off x="10337105" y="5733256"/>
              <a:ext cx="223391" cy="315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102" name="Equation" r:id="rId7" imgW="88560" imgH="152280" progId="Equation.3">
                      <p:embed/>
                    </p:oleObj>
                  </mc:Choice>
                  <mc:Fallback>
                    <p:oleObj name="Equation" r:id="rId7" imgW="88560" imgH="152280" progId="Equation.3">
                      <p:embed/>
                      <p:pic>
                        <p:nvPicPr>
                          <p:cNvPr id="3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337105" y="5733256"/>
                            <a:ext cx="223391" cy="31521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400259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/>
      <p:bldP spid="9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415</Words>
  <Application>Microsoft Office PowerPoint</Application>
  <PresentationFormat>Widescreen</PresentationFormat>
  <Paragraphs>182</Paragraphs>
  <Slides>18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宋体</vt:lpstr>
      <vt:lpstr>宋体</vt:lpstr>
      <vt:lpstr>Arial</vt:lpstr>
      <vt:lpstr>Calibri</vt:lpstr>
      <vt:lpstr>Times New Roman</vt:lpstr>
      <vt:lpstr>Thème Office</vt:lpstr>
      <vt:lpstr>Équation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Principe de formation  des images</dc:title>
  <dc:creator>ABDERRAHMANE</dc:creator>
  <cp:lastModifiedBy>USER</cp:lastModifiedBy>
  <cp:revision>581</cp:revision>
  <dcterms:created xsi:type="dcterms:W3CDTF">2019-10-21T15:42:17Z</dcterms:created>
  <dcterms:modified xsi:type="dcterms:W3CDTF">2025-09-28T19:21:46Z</dcterms:modified>
</cp:coreProperties>
</file>